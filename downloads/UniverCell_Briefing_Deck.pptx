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0:00 - 0:45</a:t>
            </a:r>
          </a:p>
          <a:p/>
          <a:p>
            <a:r>
              <a:t>OPEN WITH: I spent the last stretch pulling apart a German battery company called UniverCell, and the industry around it. I want to give you the company, but honestly the industry read is worth more to you than the company is.</a:t>
            </a:r>
          </a:p>
          <a:p/>
          <a:p>
            <a:r>
              <a:t>- Set the frame before the content. Say plainly: this is intelligence, not a pitch. You are not selling him anything and you have no position in it. That buys you the right to be critical later, and it is what makes slide 9 land.</a:t>
            </a:r>
          </a:p>
          <a:p>
            <a:r>
              <a:t>- Name the data date. 20 October 2026. Battery industry facts rot in weeks, and saying so signals you know that.</a:t>
            </a:r>
          </a:p>
          <a:p>
            <a:r>
              <a:t>- Mention the currency verbally, once. Every figure is in rupees, converted at ₹95.24 to the dollar and ₹106.82 to the euro, held constant across years so the trends stay comparable. It is not printed on the slide, so say it.</a:t>
            </a:r>
          </a:p>
          <a:p>
            <a:r>
              <a:t>- Set the clock. Sixteen slides, about eighteen minutes, and everything deeper is in the PDF. CEOs relax when they know the shape.</a:t>
            </a:r>
          </a:p>
          <a:p>
            <a:r>
              <a:t>- Do not read the title. He can read. Use the time to say why you picked this company: it is the clearest live test of the only European battery strategy that has not yet failed.</a:t>
            </a:r>
          </a:p>
          <a:p/>
          <a:p>
            <a:r>
              <a:t>IF ASKED: "Why this company?" Because it is small enough to understand completely, and because its strategy is the opposite of the one that destroyed ₹1.5 lakh crore in Europe. It is a controlled experiment.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0:45 - 3:00</a:t>
            </a:r>
          </a:p>
          <a:p/>
          <a:p>
            <a:r>
              <a:t>OPEN WITH: If you have to leave after one slide, these are the five numbers. The first one has a date on it, which is why it is first.</a:t>
            </a:r>
          </a:p>
          <a:p/>
          <a:p>
            <a:r>
              <a:t>- Lead with the date and let it sit. China's export controls on cells above 300 Wh/kg, graphite anode material, and battery production equipment are not cancelled. They are suspended to 10 November 2026. If he pushes: there are reports of an extension into January 2027, but I could not find the numbered instrument, and either way it is a suspension with an expiry date rather than a repeal.</a:t>
            </a:r>
          </a:p>
          <a:p>
            <a:r>
              <a:t>- Make it his problem, not a geopolitics lecture: every Indian cell plant being built today runs on Chinese licensed process technology, Chinese machines and Chinese commissioning engineers. All three sit inside that regime.</a:t>
            </a:r>
          </a:p>
          <a:p>
            <a:r>
              <a:t>- 98% graphitisation: the point is that the chokepoint is processing, not mining. Buying a lithium mine does not fix it.</a:t>
            </a:r>
          </a:p>
          <a:p>
            <a:r>
              <a:t>- ₹1.5 lakh crore: this is the base rate. Any European battery proposal he sees has to clear it.</a:t>
            </a:r>
          </a:p>
          <a:p>
            <a:r>
              <a:t>- 116x: flag it now, promise to prove it on slide 9. That creates anticipation and signals you did real work rather than repeating a press release.</a:t>
            </a:r>
          </a:p>
          <a:p>
            <a:r>
              <a:t>- ₹38,900 crore: his number. India's import bill, up 44% in a year.</a:t>
            </a:r>
          </a:p>
          <a:p>
            <a:r>
              <a:t>- Then the callout. Read it almost verbatim. It is the thesis of the whole deck: Europe lost on scale, the survivors won on specialisation, UniverCell is the cleanest live test.</a:t>
            </a:r>
          </a:p>
          <a:p/>
          <a:p>
            <a:r>
              <a:t>IF ASKED: "Will the Chinese controls actually come back?" Honest answer: nobody knows, and the expiry date itself has reportedly moved once already. The point is not the prediction. It is that the dependency is now a policy variable controlled by someone else, with a date attached.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3:00 - 5:00</a:t>
            </a:r>
          </a:p>
          <a:p/>
          <a:p>
            <a:r>
              <a:t>OPEN WITH: Two curves run this industry, and they point in opposite directions. Demand is compounding and price is collapsing, at the same time.</a:t>
            </a:r>
          </a:p>
          <a:p/>
          <a:p>
            <a:r>
              <a:t>- Left chart: EV battery demand went from about 170 GWh in 2020 to 1.2 TWh in 2025. The dashed line is the IEA's 2030 outlook at roughly 3 TWh. Total lithium-ion deployed in 2025, including storage, was 1.59 TWh, up 29%.</a:t>
            </a:r>
          </a:p>
          <a:p>
            <a:r>
              <a:t>- The quiet shift: grid storage grew 51% last year against EV's 26%. The growth engine is moving from cars to storage. That matters for India, where the grid-storage pipeline is the fastest-moving segment.</a:t>
            </a:r>
          </a:p>
          <a:p>
            <a:r>
              <a:t>- Right chart: the BloombergNEF series. Point at 2022, the only year it ever rose. Everything else is down. ₹10,300 per kWh in 2025.</a:t>
            </a:r>
          </a:p>
          <a:p>
            <a:r>
              <a:t>- The number that ends arguments: a stationary-storage pack fell 45% in one year to ₹6,700 per kWh, and the cheapest LFP cell is ₹3,400. Nobody outside China wins a cost fight on this curve.</a:t>
            </a:r>
          </a:p>
          <a:p>
            <a:r>
              <a:t>- Utilisation is the subtlety worth 30 seconds. Global utilisation is about 40%, which sounds like there is spare capacity everywhere. But CATL ran at 96.9%. The idle capacity is tier-2 and tier-3. So overcapacity means brutal price pressure in commodity cells while good, qualified capacity stays tight. That gap is exactly what a specialist sells into.</a:t>
            </a:r>
          </a:p>
          <a:p/>
          <a:p>
            <a:r>
              <a:t>IF ASKED: "If prices keep falling, does localisation ever pay back?" Not on cost alone. It pays back on supply security, tariffs and regulatory access. Say that plainly; do not oversell the economics.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5:00 - 6:45</a:t>
            </a:r>
          </a:p>
          <a:p/>
          <a:p>
            <a:r>
              <a:t>OPEN WITH: Everyone talks about China and lithium. China's hold is not on the ground. It is on the step between the mine and the cell.</a:t>
            </a:r>
          </a:p>
          <a:p/>
          <a:p>
            <a:r>
              <a:t>- Walk the bars top down. 94% of graphite refining, over 90% of anode material, 85% of cathode, over 80% of cells. Then the bottom bar: only about 17% of lithium mining. That contrast is the whole slide.</a:t>
            </a:r>
          </a:p>
          <a:p>
            <a:r>
              <a:t>- Drive it home: you can buy a mine in Australia or Argentina and still have to ship the output to China to make it useful. Processing is the chokepoint.</a:t>
            </a:r>
          </a:p>
          <a:p>
            <a:r>
              <a:t>- Concentration rose, it did not fall: 82% in 2020 to 86% in 2024, right through the entire Western diversification effort. That is the uncomfortable fact.</a:t>
            </a:r>
          </a:p>
          <a:p>
            <a:r>
              <a:t>- 2035 is barely better on the IEA's own current-policy projection: still over 60% of refined lithium and cobalt, still around 80% of battery-grade graphite.</a:t>
            </a:r>
          </a:p>
          <a:p>
            <a:r>
              <a:t>- Land on the licence point. July 2025 put cathode and lithium-processing technology under export licensing, and that one was never suspended. The broader regime is the one that lapses next month.</a:t>
            </a:r>
          </a:p>
          <a:p/>
          <a:p>
            <a:r>
              <a:t>IF ASKED: "What about recycling as a route around it?" It helps at the margin and India is genuinely good at it, but recycled volumes cannot meet growth demand this decade. Do not let it become the easy answer.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6:45 - 8:30</a:t>
            </a:r>
          </a:p>
          <a:p/>
          <a:p>
            <a:r>
              <a:t>OPEN WITH: Now the trade flows, because the buyer list has rearranged in a way most people have not noticed.</a:t>
            </a:r>
          </a:p>
          <a:p/>
          <a:p>
            <a:r>
              <a:t>- Top chart, lead with Germany. ₹2.7 lakh crore, the largest importer in the world, and it has been ahead of the United States since 2023. That usually surprises people who assume the US is the big buyer.</a:t>
            </a:r>
          </a:p>
          <a:p>
            <a:r>
              <a:t>- The US is leaving the market, not winning it. China's exports to the US fell from ₹1.5 lakh crore to ₹1.1 lakh crore and China's share of US imports fell from 65% to 46%. That is tariffs working as intended.</a:t>
            </a:r>
          </a:p>
          <a:p>
            <a:r>
              <a:t>- But the volume did not disappear. It went to Europe, Australia, India and Vietnam. Europe absorbed the diversion: ₹3 lakh crore, 40% of China's exports.</a:t>
            </a:r>
          </a:p>
          <a:p>
            <a:r>
              <a:t>- India is the fastest-growing destination of all, up 73% in twelve months on China's own export books. When the US closes a door, the volume lands on him.</a:t>
            </a:r>
          </a:p>
          <a:p>
            <a:r>
              <a:t>- The structural line: across the reporting importers, tonnage rose 14% while value stayed flat. Unit prices are collapsing. Cheap cells are being pushed into every market that will take them.</a:t>
            </a:r>
          </a:p>
          <a:p>
            <a:r>
              <a:t>- Caveat honestly: 2025 UN Comtrade reporting is incomplete, so trust the shares more than the absolute totals. Saying this protects you if he knows the data.</a:t>
            </a:r>
          </a:p>
          <a:p/>
          <a:p>
            <a:r>
              <a:t>IF ASKED: "Should India put up tariffs?" Not your call to make in this room. Note that India already charges 10 to 20% basic duty on finished batteries and zero on cell-making equipment, which is a deliberate signal about which end of the chain the government wants built.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8:30 - 10:00</a:t>
            </a:r>
          </a:p>
          <a:p/>
          <a:p>
            <a:r>
              <a:t>OPEN WITH: Europe's answer to all of this was scale. Here is how that went.</a:t>
            </a:r>
          </a:p>
          <a:p/>
          <a:p>
            <a:r>
              <a:t>- Read the chart left to right as a decay. Over 2 TWh announced for 2030. Fraunhofer's risk model says 1.2 to 1.7 TWh actually gets built, and after delays and yield losses the real output is 0.8 to 1.1 TWh. Against demand of 800 to 1,300 GWh.</a:t>
            </a:r>
          </a:p>
          <a:p>
            <a:r>
              <a:t>- So the shortage was never announcements. It was finishing, qualifying and running them.</a:t>
            </a:r>
          </a:p>
          <a:p>
            <a:r>
              <a:t>- Over 700 GWh delayed or cancelled, about 240 GWh in Germany alone, roughly a quarter of everything announced since 2022.</a:t>
            </a:r>
          </a:p>
          <a:p>
            <a:r>
              <a:t>- The most damning number on the slide: 98% of Europe's own 2025 cell production capacity is controlled by Asian manufacturers. Europe built factories on its soil and does not own them.</a:t>
            </a:r>
          </a:p>
          <a:p>
            <a:r>
              <a:t>- Deloitte's price tag: ₹1.1 lakh crore of forgone profit over four years, and lost value added that could reach ₹10.7 to 16 lakh crore by 2030.</a:t>
            </a:r>
          </a:p>
          <a:p>
            <a:r>
              <a:t>- Pivot line into the next slide: that is the aggregate. The next slide is the body count.</a:t>
            </a:r>
          </a:p>
          <a:p/>
          <a:p>
            <a:r>
              <a:t>IF ASKED: "Is this just a European failure, or structural?" Mostly structural: they competed on cost against an incumbent with a decade of learning-curve advantage. The survivors are the ones who did not.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10:00 - 12:00</a:t>
            </a:r>
          </a:p>
          <a:p/>
          <a:p>
            <a:r>
              <a:t>OPEN WITH: This is the slide I would want to see if I were writing the cheque. Seven of this company's nine European peers are dead, shrunken or cancelled, and all of it happened in about eighteen months.</a:t>
            </a:r>
          </a:p>
          <a:p/>
          <a:p>
            <a:r>
              <a:t>- Do not read the table. Let him read it. Pick three: Northvolt raised about ₹1.4 lakh crore and shipped one gigawatt-hour against a sixteen gigawatt-hour target. Varta failed twice, two years apart. CustomCells was killed by one customer not paying.</a:t>
            </a:r>
          </a:p>
          <a:p>
            <a:r>
              <a:t>- Then the callout, slowly. Morrow's 1 GWh plant was, per the reporting, far too small to supply a major car manufacturer. UniverCell's target is 1.3 GWh. The same sentence applies to it.</a:t>
            </a:r>
          </a:p>
          <a:p>
            <a:r>
              <a:t>- And immediately give the defence, because it is a real one: UniverCell is not trying to supply a car manufacturer. In power tools, drones, medical and space, 1 GWh is a large share of demand, not a rounding error. That is a genuinely different business model, not a smaller version of Northvolt.</a:t>
            </a:r>
          </a:p>
          <a:p>
            <a:r>
              <a:t>- The survival logic is the transferable lesson. Every European survivor is owned by a carmaker. Every independent merchant cell startup that tried the open market has failed.</a:t>
            </a:r>
          </a:p>
          <a:p>
            <a:r>
              <a:t>- Be straight about the scorecard: UniverCell passes two of the three tests and fails the first. It has no OEM anchor. Say that out loud; it is the most important sentence on the slide.</a:t>
            </a:r>
          </a:p>
          <a:p>
            <a:r>
              <a:t>- Note the ACC line if he is engaged: Europe's flagship carmaker-owned cell venture cancelled two European gigafactories and replaced them with a Chinese joint venture in Spain. That is the whole European story in one decision.</a:t>
            </a:r>
          </a:p>
          <a:p/>
          <a:p>
            <a:r>
              <a:t>IF ASKED: "So why would anyone back this sector?" Because the failures were failures of scale and market choice, not of geography. That distinction is the entire investment case, and it is still unproven.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12:00 - 13:30</a:t>
            </a:r>
          </a:p>
          <a:p/>
          <a:p>
            <a:r>
              <a:t>OPEN WITH: So here is the company itself. Ninety-two people in Schleswig-Holstein. I will give you what is verifiable and flag what is not.</a:t>
            </a:r>
          </a:p>
          <a:p/>
          <a:p>
            <a:r>
              <a:t>- Correct the record early, it builds credibility: most sources say founded in Kiel or Flintbek in 2019. The register says registered in Elmshorn in May 2019 and moved to Flintbek in November 2020.</a:t>
            </a:r>
          </a:p>
          <a:p>
            <a:r>
              <a:t>- The business is three things, and the order matters: merchant electrode foil, which is the actual revenue; custom pouch cells; and the 21700 cylindrical cell, which started series production in June 2026.</a:t>
            </a:r>
          </a:p>
          <a:p>
            <a:r>
              <a:t>- The spec is genuinely competitive: around 330 Wh per kg, 6C, over 750 cycles. That is a real high-performance cell, not a me-too product.</a:t>
            </a:r>
          </a:p>
          <a:p>
            <a:r>
              <a:t>- The money: ₹320 crore Series B in March 2026, led by Germany's DeepTech and Climate Fonds with two industrial partners and the EU's Innovation Council. Balance sheet was ₹132 crore at FY2023. Revenue is described only as double-digit millions.</a:t>
            </a:r>
          </a:p>
          <a:p>
            <a:r>
              <a:t>- Two things to say plainly. There is no OEM shareholder. And there is exactly one pending patent family, so the moat is process know-how rather than IP.</a:t>
            </a:r>
          </a:p>
          <a:p>
            <a:r>
              <a:t>- The lineage is the most interesting fact here. Both founders are named inventors on four patents assigned to Custom Cells Itzehoe, the German custom-cell specialist that collapsed in 2025. This is the successor team, occupying the market that CustomCells vacated. That is simultaneously the bull case and the warning.</a:t>
            </a:r>
          </a:p>
          <a:p>
            <a:r>
              <a:t>- Be precise: there is no asset purchase. Do not overclaim it. The link is the people.</a:t>
            </a:r>
          </a:p>
          <a:p/>
          <a:p>
            <a:r>
              <a:t>IF ASKED: "Who owns it?" Ten shareholders on the register, names behind a paywall. Share capital ₹43 lakh, meaning the ₹320 crore came in almost entirely as share premium.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13:30 - 15:30</a:t>
            </a:r>
          </a:p>
          <a:p/>
          <a:p>
            <a:r>
              <a:t>OPEN WITH: This is the slide that is not in anyone's press release, and it is the reason I would take the meeting with management.</a:t>
            </a:r>
          </a:p>
          <a:p/>
          <a:p>
            <a:r>
              <a:t>- Set it up as a puzzle. The company markets 1.5 GWh. It also says series production began in June 2026 at 50,000 cells a month. Both are in its own material.</a:t>
            </a:r>
          </a:p>
          <a:p>
            <a:r>
              <a:t>- Do the arithmetic out loud, slowly. 50,000 times 12 is 600,000 cells. At 21.6 watt-hours each, that is 13 megawatt-hours a year. Against 1.5 gigawatt-hours. That is 0.86%.</a:t>
            </a:r>
          </a:p>
          <a:p>
            <a:r>
              <a:t>- Pre-empt the obvious objection: the 21.6 Wh basis is the company's own, validated against its own roadmap, which converts 180 million cells to about 4 GWh, implying 22.2 Wh. You are not using a hostile assumption.</a:t>
            </a:r>
          </a:p>
          <a:p>
            <a:r>
              <a:t>- Then the clincher. The same press release says 40 million cells a year. That works out to 0.864 GWh, not 1.5. The company's own two numbers contradict each other by 1.7 times.</a:t>
            </a:r>
          </a:p>
          <a:p>
            <a:r>
              <a:t>- Which resolves it: 1.5 GWh cannot be a cell number. It is the cell-equivalent output of the electrode coating line. Cross-check: 60 metres a minute times 0.75 metres times 1,440 minutes equals 64,800 square metres a day, which is exactly the figure they publish.</a:t>
            </a:r>
          </a:p>
          <a:p>
            <a:r>
              <a:t>- The honest description, and say it kindly: this is a working electrode plant with a cell pilot attached. That is not a criticism, it is just not a gigafactory. The electrode business is real and already earning revenue.</a:t>
            </a:r>
          </a:p>
          <a:p>
            <a:r>
              <a:t>- The question that follows: 2027 needs roughly 100 times the current run-rate in eighteen months, funded by ₹320 crore. Ask them how.</a:t>
            </a:r>
          </a:p>
          <a:p>
            <a:r>
              <a:t>- One correction to carry: do not repeat the 64,000 square metre facility figure. It is a daily output number misread as floor area. The founder himself puts the footprint at about 6,100 square metres.</a:t>
            </a:r>
          </a:p>
          <a:p/>
          <a:p>
            <a:r>
              <a:t>IF ASKED: "Are you saying they are being dishonest?" No. Say no clearly. The numbers measure different things and the company never explicitly claimed 1.5 GWh of cells. But the market reads it that way, and you should not.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15:30 - 17:00</a:t>
            </a:r>
          </a:p>
          <a:p/>
          <a:p>
            <a:r>
              <a:t>OPEN WITH: So if the scale is small, what is actually worth something here? One thing: the process.</a:t>
            </a:r>
          </a:p>
          <a:p/>
          <a:p>
            <a:r>
              <a:t>- Explain dry coating in one sentence: conventional electrodes are made as a wet slurry that then has to be dried in an oven the length of a cricket pitch. Dry coating skips the solvent entirely.</a:t>
            </a:r>
          </a:p>
          <a:p>
            <a:r>
              <a:t>- Why it matters commercially: less energy, a materially smaller factory, and better electrode structure. Industry estimates put the cell cost reduction at 17 to 30%.</a:t>
            </a:r>
          </a:p>
          <a:p>
            <a:r>
              <a:t>- Use the right number. UniverCell's own measured figure is 27% less energy at cell level. The 30 to 40% in the press is the process step, not the finished cell. If he checks, you are right and the press is loose.</a:t>
            </a:r>
          </a:p>
          <a:p>
            <a:r>
              <a:t>- The ranking is the payoff. On operating industrial dry coating, Tesla is first, VW PowerCo second, and UniverCell is credibly third in the world. Pause there. Then undercut it honestly: it is third by about a factor of a thousand on scale.</a:t>
            </a:r>
          </a:p>
          <a:p>
            <a:r>
              <a:t>- The expiry date is the strategic point. LG reaches mass production in 2028, Samsung SDI is piloting, and Fraunhofer licenses the platform to anyone who asks. The lead is roughly three years deep, not ten.</a:t>
            </a:r>
          </a:p>
          <a:p>
            <a:r>
              <a:t>- Puncture the spec claim before he does. 330 Wh per kg sounds decisive against Molicel's 284. At an identical 6.0 amp-hours, the entire gap is 12 grams of housing, and energy per cell is actually 2.4% lower. It is a packaging win, not a chemistry win. Saying this yourself is worth more than the claim was.</a:t>
            </a:r>
          </a:p>
          <a:p>
            <a:r>
              <a:t>- Flag the caveat yourself before anyone else does: the published 750 millimetre, 60 metre a minute line with an 80 metre twelve-zone dryer has to be the wet line. Dry coating has no solvent to evaporate and needs no dryer. The dry line's actual throughput is not published anywhere.</a:t>
            </a:r>
          </a:p>
          <a:p>
            <a:r>
              <a:t>- Then the opening, and this is the one to remember. Dürr and LiCAP have a validated European dry-coating platform and lost their pilot host when Cellforce closed. They are publicly looking for a partner. That is an available European dry-electrode capability with no home.</a:t>
            </a:r>
          </a:p>
          <a:p/>
          <a:p>
            <a:r>
              <a:t>IF ASKED: "Could we just license dry coating from Tesla?" No. Tesla does not sell cells or licence process technology. The realistic Western routes are Dürr and LiCAP, Fraunhofer, or a partnership with someone operating a line.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17:00 - 18:15</a:t>
            </a:r>
          </a:p>
          <a:p/>
          <a:p>
            <a:r>
              <a:t>OPEN WITH: Two frameworks on one slide, because they answer the same question: is the company standing where the money is?</a:t>
            </a:r>
          </a:p>
          <a:p/>
          <a:p>
            <a:r>
              <a:t>- The chain bar first. Roughly 55% of value added sits in materials and refining, which China holds. About 22% in electrode and cell. The rest in pack and system.</a:t>
            </a:r>
          </a:p>
          <a:p>
            <a:r>
              <a:t>- So the honest answer is no, UniverCell is not in the fattest part of the chain. Nobody in Europe is. But it is in the part Europe can actually contest.</a:t>
            </a:r>
          </a:p>
          <a:p>
            <a:r>
              <a:t>- The non-obvious point in the table: electrode coating is the one stage with almost no merchant supply anywhere in Europe. Everyone else coats for themselves. UniverCell sells it. That is a genuine niche, and it is where its revenue is.</a:t>
            </a:r>
          </a:p>
          <a:p>
            <a:r>
              <a:t>- On the BCG, label it honestly as your assessment, not company data, and say relative share is a qualitative band because its absolute share of every market rounds to zero.</a:t>
            </a:r>
          </a:p>
          <a:p>
            <a:r>
              <a:t>- Electrode foil is the cash cow, the only line with customers, volume and defensibility. The 21700 is the question mark: high growth, no share, and it is eating the Series B. Sodium-ion is an option, not a business, and it is publicly funded.</a:t>
            </a:r>
          </a:p>
          <a:p>
            <a:r>
              <a:t>- The strategic read: a company whose cash cow is its least glamorous product, funding a question mark that gets all the press. That is a normal and risky position, and worth naming.</a:t>
            </a:r>
          </a:p>
          <a:p/>
          <a:p>
            <a:r>
              <a:t>IF ASKED: "Should they just stick to electrodes?" Arguably yes on today's numbers. The counter is that electrodes alone cap them as a component supplier with no pricing power. The cell is the bid for a defensible end-market position.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18:15 - 19:45</a:t>
            </a:r>
          </a:p>
          <a:p/>
          <a:p>
            <a:r>
              <a:t>OPEN WITH: Porter, but with one twist that makes it worth the time: I scored the same five forces twice, for two different markets.</a:t>
            </a:r>
          </a:p>
          <a:p/>
          <a:p>
            <a:r>
              <a:t>- Define the segment first, out loud. European custom and specialty cells and merchant electrodes for qualification-locked applications. Explicitly not commodity EV cells.</a:t>
            </a:r>
          </a:p>
          <a:p>
            <a:r>
              <a:t>- The orange bars are the niche, the blue are the commodity market. The shape difference is the insight: 2.8 average against 4.2. Same industry, completely different economics.</a:t>
            </a:r>
          </a:p>
          <a:p>
            <a:r>
              <a:t>- Supplier power is the one brutal force in both, at 4, and it is the one UniverCell cannot fix. 85% of cathode and over 90% of anode material, under a licensing regime. The sodium-ion work with Litona is the only visible hedge.</a:t>
            </a:r>
          </a:p>
          <a:p>
            <a:r>
              <a:t>- Rivalry collapsed to 3 by attrition, not by strategy. Seven peers exited in eighteen months. Be honest that this is survivorship.</a:t>
            </a:r>
          </a:p>
          <a:p>
            <a:r>
              <a:t>- The sharpest line on the slide: the real competitor is not CATL, it is Molicel. Same size, same high-drain 21700, same eVTOL and drone customers, already signed to Archer and Vertical Aerospace. Any deck that benchmarks this company against CATL is flattering and useless.</a:t>
            </a:r>
          </a:p>
          <a:p>
            <a:r>
              <a:t>- Buyers are weak precisely because qualification locks them in. Once a cell is designed into a satellite or a surgical tool, switching means requalifying. That is the economic moat in this niche, and it is also why revenue takes years to arrive.</a:t>
            </a:r>
          </a:p>
          <a:p>
            <a:r>
              <a:t>- End on the verdict. Attractive only while it stays out of automotive and out of power tools. EVE Energy's Malaysian plant alone makes 680 million 21700 cells a year, seventeen times UniverCell's entire target. Power tools are on its website. That is its weakest strategic claim.</a:t>
            </a:r>
          </a:p>
          <a:p/>
          <a:p>
            <a:r>
              <a:t>IF ASKED: "Which force would you watch?" Supplier power. If the November controls return and bite, every non-Chinese cell maker's input costs and lead times move at once, and the ones with in-house electrode capability suffer least.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19:45 - 21:00</a:t>
            </a:r>
          </a:p>
          <a:p/>
          <a:p>
            <a:r>
              <a:t>OPEN WITH: The balance sheet on the company. I have tried to make the right-hand column hurt as much as the left-hand column flatters.</a:t>
            </a:r>
          </a:p>
          <a:p/>
          <a:p>
            <a:r>
              <a:t>- Do not read all twenty items. Take one from each quadrant and let him scan.</a:t>
            </a:r>
          </a:p>
          <a:p>
            <a:r>
              <a:t>- Strength: operating industrial dry coating with 1,000-plus qualified recipes. Recipes are the asset nobody can copy quickly, because each one is a customer relationship and a year of work.</a:t>
            </a:r>
          </a:p>
          <a:p>
            <a:r>
              <a:t>- Weakness, and this is the one to say slowly: no certification is publicly evidenced. Not ISO 9001, not ISO 13485 for medical, not AS9100 or ECSS for space, not even UN 38.3 for shipping cells.</a:t>
            </a:r>
          </a:p>
          <a:p>
            <a:r>
              <a:t>- Be scrupulously fair about it. You are not saying they lack them. Contract manufacturers often do not publish, and they demonstrably ship cells internationally. You are saying it is not public, and therefore space and medical should be read as target markets rather than qualified supply. It is the first question for management.</a:t>
            </a:r>
          </a:p>
          <a:p>
            <a:r>
              <a:t>- Opportunity: the EU Battery Regulation turns an EU-made, carbon-declared electrode into a compliance asset. Regulation is doing work here that no sales team could.</a:t>
            </a:r>
          </a:p>
          <a:p>
            <a:r>
              <a:t>- Threat: no OEM anchor, against a track record where every independent European merchant cell startup has failed. And CustomCells died from one customer not paying, which is the precise risk here.</a:t>
            </a:r>
          </a:p>
          <a:p>
            <a:r>
              <a:t>- The Battery Booster exclusion is worth 15 seconds because it is counter-intuitive: Europe's ₹16,000 crore battery support programme requires a 10 GWh minimum and a first commercial-scale EV cell plant. UniverCell fails both. The money is aimed at exactly the strategy that already failed.</a:t>
            </a:r>
          </a:p>
          <a:p/>
          <a:p>
            <a:r>
              <a:t>IF ASKED: "What would change your mind, either way?" Two things. A named anchor customer with contracted volume would upgrade it materially. Evidence that the 2027 ramp is slipping would downgrade it just as fast.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21:00 - 22:15</a:t>
            </a:r>
          </a:p>
          <a:p/>
          <a:p>
            <a:r>
              <a:t>OPEN WITH: Last structural slide. In this industry the regulation is not overhead, it is the moat, and it is on a published timetable.</a:t>
            </a:r>
          </a:p>
          <a:p/>
          <a:p>
            <a:r>
              <a:t>- Work down the dates. Carbon-footprint declaration for industrial batteries came in this February. Labelling in August. The battery passport in February 2027. Due diligence in August 2027.</a:t>
            </a:r>
          </a:p>
          <a:p>
            <a:r>
              <a:t>- The asymmetry is the whole point. These obligations fall on whoever places a battery on the EU market, wherever it was made. For an Asian importer that is a cost and a data problem. For an EU producer that can already declare its footprint, it is a sales argument.</a:t>
            </a:r>
          </a:p>
          <a:p>
            <a:r>
              <a:t>- Connect it back to the company: solvent-free coating plus a wind-heavy northern German grid feeds straight into a good carbon-footprint declaration. That is the regulatory logic of the business.</a:t>
            </a:r>
          </a:p>
          <a:p>
            <a:r>
              <a:t>- The top row is the one with a countdown. Bring it back to the 10 November date you opened with so the deck closes its own loop.</a:t>
            </a:r>
          </a:p>
          <a:p>
            <a:r>
              <a:t>- On PESTEL, do not narrate all six. Point at the tags and name the two that matter: the political tailwind from defence and foreign-entity-of-concern rules, and the economic headwind of a 56% European pack price premium.</a:t>
            </a:r>
          </a:p>
          <a:p>
            <a:r>
              <a:t>- If he asks about CBAM: batteries are not currently in scope. Say it and move on. Getting that wrong in front of someone who imports is expensive.</a:t>
            </a:r>
          </a:p>
          <a:p/>
          <a:p>
            <a:r>
              <a:t>IF ASKED: "Does any of this apply to Indian exporters?" Yes, directly. Anyone selling a battery or a battery-powered product into the EU from February 2027 needs a battery passport. That is a data-infrastructure project, not a form, and it has a deadline.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22:15 - 24:00</a:t>
            </a:r>
          </a:p>
          <a:p/>
          <a:p>
            <a:r>
              <a:t>OPEN WITH: So what is this actually worth to you. Four plays, in order of how cheaply you could test them.</a:t>
            </a:r>
          </a:p>
          <a:p/>
          <a:p>
            <a:r>
              <a:t>- Open with his number. ₹38,900 crore of cell imports in calendar 2025, up 44% by value against 12% by the pieces India actually reports, about 93% from China. Value is outrunning volume, which is a shift to bigger cells and packs, not a price collapse being absorbed.</a:t>
            </a:r>
          </a:p>
          <a:p>
            <a:r>
              <a:t>- The PLI tile is the uncomfortable one. 1.4 GWh commissioned against a 50 GWh target, and nothing disbursed. Say it neutrally, as a fact, not a criticism of policy.</a:t>
            </a:r>
          </a:p>
          <a:p>
            <a:r>
              <a:t>- Play one is the sharpest and I would spend most of the time here. Chinese LFP cathode technology now needs Beijing's approval to transfer. European dry-coating process technology does not. Dürr and LiCAP have a validated platform and no pilot host. And the coater itself lands in India at zero basic customs duty until 31 March 2029 under this year's notification. Cheap, fast and time-bound.</a:t>
            </a:r>
          </a:p>
          <a:p>
            <a:r>
              <a:t>- Play two is the one that fits the evidence best. Electrode coating is where UniverCell actually makes money, there is almost no merchant electrode supply in Europe, and the same gap exists in India at far larger scale. It is a fraction of the capital of a cell plant and it serves every cell maker rather than competing with them.</a:t>
            </a:r>
          </a:p>
          <a:p>
            <a:r>
              <a:t>- Play three: Indian drone, defence, space and power-tool makers have no domestic high-drain cylindrical cell source at all. Small volumes, high margins, qualification lock-in, and sovereign buyers who care about provenance.</a:t>
            </a:r>
          </a:p>
          <a:p>
            <a:r>
              <a:t>- Play four, with a clear warning. Distressed European assets are cheap for a reason. The asset worth buying is the team and the recipe library, not the building.</a:t>
            </a:r>
          </a:p>
          <a:p>
            <a:r>
              <a:t>- Close the slide with the honest caveat: the FY2030 import bill is ₹1.3 to 2.2 lakh crore depending on whether you believe 115 or 272 GWh of demand and ₹4,800 or ₹8,100 per kWh. Giving the range rather than the scary number is what makes the rest credible.</a:t>
            </a:r>
          </a:p>
          <a:p/>
          <a:p>
            <a:r>
              <a:t>IF ASKED: "Which one would you do?" Two, then one. Electrodes because the business case stands on its own today, and the process licence because it is cheap, the duty window closes in March 2029 and the Korean competition arrives in 2028.</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24:00 - 25:00</a:t>
            </a:r>
          </a:p>
          <a:p/>
          <a:p>
            <a:r>
              <a:t>OPEN WITH: So where does this leave us. One sentence, then three things we could start on Monday.</a:t>
            </a:r>
          </a:p>
          <a:p/>
          <a:p>
            <a:r>
              <a:t>- Read the big statement once, slowly, then stop. A real electrode business with a genuine process advantage and an unproven cell business, in the one corner of this industry where being small is a strategy rather than a weakness. Do not elaborate on it. It is the whole deck in one line.</a:t>
            </a:r>
          </a:p>
          <a:p>
            <a:r>
              <a:t>- Then immediately lower the stakes. We are not being asked to back this company. The value here is the map, not the target. That stops him hearing it as a pitch and makes the next three columns feel like options rather than asks.</a:t>
            </a:r>
          </a:p>
          <a:p>
            <a:r>
              <a:t>- Left column, the only two things with a real deadline. Dürr and LiCAP are looking for a partner now, and the duty-free window on cell-making machinery closes in March 2029. The electrode sizing is four weeks of one analyst's time, which is a cheap way to find out if the second play is real.</a:t>
            </a:r>
          </a:p>
          <a:p>
            <a:r>
              <a:t>- Middle column, the diligence list. These are written questions, not a meeting. If the certificates and the order book come back thin, we have learned something for the cost of an email.</a:t>
            </a:r>
          </a:p>
          <a:p>
            <a:r>
              <a:t>- Right column is the one he will remember. Say plainly what would change your mind in each direction. An analyst who tells a CEO what would prove them wrong is worth more than one who does not.</a:t>
            </a:r>
          </a:p>
          <a:p>
            <a:r>
              <a:t>- End on the November date. If China lets the licence pause lapse, every item on this slide moves from interesting to urgent. That is the clock the whole room should leave with.</a:t>
            </a:r>
          </a:p>
          <a:p>
            <a:r>
              <a:t>- Then stop talking. The close is the discussion, not another slide.</a:t>
            </a:r>
          </a:p>
          <a:p/>
          <a:p>
            <a:r>
              <a:t>IF ASKED: "What do you actually recommend?" Two phone calls and four weeks of one analyst. Nothing on this slide commits capital, and all of it buys information we do not currently have.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6464807"/>
            <a:ext cx="914400" cy="182880"/>
          </a:xfrm>
          <a:prstGeom prst="rect">
            <a:avLst/>
          </a:prstGeom>
          <a:noFill/>
        </p:spPr>
        <p:txBody>
          <a:bodyPr wrap="square" lIns="0" rIns="0" tIns="0" bIns="0" anchor="t">
            <a:spAutoFit/>
          </a:bodyPr>
          <a:lstStyle/>
          <a:p>
            <a:pPr algn="l"/>
            <a:r>
              <a:rPr sz="900" b="1">
                <a:solidFill>
                  <a:srgbClr val="8A4521"/>
                </a:solidFill>
                <a:latin typeface="Arial"/>
              </a:rPr>
              <a:t>1 / 16</a:t>
            </a:r>
          </a:p>
        </p:txBody>
      </p:sp>
      <p:sp>
        <p:nvSpPr>
          <p:cNvPr id="4" name="Rectangle 3"/>
          <p:cNvSpPr/>
          <p:nvPr/>
        </p:nvSpPr>
        <p:spPr>
          <a:xfrm>
            <a:off x="1371600" y="6492240"/>
            <a:ext cx="43508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834114" y="6512814"/>
            <a:ext cx="435082" cy="32004"/>
          </a:xfrm>
          <a:prstGeom prst="rect">
            <a:avLst/>
          </a:prstGeom>
          <a:solidFill>
            <a:srgbClr val="8A4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296629" y="6512814"/>
            <a:ext cx="435082" cy="32004"/>
          </a:xfrm>
          <a:prstGeom prst="rect">
            <a:avLst/>
          </a:prstGeom>
          <a:solidFill>
            <a:srgbClr val="8A4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759144" y="6512814"/>
            <a:ext cx="435082" cy="32004"/>
          </a:xfrm>
          <a:prstGeom prst="rect">
            <a:avLst/>
          </a:prstGeom>
          <a:solidFill>
            <a:srgbClr val="8A4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221659" y="6512814"/>
            <a:ext cx="435082" cy="32004"/>
          </a:xfrm>
          <a:prstGeom prst="rect">
            <a:avLst/>
          </a:prstGeom>
          <a:solidFill>
            <a:srgbClr val="8A4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684174" y="6512814"/>
            <a:ext cx="435082" cy="32004"/>
          </a:xfrm>
          <a:prstGeom prst="rect">
            <a:avLst/>
          </a:prstGeom>
          <a:solidFill>
            <a:srgbClr val="8A4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146689" y="6512814"/>
            <a:ext cx="435082" cy="32004"/>
          </a:xfrm>
          <a:prstGeom prst="rect">
            <a:avLst/>
          </a:prstGeom>
          <a:solidFill>
            <a:srgbClr val="8A4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609204" y="6512814"/>
            <a:ext cx="435082" cy="32004"/>
          </a:xfrm>
          <a:prstGeom prst="rect">
            <a:avLst/>
          </a:prstGeom>
          <a:solidFill>
            <a:srgbClr val="8A4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071719" y="6512814"/>
            <a:ext cx="435082" cy="32004"/>
          </a:xfrm>
          <a:prstGeom prst="rect">
            <a:avLst/>
          </a:prstGeom>
          <a:solidFill>
            <a:srgbClr val="8A4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534234" y="6512814"/>
            <a:ext cx="435082" cy="32004"/>
          </a:xfrm>
          <a:prstGeom prst="rect">
            <a:avLst/>
          </a:prstGeom>
          <a:solidFill>
            <a:srgbClr val="8A4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996749" y="6512814"/>
            <a:ext cx="435082" cy="32004"/>
          </a:xfrm>
          <a:prstGeom prst="rect">
            <a:avLst/>
          </a:prstGeom>
          <a:solidFill>
            <a:srgbClr val="8A4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459264" y="6512814"/>
            <a:ext cx="435082" cy="32004"/>
          </a:xfrm>
          <a:prstGeom prst="rect">
            <a:avLst/>
          </a:prstGeom>
          <a:solidFill>
            <a:srgbClr val="8A4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921779" y="6512814"/>
            <a:ext cx="435082" cy="32004"/>
          </a:xfrm>
          <a:prstGeom prst="rect">
            <a:avLst/>
          </a:prstGeom>
          <a:solidFill>
            <a:srgbClr val="8A4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84294" y="6512814"/>
            <a:ext cx="435082" cy="32004"/>
          </a:xfrm>
          <a:prstGeom prst="rect">
            <a:avLst/>
          </a:prstGeom>
          <a:solidFill>
            <a:srgbClr val="8A4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46809" y="6512814"/>
            <a:ext cx="435082" cy="32004"/>
          </a:xfrm>
          <a:prstGeom prst="rect">
            <a:avLst/>
          </a:prstGeom>
          <a:solidFill>
            <a:srgbClr val="8A4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309324" y="6512814"/>
            <a:ext cx="435082" cy="32004"/>
          </a:xfrm>
          <a:prstGeom prst="rect">
            <a:avLst/>
          </a:prstGeom>
          <a:solidFill>
            <a:srgbClr val="8A4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21647" y="6464807"/>
            <a:ext cx="2011680" cy="182880"/>
          </a:xfrm>
          <a:prstGeom prst="rect">
            <a:avLst/>
          </a:prstGeom>
          <a:noFill/>
        </p:spPr>
        <p:txBody>
          <a:bodyPr wrap="square" lIns="0" rIns="0" tIns="0" bIns="0" anchor="t">
            <a:spAutoFit/>
          </a:bodyPr>
          <a:lstStyle/>
          <a:p>
            <a:pPr algn="r"/>
            <a:r>
              <a:rPr sz="900" b="0">
                <a:solidFill>
                  <a:srgbClr val="8A4521"/>
                </a:solidFill>
                <a:latin typeface="Arial"/>
              </a:rPr>
              <a:t>Cover</a:t>
            </a:r>
          </a:p>
        </p:txBody>
      </p:sp>
      <p:sp>
        <p:nvSpPr>
          <p:cNvPr id="21" name="TextBox 20"/>
          <p:cNvSpPr txBox="1"/>
          <p:nvPr/>
        </p:nvSpPr>
        <p:spPr>
          <a:xfrm>
            <a:off x="658368" y="1298448"/>
            <a:ext cx="7315200" cy="201168"/>
          </a:xfrm>
          <a:prstGeom prst="rect">
            <a:avLst/>
          </a:prstGeom>
          <a:noFill/>
        </p:spPr>
        <p:txBody>
          <a:bodyPr wrap="square" lIns="0" rIns="0" tIns="0" bIns="0" anchor="t">
            <a:spAutoFit/>
          </a:bodyPr>
          <a:lstStyle/>
          <a:p>
            <a:pPr algn="l"/>
            <a:r>
              <a:rPr sz="1200" b="1">
                <a:solidFill>
                  <a:srgbClr val="121313"/>
                </a:solidFill>
                <a:latin typeface="Arial"/>
              </a:rPr>
              <a:t>A briefing for the board</a:t>
            </a:r>
          </a:p>
        </p:txBody>
      </p:sp>
      <p:sp>
        <p:nvSpPr>
          <p:cNvPr id="22" name="TextBox 21"/>
          <p:cNvSpPr txBox="1"/>
          <p:nvPr/>
        </p:nvSpPr>
        <p:spPr>
          <a:xfrm>
            <a:off x="658368" y="1664208"/>
            <a:ext cx="9509760" cy="2103120"/>
          </a:xfrm>
          <a:prstGeom prst="rect">
            <a:avLst/>
          </a:prstGeom>
          <a:noFill/>
        </p:spPr>
        <p:txBody>
          <a:bodyPr wrap="square" lIns="0" rIns="0" tIns="0" bIns="0" anchor="t">
            <a:spAutoFit/>
          </a:bodyPr>
          <a:lstStyle/>
          <a:p>
            <a:pPr algn="l">
              <a:lnSpc>
                <a:spcPct val="100000"/>
              </a:lnSpc>
            </a:pPr>
            <a:r>
              <a:rPr sz="5000" b="1" spc="-32">
                <a:solidFill>
                  <a:srgbClr val="121313"/>
                </a:solidFill>
                <a:latin typeface="Arial"/>
              </a:rPr>
              <a:t>The battery company</a:t>
            </a:r>
          </a:p>
          <a:p>
            <a:pPr algn="l">
              <a:lnSpc>
                <a:spcPct val="100000"/>
              </a:lnSpc>
            </a:pPr>
            <a:r>
              <a:rPr sz="5000" b="1" spc="-32">
                <a:solidFill>
                  <a:srgbClr val="121313"/>
                </a:solidFill>
                <a:latin typeface="Arial"/>
              </a:rPr>
              <a:t>that chose not to be big</a:t>
            </a:r>
          </a:p>
        </p:txBody>
      </p:sp>
      <p:sp>
        <p:nvSpPr>
          <p:cNvPr id="23" name="TextBox 22"/>
          <p:cNvSpPr txBox="1"/>
          <p:nvPr/>
        </p:nvSpPr>
        <p:spPr>
          <a:xfrm>
            <a:off x="658368" y="3840480"/>
            <a:ext cx="6766560" cy="822960"/>
          </a:xfrm>
          <a:prstGeom prst="rect">
            <a:avLst/>
          </a:prstGeom>
          <a:noFill/>
        </p:spPr>
        <p:txBody>
          <a:bodyPr wrap="square" lIns="0" rIns="0" tIns="0" bIns="0" anchor="t">
            <a:spAutoFit/>
          </a:bodyPr>
          <a:lstStyle/>
          <a:p>
            <a:pPr algn="l">
              <a:lnSpc>
                <a:spcPct val="142000"/>
              </a:lnSpc>
            </a:pPr>
            <a:r>
              <a:rPr sz="1400" b="0">
                <a:solidFill>
                  <a:srgbClr val="6B2E12"/>
                </a:solidFill>
                <a:latin typeface="Arial"/>
              </a:rPr>
              <a:t>UniverCell Holding GmbH of Flintbek, Germany. What it is, what the industry around it is doing, and what we should take from both.</a:t>
            </a:r>
          </a:p>
        </p:txBody>
      </p:sp>
      <p:sp>
        <p:nvSpPr>
          <p:cNvPr id="24" name="TextBox 23"/>
          <p:cNvSpPr txBox="1"/>
          <p:nvPr/>
        </p:nvSpPr>
        <p:spPr>
          <a:xfrm>
            <a:off x="658368" y="5029200"/>
            <a:ext cx="3108960" cy="182880"/>
          </a:xfrm>
          <a:prstGeom prst="rect">
            <a:avLst/>
          </a:prstGeom>
          <a:noFill/>
        </p:spPr>
        <p:txBody>
          <a:bodyPr wrap="square" lIns="0" rIns="0" tIns="0" bIns="0" anchor="t">
            <a:spAutoFit/>
          </a:bodyPr>
          <a:lstStyle/>
          <a:p>
            <a:pPr algn="l"/>
            <a:r>
              <a:rPr sz="1000" b="0">
                <a:solidFill>
                  <a:srgbClr val="5C2408"/>
                </a:solidFill>
                <a:latin typeface="Arial"/>
              </a:rPr>
              <a:t>Figures current to</a:t>
            </a:r>
          </a:p>
        </p:txBody>
      </p:sp>
      <p:sp>
        <p:nvSpPr>
          <p:cNvPr id="25" name="TextBox 24"/>
          <p:cNvSpPr txBox="1"/>
          <p:nvPr/>
        </p:nvSpPr>
        <p:spPr>
          <a:xfrm>
            <a:off x="658368" y="5257800"/>
            <a:ext cx="3108960" cy="237744"/>
          </a:xfrm>
          <a:prstGeom prst="rect">
            <a:avLst/>
          </a:prstGeom>
          <a:noFill/>
        </p:spPr>
        <p:txBody>
          <a:bodyPr wrap="square" lIns="0" rIns="0" tIns="0" bIns="0" anchor="t">
            <a:spAutoFit/>
          </a:bodyPr>
          <a:lstStyle/>
          <a:p>
            <a:pPr algn="l"/>
            <a:r>
              <a:rPr sz="1400" b="1">
                <a:solidFill>
                  <a:srgbClr val="121313"/>
                </a:solidFill>
                <a:latin typeface="Arial"/>
              </a:rPr>
              <a:t>20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326319" cy="1005840"/>
          </a:xfrm>
          <a:prstGeom prst="rect">
            <a:avLst/>
          </a:prstGeom>
          <a:noFill/>
        </p:spPr>
        <p:txBody>
          <a:bodyPr wrap="square" lIns="0" rIns="0" tIns="0" bIns="0" anchor="t">
            <a:spAutoFit/>
          </a:bodyPr>
          <a:lstStyle/>
          <a:p>
            <a:pPr algn="l">
              <a:lnSpc>
                <a:spcPct val="104000"/>
              </a:lnSpc>
            </a:pPr>
            <a:r>
              <a:rPr sz="3100" b="1" spc="-22">
                <a:solidFill>
                  <a:srgbClr val="121313"/>
                </a:solidFill>
                <a:latin typeface="Arial"/>
              </a:rPr>
              <a:t>The five numbers that matter</a:t>
            </a:r>
          </a:p>
        </p:txBody>
      </p:sp>
      <p:sp>
        <p:nvSpPr>
          <p:cNvPr id="4" name="TextBox 3"/>
          <p:cNvSpPr txBox="1"/>
          <p:nvPr/>
        </p:nvSpPr>
        <p:spPr>
          <a:xfrm>
            <a:off x="658368" y="6464807"/>
            <a:ext cx="914400" cy="182880"/>
          </a:xfrm>
          <a:prstGeom prst="rect">
            <a:avLst/>
          </a:prstGeom>
          <a:noFill/>
        </p:spPr>
        <p:txBody>
          <a:bodyPr wrap="square" lIns="0" rIns="0" tIns="0" bIns="0" anchor="t">
            <a:spAutoFit/>
          </a:bodyPr>
          <a:lstStyle/>
          <a:p>
            <a:pPr algn="l"/>
            <a:r>
              <a:rPr sz="900" b="1">
                <a:solidFill>
                  <a:srgbClr val="808288"/>
                </a:solidFill>
                <a:latin typeface="Arial"/>
              </a:rPr>
              <a:t>2 / 16</a:t>
            </a:r>
          </a:p>
        </p:txBody>
      </p:sp>
      <p:sp>
        <p:nvSpPr>
          <p:cNvPr id="5" name="Rectangle 4"/>
          <p:cNvSpPr/>
          <p:nvPr/>
        </p:nvSpPr>
        <p:spPr>
          <a:xfrm>
            <a:off x="1371600"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834114" y="6492240"/>
            <a:ext cx="43508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9662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275914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22165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8417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14668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60920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07171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53423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99674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45926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92177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38429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4680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30932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521647" y="6464807"/>
            <a:ext cx="2011680" cy="182880"/>
          </a:xfrm>
          <a:prstGeom prst="rect">
            <a:avLst/>
          </a:prstGeom>
          <a:noFill/>
        </p:spPr>
        <p:txBody>
          <a:bodyPr wrap="square" lIns="0" rIns="0" tIns="0" bIns="0" anchor="t">
            <a:spAutoFit/>
          </a:bodyPr>
          <a:lstStyle/>
          <a:p>
            <a:pPr algn="r"/>
            <a:r>
              <a:rPr sz="900" b="0">
                <a:solidFill>
                  <a:srgbClr val="808288"/>
                </a:solidFill>
                <a:latin typeface="Arial"/>
              </a:rPr>
              <a:t>The short version</a:t>
            </a:r>
          </a:p>
        </p:txBody>
      </p:sp>
      <p:sp>
        <p:nvSpPr>
          <p:cNvPr id="22" name="TextBox 21"/>
          <p:cNvSpPr txBox="1"/>
          <p:nvPr/>
        </p:nvSpPr>
        <p:spPr>
          <a:xfrm>
            <a:off x="658368" y="1920240"/>
            <a:ext cx="1900671" cy="530352"/>
          </a:xfrm>
          <a:prstGeom prst="rect">
            <a:avLst/>
          </a:prstGeom>
          <a:noFill/>
        </p:spPr>
        <p:txBody>
          <a:bodyPr wrap="square" lIns="0" rIns="0" tIns="0" bIns="0" anchor="t">
            <a:spAutoFit/>
          </a:bodyPr>
          <a:lstStyle/>
          <a:p>
            <a:pPr algn="l"/>
            <a:r>
              <a:rPr sz="3000" b="1" spc="-24">
                <a:solidFill>
                  <a:srgbClr val="C4362C"/>
                </a:solidFill>
                <a:latin typeface="Arial"/>
              </a:rPr>
              <a:t>10 Nov</a:t>
            </a:r>
            <a:r>
              <a:rPr sz="1300" b="1">
                <a:solidFill>
                  <a:srgbClr val="C4362C"/>
                </a:solidFill>
                <a:latin typeface="Arial"/>
              </a:rPr>
              <a:t/>
            </a:r>
          </a:p>
        </p:txBody>
      </p:sp>
      <p:sp>
        <p:nvSpPr>
          <p:cNvPr id="23" name="TextBox 22"/>
          <p:cNvSpPr txBox="1"/>
          <p:nvPr/>
        </p:nvSpPr>
        <p:spPr>
          <a:xfrm>
            <a:off x="658368" y="2395728"/>
            <a:ext cx="1900671" cy="219456"/>
          </a:xfrm>
          <a:prstGeom prst="rect">
            <a:avLst/>
          </a:prstGeom>
          <a:noFill/>
        </p:spPr>
        <p:txBody>
          <a:bodyPr wrap="square" lIns="0" rIns="0" tIns="0" bIns="0" anchor="t">
            <a:spAutoFit/>
          </a:bodyPr>
          <a:lstStyle/>
          <a:p>
            <a:pPr algn="l"/>
            <a:r>
              <a:rPr sz="1150" b="1">
                <a:solidFill>
                  <a:srgbClr val="121313"/>
                </a:solidFill>
                <a:latin typeface="Arial"/>
              </a:rPr>
              <a:t>China's deadline</a:t>
            </a:r>
          </a:p>
        </p:txBody>
      </p:sp>
      <p:sp>
        <p:nvSpPr>
          <p:cNvPr id="24" name="TextBox 23"/>
          <p:cNvSpPr txBox="1"/>
          <p:nvPr/>
        </p:nvSpPr>
        <p:spPr>
          <a:xfrm>
            <a:off x="658368" y="2651760"/>
            <a:ext cx="1900671" cy="868679"/>
          </a:xfrm>
          <a:prstGeom prst="rect">
            <a:avLst/>
          </a:prstGeom>
          <a:noFill/>
        </p:spPr>
        <p:txBody>
          <a:bodyPr wrap="square" lIns="0" rIns="0" tIns="0" bIns="0" anchor="t">
            <a:spAutoFit/>
          </a:bodyPr>
          <a:lstStyle/>
          <a:p>
            <a:pPr algn="l">
              <a:lnSpc>
                <a:spcPct val="144000"/>
              </a:lnSpc>
            </a:pPr>
            <a:r>
              <a:rPr sz="950" b="0">
                <a:solidFill>
                  <a:srgbClr val="44474B"/>
                </a:solidFill>
                <a:latin typeface="Arial"/>
              </a:rPr>
              <a:t>China's export licence rules on cells, graphite and battery machinery are paused, not cancelled. The pause runs out on this date.</a:t>
            </a:r>
          </a:p>
        </p:txBody>
      </p:sp>
      <p:sp>
        <p:nvSpPr>
          <p:cNvPr id="25" name="TextBox 24"/>
          <p:cNvSpPr txBox="1"/>
          <p:nvPr/>
        </p:nvSpPr>
        <p:spPr>
          <a:xfrm>
            <a:off x="2833359" y="1920240"/>
            <a:ext cx="1900671" cy="530352"/>
          </a:xfrm>
          <a:prstGeom prst="rect">
            <a:avLst/>
          </a:prstGeom>
          <a:noFill/>
        </p:spPr>
        <p:txBody>
          <a:bodyPr wrap="square" lIns="0" rIns="0" tIns="0" bIns="0" anchor="t">
            <a:spAutoFit/>
          </a:bodyPr>
          <a:lstStyle/>
          <a:p>
            <a:pPr algn="l"/>
            <a:r>
              <a:rPr sz="3000" b="1" spc="-24">
                <a:solidFill>
                  <a:srgbClr val="2A66B0"/>
                </a:solidFill>
                <a:latin typeface="Arial"/>
              </a:rPr>
              <a:t>98</a:t>
            </a:r>
            <a:r>
              <a:rPr sz="1300" b="1">
                <a:solidFill>
                  <a:srgbClr val="2A66B0"/>
                </a:solidFill>
                <a:latin typeface="Arial"/>
              </a:rPr>
              <a:t>%</a:t>
            </a:r>
          </a:p>
        </p:txBody>
      </p:sp>
      <p:sp>
        <p:nvSpPr>
          <p:cNvPr id="26" name="TextBox 25"/>
          <p:cNvSpPr txBox="1"/>
          <p:nvPr/>
        </p:nvSpPr>
        <p:spPr>
          <a:xfrm>
            <a:off x="2833359" y="2395728"/>
            <a:ext cx="1900671" cy="219456"/>
          </a:xfrm>
          <a:prstGeom prst="rect">
            <a:avLst/>
          </a:prstGeom>
          <a:noFill/>
        </p:spPr>
        <p:txBody>
          <a:bodyPr wrap="square" lIns="0" rIns="0" tIns="0" bIns="0" anchor="t">
            <a:spAutoFit/>
          </a:bodyPr>
          <a:lstStyle/>
          <a:p>
            <a:pPr algn="l"/>
            <a:r>
              <a:rPr sz="1150" b="1">
                <a:solidFill>
                  <a:srgbClr val="121313"/>
                </a:solidFill>
                <a:latin typeface="Arial"/>
              </a:rPr>
              <a:t>Made in China</a:t>
            </a:r>
          </a:p>
        </p:txBody>
      </p:sp>
      <p:sp>
        <p:nvSpPr>
          <p:cNvPr id="27" name="TextBox 26"/>
          <p:cNvSpPr txBox="1"/>
          <p:nvPr/>
        </p:nvSpPr>
        <p:spPr>
          <a:xfrm>
            <a:off x="2833359" y="2651760"/>
            <a:ext cx="1900671" cy="868679"/>
          </a:xfrm>
          <a:prstGeom prst="rect">
            <a:avLst/>
          </a:prstGeom>
          <a:noFill/>
        </p:spPr>
        <p:txBody>
          <a:bodyPr wrap="square" lIns="0" rIns="0" tIns="0" bIns="0" anchor="t">
            <a:spAutoFit/>
          </a:bodyPr>
          <a:lstStyle/>
          <a:p>
            <a:pPr algn="l">
              <a:lnSpc>
                <a:spcPct val="144000"/>
              </a:lnSpc>
            </a:pPr>
            <a:r>
              <a:rPr sz="950" b="0">
                <a:solidFill>
                  <a:srgbClr val="44474B"/>
                </a:solidFill>
                <a:latin typeface="Arial"/>
              </a:rPr>
              <a:t>of the world's graphitisation, the step that makes anode material. Also 85% of cathode. The chokehold is on processing, not mines.</a:t>
            </a:r>
          </a:p>
        </p:txBody>
      </p:sp>
      <p:sp>
        <p:nvSpPr>
          <p:cNvPr id="28" name="TextBox 27"/>
          <p:cNvSpPr txBox="1"/>
          <p:nvPr/>
        </p:nvSpPr>
        <p:spPr>
          <a:xfrm>
            <a:off x="5008351" y="1920240"/>
            <a:ext cx="1900671" cy="530352"/>
          </a:xfrm>
          <a:prstGeom prst="rect">
            <a:avLst/>
          </a:prstGeom>
          <a:noFill/>
        </p:spPr>
        <p:txBody>
          <a:bodyPr wrap="square" lIns="0" rIns="0" tIns="0" bIns="0" anchor="t">
            <a:spAutoFit/>
          </a:bodyPr>
          <a:lstStyle/>
          <a:p>
            <a:pPr algn="l"/>
            <a:r>
              <a:rPr sz="3000" b="1" spc="-24">
                <a:solidFill>
                  <a:srgbClr val="D2541F"/>
                </a:solidFill>
                <a:latin typeface="Arial"/>
              </a:rPr>
              <a:t>₹1.5</a:t>
            </a:r>
            <a:r>
              <a:rPr sz="1300" b="1">
                <a:solidFill>
                  <a:srgbClr val="D2541F"/>
                </a:solidFill>
                <a:latin typeface="Arial"/>
              </a:rPr>
              <a:t> lakh cr</a:t>
            </a:r>
          </a:p>
        </p:txBody>
      </p:sp>
      <p:sp>
        <p:nvSpPr>
          <p:cNvPr id="29" name="TextBox 28"/>
          <p:cNvSpPr txBox="1"/>
          <p:nvPr/>
        </p:nvSpPr>
        <p:spPr>
          <a:xfrm>
            <a:off x="5008351" y="2395728"/>
            <a:ext cx="1900671" cy="219456"/>
          </a:xfrm>
          <a:prstGeom prst="rect">
            <a:avLst/>
          </a:prstGeom>
          <a:noFill/>
        </p:spPr>
        <p:txBody>
          <a:bodyPr wrap="square" lIns="0" rIns="0" tIns="0" bIns="0" anchor="t">
            <a:spAutoFit/>
          </a:bodyPr>
          <a:lstStyle/>
          <a:p>
            <a:pPr algn="l"/>
            <a:r>
              <a:rPr sz="1150" b="1">
                <a:solidFill>
                  <a:srgbClr val="121313"/>
                </a:solidFill>
                <a:latin typeface="Arial"/>
              </a:rPr>
              <a:t>Burnt in Europe</a:t>
            </a:r>
          </a:p>
        </p:txBody>
      </p:sp>
      <p:sp>
        <p:nvSpPr>
          <p:cNvPr id="30" name="TextBox 29"/>
          <p:cNvSpPr txBox="1"/>
          <p:nvPr/>
        </p:nvSpPr>
        <p:spPr>
          <a:xfrm>
            <a:off x="5008351" y="2651760"/>
            <a:ext cx="1900671" cy="694944"/>
          </a:xfrm>
          <a:prstGeom prst="rect">
            <a:avLst/>
          </a:prstGeom>
          <a:noFill/>
        </p:spPr>
        <p:txBody>
          <a:bodyPr wrap="square" lIns="0" rIns="0" tIns="0" bIns="0" anchor="t">
            <a:spAutoFit/>
          </a:bodyPr>
          <a:lstStyle/>
          <a:p>
            <a:pPr algn="l">
              <a:lnSpc>
                <a:spcPct val="144000"/>
              </a:lnSpc>
            </a:pPr>
            <a:r>
              <a:rPr sz="950" b="0">
                <a:solidFill>
                  <a:srgbClr val="44474B"/>
                </a:solidFill>
                <a:latin typeface="Arial"/>
              </a:rPr>
              <a:t>across four battery firms since 2023. Seven of UniverCell's nine European rivals are dead or shrinking.</a:t>
            </a:r>
          </a:p>
        </p:txBody>
      </p:sp>
      <p:sp>
        <p:nvSpPr>
          <p:cNvPr id="31" name="TextBox 30"/>
          <p:cNvSpPr txBox="1"/>
          <p:nvPr/>
        </p:nvSpPr>
        <p:spPr>
          <a:xfrm>
            <a:off x="7183343" y="1920240"/>
            <a:ext cx="1900671" cy="530352"/>
          </a:xfrm>
          <a:prstGeom prst="rect">
            <a:avLst/>
          </a:prstGeom>
          <a:noFill/>
        </p:spPr>
        <p:txBody>
          <a:bodyPr wrap="square" lIns="0" rIns="0" tIns="0" bIns="0" anchor="t">
            <a:spAutoFit/>
          </a:bodyPr>
          <a:lstStyle/>
          <a:p>
            <a:pPr algn="l"/>
            <a:r>
              <a:rPr sz="3000" b="1" spc="-24">
                <a:solidFill>
                  <a:srgbClr val="121313"/>
                </a:solidFill>
                <a:latin typeface="Arial"/>
              </a:rPr>
              <a:t>116</a:t>
            </a:r>
            <a:r>
              <a:rPr sz="1300" b="1">
                <a:solidFill>
                  <a:srgbClr val="121313"/>
                </a:solidFill>
                <a:latin typeface="Arial"/>
              </a:rPr>
              <a:t>x</a:t>
            </a:r>
          </a:p>
        </p:txBody>
      </p:sp>
      <p:sp>
        <p:nvSpPr>
          <p:cNvPr id="32" name="TextBox 31"/>
          <p:cNvSpPr txBox="1"/>
          <p:nvPr/>
        </p:nvSpPr>
        <p:spPr>
          <a:xfrm>
            <a:off x="7183343" y="2395728"/>
            <a:ext cx="1900671" cy="219456"/>
          </a:xfrm>
          <a:prstGeom prst="rect">
            <a:avLst/>
          </a:prstGeom>
          <a:noFill/>
        </p:spPr>
        <p:txBody>
          <a:bodyPr wrap="square" lIns="0" rIns="0" tIns="0" bIns="0" anchor="t">
            <a:spAutoFit/>
          </a:bodyPr>
          <a:lstStyle/>
          <a:p>
            <a:pPr algn="l"/>
            <a:r>
              <a:rPr sz="1150" b="1">
                <a:solidFill>
                  <a:srgbClr val="121313"/>
                </a:solidFill>
                <a:latin typeface="Arial"/>
              </a:rPr>
              <a:t>The company's own gap</a:t>
            </a:r>
          </a:p>
        </p:txBody>
      </p:sp>
      <p:sp>
        <p:nvSpPr>
          <p:cNvPr id="33" name="TextBox 32"/>
          <p:cNvSpPr txBox="1"/>
          <p:nvPr/>
        </p:nvSpPr>
        <p:spPr>
          <a:xfrm>
            <a:off x="7183343" y="2651760"/>
            <a:ext cx="1900671" cy="694944"/>
          </a:xfrm>
          <a:prstGeom prst="rect">
            <a:avLst/>
          </a:prstGeom>
          <a:noFill/>
        </p:spPr>
        <p:txBody>
          <a:bodyPr wrap="square" lIns="0" rIns="0" tIns="0" bIns="0" anchor="t">
            <a:spAutoFit/>
          </a:bodyPr>
          <a:lstStyle/>
          <a:p>
            <a:pPr algn="l">
              <a:lnSpc>
                <a:spcPct val="144000"/>
              </a:lnSpc>
            </a:pPr>
            <a:r>
              <a:rPr sz="950" b="0">
                <a:solidFill>
                  <a:srgbClr val="44474B"/>
                </a:solidFill>
                <a:latin typeface="Arial"/>
              </a:rPr>
              <a:t>between the capacity it advertises and what its cell line actually makes today. The sum is on slide 9.</a:t>
            </a:r>
          </a:p>
        </p:txBody>
      </p:sp>
      <p:sp>
        <p:nvSpPr>
          <p:cNvPr id="34" name="TextBox 33"/>
          <p:cNvSpPr txBox="1"/>
          <p:nvPr/>
        </p:nvSpPr>
        <p:spPr>
          <a:xfrm>
            <a:off x="9358335" y="1920240"/>
            <a:ext cx="1900671" cy="530352"/>
          </a:xfrm>
          <a:prstGeom prst="rect">
            <a:avLst/>
          </a:prstGeom>
          <a:noFill/>
        </p:spPr>
        <p:txBody>
          <a:bodyPr wrap="square" lIns="0" rIns="0" tIns="0" bIns="0" anchor="t">
            <a:spAutoFit/>
          </a:bodyPr>
          <a:lstStyle/>
          <a:p>
            <a:pPr algn="l"/>
            <a:r>
              <a:rPr sz="3000" b="1" spc="-24">
                <a:solidFill>
                  <a:srgbClr val="07836A"/>
                </a:solidFill>
                <a:latin typeface="Arial"/>
              </a:rPr>
              <a:t>₹38,900</a:t>
            </a:r>
            <a:r>
              <a:rPr sz="1300" b="1">
                <a:solidFill>
                  <a:srgbClr val="07836A"/>
                </a:solidFill>
                <a:latin typeface="Arial"/>
              </a:rPr>
              <a:t> cr</a:t>
            </a:r>
          </a:p>
        </p:txBody>
      </p:sp>
      <p:sp>
        <p:nvSpPr>
          <p:cNvPr id="35" name="TextBox 34"/>
          <p:cNvSpPr txBox="1"/>
          <p:nvPr/>
        </p:nvSpPr>
        <p:spPr>
          <a:xfrm>
            <a:off x="9358335" y="2395728"/>
            <a:ext cx="1900671" cy="219456"/>
          </a:xfrm>
          <a:prstGeom prst="rect">
            <a:avLst/>
          </a:prstGeom>
          <a:noFill/>
        </p:spPr>
        <p:txBody>
          <a:bodyPr wrap="square" lIns="0" rIns="0" tIns="0" bIns="0" anchor="t">
            <a:spAutoFit/>
          </a:bodyPr>
          <a:lstStyle/>
          <a:p>
            <a:pPr algn="l"/>
            <a:r>
              <a:rPr sz="1150" b="1">
                <a:solidFill>
                  <a:srgbClr val="121313"/>
                </a:solidFill>
                <a:latin typeface="Arial"/>
              </a:rPr>
              <a:t>Our import bill</a:t>
            </a:r>
          </a:p>
        </p:txBody>
      </p:sp>
      <p:sp>
        <p:nvSpPr>
          <p:cNvPr id="36" name="TextBox 35"/>
          <p:cNvSpPr txBox="1"/>
          <p:nvPr/>
        </p:nvSpPr>
        <p:spPr>
          <a:xfrm>
            <a:off x="9358335" y="2651760"/>
            <a:ext cx="1900671" cy="521207"/>
          </a:xfrm>
          <a:prstGeom prst="rect">
            <a:avLst/>
          </a:prstGeom>
          <a:noFill/>
        </p:spPr>
        <p:txBody>
          <a:bodyPr wrap="square" lIns="0" rIns="0" tIns="0" bIns="0" anchor="t">
            <a:spAutoFit/>
          </a:bodyPr>
          <a:lstStyle/>
          <a:p>
            <a:pPr algn="l">
              <a:lnSpc>
                <a:spcPct val="144000"/>
              </a:lnSpc>
            </a:pPr>
            <a:r>
              <a:rPr sz="950" b="0">
                <a:solidFill>
                  <a:srgbClr val="44474B"/>
                </a:solidFill>
                <a:latin typeface="Arial"/>
              </a:rPr>
              <a:t>India spent this on battery cells in 2025. Up 44% in a year, 93% of it from China.</a:t>
            </a:r>
          </a:p>
        </p:txBody>
      </p:sp>
      <p:sp>
        <p:nvSpPr>
          <p:cNvPr id="37" name="Rounded Rectangle 36"/>
          <p:cNvSpPr/>
          <p:nvPr/>
        </p:nvSpPr>
        <p:spPr>
          <a:xfrm>
            <a:off x="658368" y="3950208"/>
            <a:ext cx="10874959" cy="1234440"/>
          </a:xfrm>
          <a:prstGeom prst="roundRect">
            <a:avLst>
              <a:gd name="adj" fmla="val 7000"/>
            </a:avLst>
          </a:prstGeom>
          <a:solidFill>
            <a:srgbClr val="FF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96112" y="4114800"/>
            <a:ext cx="10399471" cy="182880"/>
          </a:xfrm>
          <a:prstGeom prst="rect">
            <a:avLst/>
          </a:prstGeom>
          <a:noFill/>
        </p:spPr>
        <p:txBody>
          <a:bodyPr wrap="square" lIns="0" rIns="0" tIns="0" bIns="0" anchor="t">
            <a:spAutoFit/>
          </a:bodyPr>
          <a:lstStyle/>
          <a:p>
            <a:pPr algn="l"/>
            <a:r>
              <a:rPr sz="1050" b="1">
                <a:solidFill>
                  <a:srgbClr val="D2541F"/>
                </a:solidFill>
                <a:latin typeface="Arial"/>
              </a:rPr>
              <a:t>The whole argument, in three sentences</a:t>
            </a:r>
          </a:p>
        </p:txBody>
      </p:sp>
      <p:sp>
        <p:nvSpPr>
          <p:cNvPr id="39" name="TextBox 38"/>
          <p:cNvSpPr txBox="1"/>
          <p:nvPr/>
        </p:nvSpPr>
        <p:spPr>
          <a:xfrm>
            <a:off x="896112" y="4334256"/>
            <a:ext cx="10399471" cy="722376"/>
          </a:xfrm>
          <a:prstGeom prst="rect">
            <a:avLst/>
          </a:prstGeom>
          <a:noFill/>
        </p:spPr>
        <p:txBody>
          <a:bodyPr wrap="square" lIns="0" rIns="0" tIns="0" bIns="0" anchor="t">
            <a:spAutoFit/>
          </a:bodyPr>
          <a:lstStyle/>
          <a:p>
            <a:pPr algn="l">
              <a:lnSpc>
                <a:spcPct val="134000"/>
              </a:lnSpc>
            </a:pPr>
            <a:r>
              <a:rPr sz="1050" b="0">
                <a:solidFill>
                  <a:srgbClr val="44474B"/>
                </a:solidFill>
                <a:latin typeface="Arial"/>
              </a:rPr>
              <a:t>Europe tried to beat China on size and lost about ₹1.5 lakh crore trying. The few European battery firms still alive did the opposite: they stayed small and specialised, and sold where price per unit is not the deciding factor. UniverCell is the clearest live test of that second idea, and its own numbers do not yet match its story.</a:t>
            </a:r>
          </a:p>
        </p:txBody>
      </p:sp>
      <p:sp>
        <p:nvSpPr>
          <p:cNvPr id="40" name="TextBox 39"/>
          <p:cNvSpPr txBox="1"/>
          <p:nvPr/>
        </p:nvSpPr>
        <p:spPr>
          <a:xfrm>
            <a:off x="658368" y="6126480"/>
            <a:ext cx="10874959" cy="310896"/>
          </a:xfrm>
          <a:prstGeom prst="rect">
            <a:avLst/>
          </a:prstGeom>
          <a:noFill/>
        </p:spPr>
        <p:txBody>
          <a:bodyPr wrap="square" lIns="0" rIns="0" tIns="0" bIns="0" anchor="t">
            <a:spAutoFit/>
          </a:bodyPr>
          <a:lstStyle/>
          <a:p>
            <a:pPr algn="l">
              <a:lnSpc>
                <a:spcPct val="134000"/>
              </a:lnSpc>
            </a:pPr>
            <a:r>
              <a:rPr sz="800" b="0">
                <a:solidFill>
                  <a:srgbClr val="9A9DA3"/>
                </a:solidFill>
                <a:latin typeface="Arial"/>
              </a:rPr>
              <a:t>Sources: China's MOFCOM notice 58 of 2025 - IEA critical minerals outlook - company filings and insolvency records - UniverCell's Series B announcement of 4 March 2026, plus our own arithmetic.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326319" cy="1005840"/>
          </a:xfrm>
          <a:prstGeom prst="rect">
            <a:avLst/>
          </a:prstGeom>
          <a:noFill/>
        </p:spPr>
        <p:txBody>
          <a:bodyPr wrap="square" lIns="0" rIns="0" tIns="0" bIns="0" anchor="t">
            <a:spAutoFit/>
          </a:bodyPr>
          <a:lstStyle/>
          <a:p>
            <a:pPr algn="l">
              <a:lnSpc>
                <a:spcPct val="104000"/>
              </a:lnSpc>
            </a:pPr>
            <a:r>
              <a:rPr sz="3100" b="1" spc="-22">
                <a:solidFill>
                  <a:srgbClr val="121313"/>
                </a:solidFill>
                <a:latin typeface="Arial"/>
              </a:rPr>
              <a:t>More batteries, less money per battery</a:t>
            </a:r>
          </a:p>
        </p:txBody>
      </p:sp>
      <p:sp>
        <p:nvSpPr>
          <p:cNvPr id="4" name="TextBox 3"/>
          <p:cNvSpPr txBox="1"/>
          <p:nvPr/>
        </p:nvSpPr>
        <p:spPr>
          <a:xfrm>
            <a:off x="658368" y="6464807"/>
            <a:ext cx="914400" cy="182880"/>
          </a:xfrm>
          <a:prstGeom prst="rect">
            <a:avLst/>
          </a:prstGeom>
          <a:noFill/>
        </p:spPr>
        <p:txBody>
          <a:bodyPr wrap="square" lIns="0" rIns="0" tIns="0" bIns="0" anchor="t">
            <a:spAutoFit/>
          </a:bodyPr>
          <a:lstStyle/>
          <a:p>
            <a:pPr algn="l"/>
            <a:r>
              <a:rPr sz="900" b="1">
                <a:solidFill>
                  <a:srgbClr val="808288"/>
                </a:solidFill>
                <a:latin typeface="Arial"/>
              </a:rPr>
              <a:t>3 / 16</a:t>
            </a:r>
          </a:p>
        </p:txBody>
      </p:sp>
      <p:sp>
        <p:nvSpPr>
          <p:cNvPr id="5" name="Rectangle 4"/>
          <p:cNvSpPr/>
          <p:nvPr/>
        </p:nvSpPr>
        <p:spPr>
          <a:xfrm>
            <a:off x="1371600"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83411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96629" y="6492240"/>
            <a:ext cx="43508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275914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22165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8417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14668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60920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07171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53423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99674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45926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92177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38429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4680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30932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521647" y="6464807"/>
            <a:ext cx="2011680" cy="182880"/>
          </a:xfrm>
          <a:prstGeom prst="rect">
            <a:avLst/>
          </a:prstGeom>
          <a:noFill/>
        </p:spPr>
        <p:txBody>
          <a:bodyPr wrap="square" lIns="0" rIns="0" tIns="0" bIns="0" anchor="t">
            <a:spAutoFit/>
          </a:bodyPr>
          <a:lstStyle/>
          <a:p>
            <a:pPr algn="r"/>
            <a:r>
              <a:rPr sz="900" b="0">
                <a:solidFill>
                  <a:srgbClr val="808288"/>
                </a:solidFill>
                <a:latin typeface="Arial"/>
              </a:rPr>
              <a:t>Part one: the world</a:t>
            </a:r>
          </a:p>
        </p:txBody>
      </p:sp>
      <p:sp>
        <p:nvSpPr>
          <p:cNvPr id="22" name="Rounded Rectangle 21"/>
          <p:cNvSpPr/>
          <p:nvPr/>
        </p:nvSpPr>
        <p:spPr>
          <a:xfrm>
            <a:off x="658368" y="1783080"/>
            <a:ext cx="4206240" cy="36118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96112" y="1965960"/>
            <a:ext cx="3749039" cy="201168"/>
          </a:xfrm>
          <a:prstGeom prst="rect">
            <a:avLst/>
          </a:prstGeom>
          <a:noFill/>
        </p:spPr>
        <p:txBody>
          <a:bodyPr wrap="square" lIns="0" rIns="0" tIns="0" bIns="0" anchor="t">
            <a:spAutoFit/>
          </a:bodyPr>
          <a:lstStyle/>
          <a:p>
            <a:pPr algn="l"/>
            <a:r>
              <a:rPr sz="1100" b="1">
                <a:solidFill>
                  <a:srgbClr val="121313"/>
                </a:solidFill>
                <a:latin typeface="Arial"/>
              </a:rPr>
              <a:t>How much battery the world fits to vehicles each year</a:t>
            </a:r>
          </a:p>
        </p:txBody>
      </p:sp>
      <p:sp>
        <p:nvSpPr>
          <p:cNvPr id="24" name="TextBox 23"/>
          <p:cNvSpPr txBox="1"/>
          <p:nvPr/>
        </p:nvSpPr>
        <p:spPr>
          <a:xfrm>
            <a:off x="896112" y="2176272"/>
            <a:ext cx="3749039" cy="182880"/>
          </a:xfrm>
          <a:prstGeom prst="rect">
            <a:avLst/>
          </a:prstGeom>
          <a:noFill/>
        </p:spPr>
        <p:txBody>
          <a:bodyPr wrap="square" lIns="0" rIns="0" tIns="0" bIns="0" anchor="t">
            <a:spAutoFit/>
          </a:bodyPr>
          <a:lstStyle/>
          <a:p>
            <a:pPr algn="l"/>
            <a:r>
              <a:rPr sz="950" b="0">
                <a:solidFill>
                  <a:srgbClr val="808288"/>
                </a:solidFill>
                <a:latin typeface="Arial"/>
              </a:rPr>
              <a:t>gigawatt-hours. The 2030 bar is an outlook</a:t>
            </a:r>
          </a:p>
        </p:txBody>
      </p:sp>
      <p:sp>
        <p:nvSpPr>
          <p:cNvPr id="25" name="Rectangle 24"/>
          <p:cNvSpPr/>
          <p:nvPr/>
        </p:nvSpPr>
        <p:spPr>
          <a:xfrm>
            <a:off x="1435607" y="4855464"/>
            <a:ext cx="3200400" cy="7315"/>
          </a:xfrm>
          <a:prstGeom prst="rect">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94359" y="4782312"/>
            <a:ext cx="768096" cy="164592"/>
          </a:xfrm>
          <a:prstGeom prst="rect">
            <a:avLst/>
          </a:prstGeom>
          <a:noFill/>
        </p:spPr>
        <p:txBody>
          <a:bodyPr wrap="square" lIns="0" rIns="0" tIns="0" bIns="0" anchor="t">
            <a:spAutoFit/>
          </a:bodyPr>
          <a:lstStyle/>
          <a:p>
            <a:pPr algn="r"/>
            <a:r>
              <a:rPr sz="850" b="0" spc="40">
                <a:solidFill>
                  <a:srgbClr val="9A9DA3"/>
                </a:solidFill>
                <a:latin typeface="Arial"/>
              </a:rPr>
              <a:t>0</a:t>
            </a:r>
          </a:p>
        </p:txBody>
      </p:sp>
      <p:sp>
        <p:nvSpPr>
          <p:cNvPr id="27" name="Rectangle 26"/>
          <p:cNvSpPr/>
          <p:nvPr/>
        </p:nvSpPr>
        <p:spPr>
          <a:xfrm>
            <a:off x="1435607" y="4213779"/>
            <a:ext cx="3200400" cy="7315"/>
          </a:xfrm>
          <a:prstGeom prst="rect">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94359" y="4140627"/>
            <a:ext cx="768096" cy="164592"/>
          </a:xfrm>
          <a:prstGeom prst="rect">
            <a:avLst/>
          </a:prstGeom>
          <a:noFill/>
        </p:spPr>
        <p:txBody>
          <a:bodyPr wrap="square" lIns="0" rIns="0" tIns="0" bIns="0" anchor="t">
            <a:spAutoFit/>
          </a:bodyPr>
          <a:lstStyle/>
          <a:p>
            <a:pPr algn="r"/>
            <a:r>
              <a:rPr sz="850" b="0" spc="40">
                <a:solidFill>
                  <a:srgbClr val="9A9DA3"/>
                </a:solidFill>
                <a:latin typeface="Arial"/>
              </a:rPr>
              <a:t>1,000</a:t>
            </a:r>
          </a:p>
        </p:txBody>
      </p:sp>
      <p:sp>
        <p:nvSpPr>
          <p:cNvPr id="29" name="Rectangle 28"/>
          <p:cNvSpPr/>
          <p:nvPr/>
        </p:nvSpPr>
        <p:spPr>
          <a:xfrm>
            <a:off x="1435607" y="3572095"/>
            <a:ext cx="3200400" cy="7315"/>
          </a:xfrm>
          <a:prstGeom prst="rect">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94359" y="3498943"/>
            <a:ext cx="768096" cy="164592"/>
          </a:xfrm>
          <a:prstGeom prst="rect">
            <a:avLst/>
          </a:prstGeom>
          <a:noFill/>
        </p:spPr>
        <p:txBody>
          <a:bodyPr wrap="square" lIns="0" rIns="0" tIns="0" bIns="0" anchor="t">
            <a:spAutoFit/>
          </a:bodyPr>
          <a:lstStyle/>
          <a:p>
            <a:pPr algn="r"/>
            <a:r>
              <a:rPr sz="850" b="0" spc="40">
                <a:solidFill>
                  <a:srgbClr val="9A9DA3"/>
                </a:solidFill>
                <a:latin typeface="Arial"/>
              </a:rPr>
              <a:t>2,000</a:t>
            </a:r>
          </a:p>
        </p:txBody>
      </p:sp>
      <p:sp>
        <p:nvSpPr>
          <p:cNvPr id="31" name="Rectangle 30"/>
          <p:cNvSpPr/>
          <p:nvPr/>
        </p:nvSpPr>
        <p:spPr>
          <a:xfrm>
            <a:off x="1435607" y="2930411"/>
            <a:ext cx="3200400" cy="7315"/>
          </a:xfrm>
          <a:prstGeom prst="rect">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94359" y="2857259"/>
            <a:ext cx="768096" cy="164592"/>
          </a:xfrm>
          <a:prstGeom prst="rect">
            <a:avLst/>
          </a:prstGeom>
          <a:noFill/>
        </p:spPr>
        <p:txBody>
          <a:bodyPr wrap="square" lIns="0" rIns="0" tIns="0" bIns="0" anchor="t">
            <a:spAutoFit/>
          </a:bodyPr>
          <a:lstStyle/>
          <a:p>
            <a:pPr algn="r"/>
            <a:r>
              <a:rPr sz="850" b="0" spc="40">
                <a:solidFill>
                  <a:srgbClr val="9A9DA3"/>
                </a:solidFill>
                <a:latin typeface="Arial"/>
              </a:rPr>
              <a:t>3,000</a:t>
            </a:r>
          </a:p>
        </p:txBody>
      </p:sp>
      <p:sp>
        <p:nvSpPr>
          <p:cNvPr id="33" name="TextBox 32"/>
          <p:cNvSpPr txBox="1"/>
          <p:nvPr/>
        </p:nvSpPr>
        <p:spPr>
          <a:xfrm>
            <a:off x="1435607" y="4919472"/>
            <a:ext cx="640080" cy="182880"/>
          </a:xfrm>
          <a:prstGeom prst="rect">
            <a:avLst/>
          </a:prstGeom>
          <a:noFill/>
        </p:spPr>
        <p:txBody>
          <a:bodyPr wrap="square" lIns="0" rIns="0" tIns="0" bIns="0" anchor="t">
            <a:spAutoFit/>
          </a:bodyPr>
          <a:lstStyle/>
          <a:p>
            <a:pPr algn="ctr"/>
            <a:r>
              <a:rPr sz="900" b="0" spc="40">
                <a:solidFill>
                  <a:srgbClr val="9A9DA3"/>
                </a:solidFill>
                <a:latin typeface="Arial"/>
              </a:rPr>
              <a:t>2020</a:t>
            </a:r>
          </a:p>
        </p:txBody>
      </p:sp>
      <p:sp>
        <p:nvSpPr>
          <p:cNvPr id="34" name="Rectangle 33"/>
          <p:cNvSpPr/>
          <p:nvPr/>
        </p:nvSpPr>
        <p:spPr>
          <a:xfrm>
            <a:off x="1570024" y="4746377"/>
            <a:ext cx="371246" cy="109086"/>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515160" y="4531493"/>
            <a:ext cx="480974" cy="182880"/>
          </a:xfrm>
          <a:prstGeom prst="rect">
            <a:avLst/>
          </a:prstGeom>
          <a:noFill/>
        </p:spPr>
        <p:txBody>
          <a:bodyPr wrap="none" lIns="0" rIns="0" tIns="0" bIns="0" anchor="t">
            <a:spAutoFit/>
          </a:bodyPr>
          <a:lstStyle/>
          <a:p>
            <a:pPr algn="ctr"/>
            <a:r>
              <a:rPr sz="800" b="1">
                <a:solidFill>
                  <a:srgbClr val="D2541F"/>
                </a:solidFill>
                <a:latin typeface="Arial"/>
              </a:rPr>
              <a:t>170</a:t>
            </a:r>
          </a:p>
        </p:txBody>
      </p:sp>
      <p:sp>
        <p:nvSpPr>
          <p:cNvPr id="36" name="TextBox 35"/>
          <p:cNvSpPr txBox="1"/>
          <p:nvPr/>
        </p:nvSpPr>
        <p:spPr>
          <a:xfrm>
            <a:off x="2075687" y="4919472"/>
            <a:ext cx="640080" cy="182880"/>
          </a:xfrm>
          <a:prstGeom prst="rect">
            <a:avLst/>
          </a:prstGeom>
          <a:noFill/>
        </p:spPr>
        <p:txBody>
          <a:bodyPr wrap="square" lIns="0" rIns="0" tIns="0" bIns="0" anchor="t">
            <a:spAutoFit/>
          </a:bodyPr>
          <a:lstStyle/>
          <a:p>
            <a:pPr algn="ctr"/>
            <a:r>
              <a:rPr sz="900" b="0" spc="40">
                <a:solidFill>
                  <a:srgbClr val="9A9DA3"/>
                </a:solidFill>
                <a:latin typeface="Arial"/>
              </a:rPr>
              <a:t>2022</a:t>
            </a:r>
          </a:p>
        </p:txBody>
      </p:sp>
      <p:sp>
        <p:nvSpPr>
          <p:cNvPr id="37" name="Rectangle 36"/>
          <p:cNvSpPr/>
          <p:nvPr/>
        </p:nvSpPr>
        <p:spPr>
          <a:xfrm>
            <a:off x="2210104" y="4502537"/>
            <a:ext cx="371246" cy="352926"/>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155240" y="4287653"/>
            <a:ext cx="480974" cy="182880"/>
          </a:xfrm>
          <a:prstGeom prst="rect">
            <a:avLst/>
          </a:prstGeom>
          <a:noFill/>
        </p:spPr>
        <p:txBody>
          <a:bodyPr wrap="none" lIns="0" rIns="0" tIns="0" bIns="0" anchor="t">
            <a:spAutoFit/>
          </a:bodyPr>
          <a:lstStyle/>
          <a:p>
            <a:pPr algn="ctr"/>
            <a:r>
              <a:rPr sz="800" b="1">
                <a:solidFill>
                  <a:srgbClr val="D2541F"/>
                </a:solidFill>
                <a:latin typeface="Arial"/>
              </a:rPr>
              <a:t>550</a:t>
            </a:r>
          </a:p>
        </p:txBody>
      </p:sp>
      <p:sp>
        <p:nvSpPr>
          <p:cNvPr id="39" name="TextBox 38"/>
          <p:cNvSpPr txBox="1"/>
          <p:nvPr/>
        </p:nvSpPr>
        <p:spPr>
          <a:xfrm>
            <a:off x="2715768" y="4919472"/>
            <a:ext cx="640080" cy="182880"/>
          </a:xfrm>
          <a:prstGeom prst="rect">
            <a:avLst/>
          </a:prstGeom>
          <a:noFill/>
        </p:spPr>
        <p:txBody>
          <a:bodyPr wrap="square" lIns="0" rIns="0" tIns="0" bIns="0" anchor="t">
            <a:spAutoFit/>
          </a:bodyPr>
          <a:lstStyle/>
          <a:p>
            <a:pPr algn="ctr"/>
            <a:r>
              <a:rPr sz="900" b="0" spc="40">
                <a:solidFill>
                  <a:srgbClr val="9A9DA3"/>
                </a:solidFill>
                <a:latin typeface="Arial"/>
              </a:rPr>
              <a:t>2024</a:t>
            </a:r>
          </a:p>
        </p:txBody>
      </p:sp>
      <p:sp>
        <p:nvSpPr>
          <p:cNvPr id="40" name="Rectangle 39"/>
          <p:cNvSpPr/>
          <p:nvPr/>
        </p:nvSpPr>
        <p:spPr>
          <a:xfrm>
            <a:off x="2850184" y="4245864"/>
            <a:ext cx="371246" cy="609600"/>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2795320" y="4030980"/>
            <a:ext cx="480974" cy="182880"/>
          </a:xfrm>
          <a:prstGeom prst="rect">
            <a:avLst/>
          </a:prstGeom>
          <a:noFill/>
        </p:spPr>
        <p:txBody>
          <a:bodyPr wrap="none" lIns="0" rIns="0" tIns="0" bIns="0" anchor="t">
            <a:spAutoFit/>
          </a:bodyPr>
          <a:lstStyle/>
          <a:p>
            <a:pPr algn="ctr"/>
            <a:r>
              <a:rPr sz="800" b="1">
                <a:solidFill>
                  <a:srgbClr val="D2541F"/>
                </a:solidFill>
                <a:latin typeface="Arial"/>
              </a:rPr>
              <a:t>950</a:t>
            </a:r>
          </a:p>
        </p:txBody>
      </p:sp>
      <p:sp>
        <p:nvSpPr>
          <p:cNvPr id="42" name="TextBox 41"/>
          <p:cNvSpPr txBox="1"/>
          <p:nvPr/>
        </p:nvSpPr>
        <p:spPr>
          <a:xfrm>
            <a:off x="3355847" y="4919472"/>
            <a:ext cx="640080" cy="182880"/>
          </a:xfrm>
          <a:prstGeom prst="rect">
            <a:avLst/>
          </a:prstGeom>
          <a:noFill/>
        </p:spPr>
        <p:txBody>
          <a:bodyPr wrap="square" lIns="0" rIns="0" tIns="0" bIns="0" anchor="t">
            <a:spAutoFit/>
          </a:bodyPr>
          <a:lstStyle/>
          <a:p>
            <a:pPr algn="ctr"/>
            <a:r>
              <a:rPr sz="900" b="0" spc="40">
                <a:solidFill>
                  <a:srgbClr val="9A9DA3"/>
                </a:solidFill>
                <a:latin typeface="Arial"/>
              </a:rPr>
              <a:t>2025</a:t>
            </a:r>
          </a:p>
        </p:txBody>
      </p:sp>
      <p:sp>
        <p:nvSpPr>
          <p:cNvPr id="43" name="Rectangle 42"/>
          <p:cNvSpPr/>
          <p:nvPr/>
        </p:nvSpPr>
        <p:spPr>
          <a:xfrm>
            <a:off x="3490264" y="4085442"/>
            <a:ext cx="371246" cy="770021"/>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3435400" y="3870558"/>
            <a:ext cx="480974" cy="182880"/>
          </a:xfrm>
          <a:prstGeom prst="rect">
            <a:avLst/>
          </a:prstGeom>
          <a:noFill/>
        </p:spPr>
        <p:txBody>
          <a:bodyPr wrap="none" lIns="0" rIns="0" tIns="0" bIns="0" anchor="t">
            <a:spAutoFit/>
          </a:bodyPr>
          <a:lstStyle/>
          <a:p>
            <a:pPr algn="ctr"/>
            <a:r>
              <a:rPr sz="800" b="1">
                <a:solidFill>
                  <a:srgbClr val="D2541F"/>
                </a:solidFill>
                <a:latin typeface="Arial"/>
              </a:rPr>
              <a:t>1,200</a:t>
            </a:r>
          </a:p>
        </p:txBody>
      </p:sp>
      <p:sp>
        <p:nvSpPr>
          <p:cNvPr id="45" name="TextBox 44"/>
          <p:cNvSpPr txBox="1"/>
          <p:nvPr/>
        </p:nvSpPr>
        <p:spPr>
          <a:xfrm>
            <a:off x="3995927" y="4919472"/>
            <a:ext cx="640080" cy="182880"/>
          </a:xfrm>
          <a:prstGeom prst="rect">
            <a:avLst/>
          </a:prstGeom>
          <a:noFill/>
        </p:spPr>
        <p:txBody>
          <a:bodyPr wrap="square" lIns="0" rIns="0" tIns="0" bIns="0" anchor="t">
            <a:spAutoFit/>
          </a:bodyPr>
          <a:lstStyle/>
          <a:p>
            <a:pPr algn="ctr"/>
            <a:r>
              <a:rPr sz="900" b="0" spc="40">
                <a:solidFill>
                  <a:srgbClr val="9A9DA3"/>
                </a:solidFill>
                <a:latin typeface="Arial"/>
              </a:rPr>
              <a:t>2030</a:t>
            </a:r>
          </a:p>
        </p:txBody>
      </p:sp>
      <p:sp>
        <p:nvSpPr>
          <p:cNvPr id="46" name="Rectangle 45"/>
          <p:cNvSpPr/>
          <p:nvPr/>
        </p:nvSpPr>
        <p:spPr>
          <a:xfrm>
            <a:off x="4130344" y="2930411"/>
            <a:ext cx="371246" cy="19250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4075480" y="2715527"/>
            <a:ext cx="480974" cy="182880"/>
          </a:xfrm>
          <a:prstGeom prst="rect">
            <a:avLst/>
          </a:prstGeom>
          <a:noFill/>
        </p:spPr>
        <p:txBody>
          <a:bodyPr wrap="none" lIns="0" rIns="0" tIns="0" bIns="0" anchor="t">
            <a:spAutoFit/>
          </a:bodyPr>
          <a:lstStyle/>
          <a:p>
            <a:pPr algn="ctr"/>
            <a:r>
              <a:rPr sz="800" b="1">
                <a:solidFill>
                  <a:srgbClr val="D2541F"/>
                </a:solidFill>
                <a:latin typeface="Arial"/>
              </a:rPr>
              <a:t>3,000</a:t>
            </a:r>
          </a:p>
        </p:txBody>
      </p:sp>
      <p:sp>
        <p:nvSpPr>
          <p:cNvPr id="48" name="Rectangle 47"/>
          <p:cNvSpPr/>
          <p:nvPr/>
        </p:nvSpPr>
        <p:spPr>
          <a:xfrm>
            <a:off x="1435607" y="4855464"/>
            <a:ext cx="3200400" cy="914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32688" y="5120640"/>
            <a:ext cx="3749039" cy="182880"/>
          </a:xfrm>
          <a:prstGeom prst="rect">
            <a:avLst/>
          </a:prstGeom>
          <a:noFill/>
        </p:spPr>
        <p:txBody>
          <a:bodyPr wrap="square" lIns="0" rIns="0" tIns="0" bIns="0" anchor="t">
            <a:spAutoFit/>
          </a:bodyPr>
          <a:lstStyle/>
          <a:p>
            <a:pPr algn="l"/>
            <a:r>
              <a:rPr sz="900" b="0">
                <a:solidFill>
                  <a:srgbClr val="808288"/>
                </a:solidFill>
                <a:latin typeface="Arial"/>
              </a:rPr>
              <a:t>2030 is the IEA outlook, not an actual.</a:t>
            </a:r>
          </a:p>
        </p:txBody>
      </p:sp>
      <p:sp>
        <p:nvSpPr>
          <p:cNvPr id="50" name="Rounded Rectangle 49"/>
          <p:cNvSpPr/>
          <p:nvPr/>
        </p:nvSpPr>
        <p:spPr>
          <a:xfrm>
            <a:off x="5093207" y="1783080"/>
            <a:ext cx="4206240" cy="36118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5330951" y="1965960"/>
            <a:ext cx="3749039" cy="201168"/>
          </a:xfrm>
          <a:prstGeom prst="rect">
            <a:avLst/>
          </a:prstGeom>
          <a:noFill/>
        </p:spPr>
        <p:txBody>
          <a:bodyPr wrap="square" lIns="0" rIns="0" tIns="0" bIns="0" anchor="t">
            <a:spAutoFit/>
          </a:bodyPr>
          <a:lstStyle/>
          <a:p>
            <a:pPr algn="l"/>
            <a:r>
              <a:rPr sz="1100" b="1">
                <a:solidFill>
                  <a:srgbClr val="121313"/>
                </a:solidFill>
                <a:latin typeface="Arial"/>
              </a:rPr>
              <a:t>What a pack costs, and how fast that is falling</a:t>
            </a:r>
          </a:p>
        </p:txBody>
      </p:sp>
      <p:sp>
        <p:nvSpPr>
          <p:cNvPr id="52" name="TextBox 51"/>
          <p:cNvSpPr txBox="1"/>
          <p:nvPr/>
        </p:nvSpPr>
        <p:spPr>
          <a:xfrm>
            <a:off x="5330951" y="2176272"/>
            <a:ext cx="3749039" cy="182880"/>
          </a:xfrm>
          <a:prstGeom prst="rect">
            <a:avLst/>
          </a:prstGeom>
          <a:noFill/>
        </p:spPr>
        <p:txBody>
          <a:bodyPr wrap="square" lIns="0" rIns="0" tIns="0" bIns="0" anchor="t">
            <a:spAutoFit/>
          </a:bodyPr>
          <a:lstStyle/>
          <a:p>
            <a:pPr algn="l"/>
            <a:r>
              <a:rPr sz="950" b="0">
                <a:solidFill>
                  <a:srgbClr val="808288"/>
                </a:solidFill>
                <a:latin typeface="Arial"/>
              </a:rPr>
              <a:t>thousand rupees per kWh. 2026 is a forecast</a:t>
            </a:r>
          </a:p>
        </p:txBody>
      </p:sp>
      <p:sp>
        <p:nvSpPr>
          <p:cNvPr id="53" name="Rectangle 52"/>
          <p:cNvSpPr/>
          <p:nvPr/>
        </p:nvSpPr>
        <p:spPr>
          <a:xfrm>
            <a:off x="5870448" y="4855464"/>
            <a:ext cx="3200400" cy="7315"/>
          </a:xfrm>
          <a:prstGeom prst="rect">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5029200" y="4782312"/>
            <a:ext cx="768096" cy="164592"/>
          </a:xfrm>
          <a:prstGeom prst="rect">
            <a:avLst/>
          </a:prstGeom>
          <a:noFill/>
        </p:spPr>
        <p:txBody>
          <a:bodyPr wrap="square" lIns="0" rIns="0" tIns="0" bIns="0" anchor="t">
            <a:spAutoFit/>
          </a:bodyPr>
          <a:lstStyle/>
          <a:p>
            <a:pPr algn="r"/>
            <a:r>
              <a:rPr sz="850" b="0" spc="40">
                <a:solidFill>
                  <a:srgbClr val="9A9DA3"/>
                </a:solidFill>
                <a:latin typeface="Arial"/>
              </a:rPr>
              <a:t>₹0k</a:t>
            </a:r>
          </a:p>
        </p:txBody>
      </p:sp>
      <p:sp>
        <p:nvSpPr>
          <p:cNvPr id="55" name="Rectangle 54"/>
          <p:cNvSpPr/>
          <p:nvPr/>
        </p:nvSpPr>
        <p:spPr>
          <a:xfrm>
            <a:off x="5870448" y="4187042"/>
            <a:ext cx="3200400" cy="7315"/>
          </a:xfrm>
          <a:prstGeom prst="rect">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5029200" y="4113890"/>
            <a:ext cx="768096" cy="164592"/>
          </a:xfrm>
          <a:prstGeom prst="rect">
            <a:avLst/>
          </a:prstGeom>
          <a:noFill/>
        </p:spPr>
        <p:txBody>
          <a:bodyPr wrap="square" lIns="0" rIns="0" tIns="0" bIns="0" anchor="t">
            <a:spAutoFit/>
          </a:bodyPr>
          <a:lstStyle/>
          <a:p>
            <a:pPr algn="r"/>
            <a:r>
              <a:rPr sz="850" b="0" spc="40">
                <a:solidFill>
                  <a:srgbClr val="9A9DA3"/>
                </a:solidFill>
                <a:latin typeface="Arial"/>
              </a:rPr>
              <a:t>₹5k</a:t>
            </a:r>
          </a:p>
        </p:txBody>
      </p:sp>
      <p:sp>
        <p:nvSpPr>
          <p:cNvPr id="57" name="Rectangle 56"/>
          <p:cNvSpPr/>
          <p:nvPr/>
        </p:nvSpPr>
        <p:spPr>
          <a:xfrm>
            <a:off x="5870448" y="3518621"/>
            <a:ext cx="3200400" cy="7315"/>
          </a:xfrm>
          <a:prstGeom prst="rect">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5029200" y="3445469"/>
            <a:ext cx="768096" cy="164592"/>
          </a:xfrm>
          <a:prstGeom prst="rect">
            <a:avLst/>
          </a:prstGeom>
          <a:noFill/>
        </p:spPr>
        <p:txBody>
          <a:bodyPr wrap="square" lIns="0" rIns="0" tIns="0" bIns="0" anchor="t">
            <a:spAutoFit/>
          </a:bodyPr>
          <a:lstStyle/>
          <a:p>
            <a:pPr algn="r"/>
            <a:r>
              <a:rPr sz="850" b="0" spc="40">
                <a:solidFill>
                  <a:srgbClr val="9A9DA3"/>
                </a:solidFill>
                <a:latin typeface="Arial"/>
              </a:rPr>
              <a:t>₹10k</a:t>
            </a:r>
          </a:p>
        </p:txBody>
      </p:sp>
      <p:sp>
        <p:nvSpPr>
          <p:cNvPr id="59" name="Rectangle 58"/>
          <p:cNvSpPr/>
          <p:nvPr/>
        </p:nvSpPr>
        <p:spPr>
          <a:xfrm>
            <a:off x="5870448" y="2850200"/>
            <a:ext cx="3200400" cy="7315"/>
          </a:xfrm>
          <a:prstGeom prst="rect">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5029200" y="2777048"/>
            <a:ext cx="768096" cy="164592"/>
          </a:xfrm>
          <a:prstGeom prst="rect">
            <a:avLst/>
          </a:prstGeom>
          <a:noFill/>
        </p:spPr>
        <p:txBody>
          <a:bodyPr wrap="square" lIns="0" rIns="0" tIns="0" bIns="0" anchor="t">
            <a:spAutoFit/>
          </a:bodyPr>
          <a:lstStyle/>
          <a:p>
            <a:pPr algn="r"/>
            <a:r>
              <a:rPr sz="850" b="0" spc="40">
                <a:solidFill>
                  <a:srgbClr val="9A9DA3"/>
                </a:solidFill>
                <a:latin typeface="Arial"/>
              </a:rPr>
              <a:t>₹15k</a:t>
            </a:r>
          </a:p>
        </p:txBody>
      </p:sp>
      <p:sp>
        <p:nvSpPr>
          <p:cNvPr id="61" name="TextBox 60"/>
          <p:cNvSpPr txBox="1"/>
          <p:nvPr/>
        </p:nvSpPr>
        <p:spPr>
          <a:xfrm>
            <a:off x="5870448" y="4919472"/>
            <a:ext cx="640080" cy="182880"/>
          </a:xfrm>
          <a:prstGeom prst="rect">
            <a:avLst/>
          </a:prstGeom>
          <a:noFill/>
        </p:spPr>
        <p:txBody>
          <a:bodyPr wrap="square" lIns="0" rIns="0" tIns="0" bIns="0" anchor="t">
            <a:spAutoFit/>
          </a:bodyPr>
          <a:lstStyle/>
          <a:p>
            <a:pPr algn="ctr"/>
            <a:r>
              <a:rPr sz="900" b="0" spc="40">
                <a:solidFill>
                  <a:srgbClr val="9A9DA3"/>
                </a:solidFill>
                <a:latin typeface="Arial"/>
              </a:rPr>
              <a:t>2020</a:t>
            </a:r>
          </a:p>
        </p:txBody>
      </p:sp>
      <p:sp>
        <p:nvSpPr>
          <p:cNvPr id="62" name="Rectangle 61"/>
          <p:cNvSpPr/>
          <p:nvPr/>
        </p:nvSpPr>
        <p:spPr>
          <a:xfrm>
            <a:off x="6004864" y="3077464"/>
            <a:ext cx="371246" cy="1778000"/>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5950000" y="2862580"/>
            <a:ext cx="480974" cy="182880"/>
          </a:xfrm>
          <a:prstGeom prst="rect">
            <a:avLst/>
          </a:prstGeom>
          <a:noFill/>
        </p:spPr>
        <p:txBody>
          <a:bodyPr wrap="none" lIns="0" rIns="0" tIns="0" bIns="0" anchor="t">
            <a:spAutoFit/>
          </a:bodyPr>
          <a:lstStyle/>
          <a:p>
            <a:pPr algn="ctr"/>
            <a:r>
              <a:rPr sz="800" b="1">
                <a:solidFill>
                  <a:srgbClr val="D2541F"/>
                </a:solidFill>
                <a:latin typeface="Arial"/>
              </a:rPr>
              <a:t>₹13.3k</a:t>
            </a:r>
          </a:p>
        </p:txBody>
      </p:sp>
      <p:sp>
        <p:nvSpPr>
          <p:cNvPr id="64" name="TextBox 63"/>
          <p:cNvSpPr txBox="1"/>
          <p:nvPr/>
        </p:nvSpPr>
        <p:spPr>
          <a:xfrm>
            <a:off x="6510528" y="4919472"/>
            <a:ext cx="640080" cy="182880"/>
          </a:xfrm>
          <a:prstGeom prst="rect">
            <a:avLst/>
          </a:prstGeom>
          <a:noFill/>
        </p:spPr>
        <p:txBody>
          <a:bodyPr wrap="square" lIns="0" rIns="0" tIns="0" bIns="0" anchor="t">
            <a:spAutoFit/>
          </a:bodyPr>
          <a:lstStyle/>
          <a:p>
            <a:pPr algn="ctr"/>
            <a:r>
              <a:rPr sz="900" b="0" spc="40">
                <a:solidFill>
                  <a:srgbClr val="9A9DA3"/>
                </a:solidFill>
                <a:latin typeface="Arial"/>
              </a:rPr>
              <a:t>2022</a:t>
            </a:r>
          </a:p>
        </p:txBody>
      </p:sp>
      <p:sp>
        <p:nvSpPr>
          <p:cNvPr id="65" name="Rectangle 64"/>
          <p:cNvSpPr/>
          <p:nvPr/>
        </p:nvSpPr>
        <p:spPr>
          <a:xfrm>
            <a:off x="6644944" y="2930411"/>
            <a:ext cx="371246" cy="19250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6590080" y="2715527"/>
            <a:ext cx="480974" cy="182880"/>
          </a:xfrm>
          <a:prstGeom prst="rect">
            <a:avLst/>
          </a:prstGeom>
          <a:noFill/>
        </p:spPr>
        <p:txBody>
          <a:bodyPr wrap="none" lIns="0" rIns="0" tIns="0" bIns="0" anchor="t">
            <a:spAutoFit/>
          </a:bodyPr>
          <a:lstStyle/>
          <a:p>
            <a:pPr algn="ctr"/>
            <a:r>
              <a:rPr sz="800" b="1">
                <a:solidFill>
                  <a:srgbClr val="D2541F"/>
                </a:solidFill>
                <a:latin typeface="Arial"/>
              </a:rPr>
              <a:t>₹14.4k</a:t>
            </a:r>
          </a:p>
        </p:txBody>
      </p:sp>
      <p:sp>
        <p:nvSpPr>
          <p:cNvPr id="67" name="TextBox 66"/>
          <p:cNvSpPr txBox="1"/>
          <p:nvPr/>
        </p:nvSpPr>
        <p:spPr>
          <a:xfrm>
            <a:off x="7150608" y="4919472"/>
            <a:ext cx="640080" cy="182880"/>
          </a:xfrm>
          <a:prstGeom prst="rect">
            <a:avLst/>
          </a:prstGeom>
          <a:noFill/>
        </p:spPr>
        <p:txBody>
          <a:bodyPr wrap="square" lIns="0" rIns="0" tIns="0" bIns="0" anchor="t">
            <a:spAutoFit/>
          </a:bodyPr>
          <a:lstStyle/>
          <a:p>
            <a:pPr algn="ctr"/>
            <a:r>
              <a:rPr sz="900" b="0" spc="40">
                <a:solidFill>
                  <a:srgbClr val="9A9DA3"/>
                </a:solidFill>
                <a:latin typeface="Arial"/>
              </a:rPr>
              <a:t>2024</a:t>
            </a:r>
          </a:p>
        </p:txBody>
      </p:sp>
      <p:sp>
        <p:nvSpPr>
          <p:cNvPr id="68" name="Rectangle 67"/>
          <p:cNvSpPr/>
          <p:nvPr/>
        </p:nvSpPr>
        <p:spPr>
          <a:xfrm>
            <a:off x="7285024" y="3384937"/>
            <a:ext cx="371246" cy="1470526"/>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7230160" y="3170053"/>
            <a:ext cx="480974" cy="182880"/>
          </a:xfrm>
          <a:prstGeom prst="rect">
            <a:avLst/>
          </a:prstGeom>
          <a:noFill/>
        </p:spPr>
        <p:txBody>
          <a:bodyPr wrap="none" lIns="0" rIns="0" tIns="0" bIns="0" anchor="t">
            <a:spAutoFit/>
          </a:bodyPr>
          <a:lstStyle/>
          <a:p>
            <a:pPr algn="ctr"/>
            <a:r>
              <a:rPr sz="800" b="1">
                <a:solidFill>
                  <a:srgbClr val="D2541F"/>
                </a:solidFill>
                <a:latin typeface="Arial"/>
              </a:rPr>
              <a:t>₹11.0k</a:t>
            </a:r>
          </a:p>
        </p:txBody>
      </p:sp>
      <p:sp>
        <p:nvSpPr>
          <p:cNvPr id="70" name="TextBox 69"/>
          <p:cNvSpPr txBox="1"/>
          <p:nvPr/>
        </p:nvSpPr>
        <p:spPr>
          <a:xfrm>
            <a:off x="7790688" y="4919472"/>
            <a:ext cx="640080" cy="182880"/>
          </a:xfrm>
          <a:prstGeom prst="rect">
            <a:avLst/>
          </a:prstGeom>
          <a:noFill/>
        </p:spPr>
        <p:txBody>
          <a:bodyPr wrap="square" lIns="0" rIns="0" tIns="0" bIns="0" anchor="t">
            <a:spAutoFit/>
          </a:bodyPr>
          <a:lstStyle/>
          <a:p>
            <a:pPr algn="ctr"/>
            <a:r>
              <a:rPr sz="900" b="0" spc="40">
                <a:solidFill>
                  <a:srgbClr val="9A9DA3"/>
                </a:solidFill>
                <a:latin typeface="Arial"/>
              </a:rPr>
              <a:t>2025</a:t>
            </a:r>
          </a:p>
        </p:txBody>
      </p:sp>
      <p:sp>
        <p:nvSpPr>
          <p:cNvPr id="71" name="Rectangle 70"/>
          <p:cNvSpPr/>
          <p:nvPr/>
        </p:nvSpPr>
        <p:spPr>
          <a:xfrm>
            <a:off x="7925104" y="3478516"/>
            <a:ext cx="371246" cy="1376947"/>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7870240" y="3263632"/>
            <a:ext cx="480974" cy="182880"/>
          </a:xfrm>
          <a:prstGeom prst="rect">
            <a:avLst/>
          </a:prstGeom>
          <a:noFill/>
        </p:spPr>
        <p:txBody>
          <a:bodyPr wrap="none" lIns="0" rIns="0" tIns="0" bIns="0" anchor="t">
            <a:spAutoFit/>
          </a:bodyPr>
          <a:lstStyle/>
          <a:p>
            <a:pPr algn="ctr"/>
            <a:r>
              <a:rPr sz="800" b="1">
                <a:solidFill>
                  <a:srgbClr val="D2541F"/>
                </a:solidFill>
                <a:latin typeface="Arial"/>
              </a:rPr>
              <a:t>₹10.3k</a:t>
            </a:r>
          </a:p>
        </p:txBody>
      </p:sp>
      <p:sp>
        <p:nvSpPr>
          <p:cNvPr id="73" name="TextBox 72"/>
          <p:cNvSpPr txBox="1"/>
          <p:nvPr/>
        </p:nvSpPr>
        <p:spPr>
          <a:xfrm>
            <a:off x="8430767" y="4919472"/>
            <a:ext cx="640080" cy="182880"/>
          </a:xfrm>
          <a:prstGeom prst="rect">
            <a:avLst/>
          </a:prstGeom>
          <a:noFill/>
        </p:spPr>
        <p:txBody>
          <a:bodyPr wrap="square" lIns="0" rIns="0" tIns="0" bIns="0" anchor="t">
            <a:spAutoFit/>
          </a:bodyPr>
          <a:lstStyle/>
          <a:p>
            <a:pPr algn="ctr"/>
            <a:r>
              <a:rPr sz="900" b="0" spc="40">
                <a:solidFill>
                  <a:srgbClr val="9A9DA3"/>
                </a:solidFill>
                <a:latin typeface="Arial"/>
              </a:rPr>
              <a:t>2026</a:t>
            </a:r>
          </a:p>
        </p:txBody>
      </p:sp>
      <p:sp>
        <p:nvSpPr>
          <p:cNvPr id="74" name="Rectangle 73"/>
          <p:cNvSpPr/>
          <p:nvPr/>
        </p:nvSpPr>
        <p:spPr>
          <a:xfrm>
            <a:off x="8565184" y="3518621"/>
            <a:ext cx="371246" cy="133684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8510320" y="3303737"/>
            <a:ext cx="480974" cy="182880"/>
          </a:xfrm>
          <a:prstGeom prst="rect">
            <a:avLst/>
          </a:prstGeom>
          <a:noFill/>
        </p:spPr>
        <p:txBody>
          <a:bodyPr wrap="none" lIns="0" rIns="0" tIns="0" bIns="0" anchor="t">
            <a:spAutoFit/>
          </a:bodyPr>
          <a:lstStyle/>
          <a:p>
            <a:pPr algn="ctr"/>
            <a:r>
              <a:rPr sz="800" b="1">
                <a:solidFill>
                  <a:srgbClr val="D2541F"/>
                </a:solidFill>
                <a:latin typeface="Arial"/>
              </a:rPr>
              <a:t>₹10.0k</a:t>
            </a:r>
          </a:p>
        </p:txBody>
      </p:sp>
      <p:sp>
        <p:nvSpPr>
          <p:cNvPr id="76" name="Rectangle 75"/>
          <p:cNvSpPr/>
          <p:nvPr/>
        </p:nvSpPr>
        <p:spPr>
          <a:xfrm>
            <a:off x="5870448" y="4855464"/>
            <a:ext cx="3200400" cy="914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5367528" y="5120640"/>
            <a:ext cx="3749039" cy="182880"/>
          </a:xfrm>
          <a:prstGeom prst="rect">
            <a:avLst/>
          </a:prstGeom>
          <a:noFill/>
        </p:spPr>
        <p:txBody>
          <a:bodyPr wrap="square" lIns="0" rIns="0" tIns="0" bIns="0" anchor="t">
            <a:spAutoFit/>
          </a:bodyPr>
          <a:lstStyle/>
          <a:p>
            <a:pPr algn="l"/>
            <a:r>
              <a:rPr sz="900" b="0">
                <a:solidFill>
                  <a:srgbClr val="808288"/>
                </a:solidFill>
                <a:latin typeface="Arial"/>
              </a:rPr>
              <a:t>2026 is BloombergNEF's forecast.</a:t>
            </a:r>
          </a:p>
        </p:txBody>
      </p:sp>
      <p:sp>
        <p:nvSpPr>
          <p:cNvPr id="78" name="TextBox 77"/>
          <p:cNvSpPr txBox="1"/>
          <p:nvPr/>
        </p:nvSpPr>
        <p:spPr>
          <a:xfrm>
            <a:off x="9573768" y="1783080"/>
            <a:ext cx="2606040" cy="530352"/>
          </a:xfrm>
          <a:prstGeom prst="rect">
            <a:avLst/>
          </a:prstGeom>
          <a:noFill/>
        </p:spPr>
        <p:txBody>
          <a:bodyPr wrap="square" lIns="0" rIns="0" tIns="0" bIns="0" anchor="t">
            <a:spAutoFit/>
          </a:bodyPr>
          <a:lstStyle/>
          <a:p>
            <a:pPr algn="l"/>
            <a:r>
              <a:rPr sz="3000" b="1" spc="-24">
                <a:solidFill>
                  <a:srgbClr val="07836A"/>
                </a:solidFill>
                <a:latin typeface="Arial"/>
              </a:rPr>
              <a:t>₹6,700</a:t>
            </a:r>
            <a:r>
              <a:rPr sz="1300" b="1">
                <a:solidFill>
                  <a:srgbClr val="07836A"/>
                </a:solidFill>
                <a:latin typeface="Arial"/>
              </a:rPr>
              <a:t/>
            </a:r>
          </a:p>
        </p:txBody>
      </p:sp>
      <p:sp>
        <p:nvSpPr>
          <p:cNvPr id="79" name="TextBox 78"/>
          <p:cNvSpPr txBox="1"/>
          <p:nvPr/>
        </p:nvSpPr>
        <p:spPr>
          <a:xfrm>
            <a:off x="9573768" y="2258568"/>
            <a:ext cx="2606040" cy="219456"/>
          </a:xfrm>
          <a:prstGeom prst="rect">
            <a:avLst/>
          </a:prstGeom>
          <a:noFill/>
        </p:spPr>
        <p:txBody>
          <a:bodyPr wrap="square" lIns="0" rIns="0" tIns="0" bIns="0" anchor="t">
            <a:spAutoFit/>
          </a:bodyPr>
          <a:lstStyle/>
          <a:p>
            <a:pPr algn="l"/>
            <a:r>
              <a:rPr sz="1150" b="1">
                <a:solidFill>
                  <a:srgbClr val="121313"/>
                </a:solidFill>
                <a:latin typeface="Arial"/>
              </a:rPr>
              <a:t>per kWh, storage packs</a:t>
            </a:r>
          </a:p>
        </p:txBody>
      </p:sp>
      <p:sp>
        <p:nvSpPr>
          <p:cNvPr id="80" name="TextBox 79"/>
          <p:cNvSpPr txBox="1"/>
          <p:nvPr/>
        </p:nvSpPr>
        <p:spPr>
          <a:xfrm>
            <a:off x="9573768" y="2514600"/>
            <a:ext cx="2606040" cy="347472"/>
          </a:xfrm>
          <a:prstGeom prst="rect">
            <a:avLst/>
          </a:prstGeom>
          <a:noFill/>
        </p:spPr>
        <p:txBody>
          <a:bodyPr wrap="square" lIns="0" rIns="0" tIns="0" bIns="0" anchor="t">
            <a:spAutoFit/>
          </a:bodyPr>
          <a:lstStyle/>
          <a:p>
            <a:pPr algn="l">
              <a:lnSpc>
                <a:spcPct val="144000"/>
              </a:lnSpc>
            </a:pPr>
            <a:r>
              <a:rPr sz="950" b="0">
                <a:solidFill>
                  <a:srgbClr val="44474B"/>
                </a:solidFill>
                <a:latin typeface="Arial"/>
              </a:rPr>
              <a:t>Down 45% in a single year. The cheapest cell on the market is ₹3,400 per kWh.</a:t>
            </a:r>
          </a:p>
        </p:txBody>
      </p:sp>
      <p:sp>
        <p:nvSpPr>
          <p:cNvPr id="81" name="TextBox 80"/>
          <p:cNvSpPr txBox="1"/>
          <p:nvPr/>
        </p:nvSpPr>
        <p:spPr>
          <a:xfrm>
            <a:off x="9573768" y="3566160"/>
            <a:ext cx="2606040" cy="530352"/>
          </a:xfrm>
          <a:prstGeom prst="rect">
            <a:avLst/>
          </a:prstGeom>
          <a:noFill/>
        </p:spPr>
        <p:txBody>
          <a:bodyPr wrap="square" lIns="0" rIns="0" tIns="0" bIns="0" anchor="t">
            <a:spAutoFit/>
          </a:bodyPr>
          <a:lstStyle/>
          <a:p>
            <a:pPr algn="l"/>
            <a:r>
              <a:rPr sz="3000" b="1" spc="-24">
                <a:solidFill>
                  <a:srgbClr val="2A66B0"/>
                </a:solidFill>
                <a:latin typeface="Arial"/>
              </a:rPr>
              <a:t>40</a:t>
            </a:r>
            <a:r>
              <a:rPr sz="1300" b="1">
                <a:solidFill>
                  <a:srgbClr val="2A66B0"/>
                </a:solidFill>
                <a:latin typeface="Arial"/>
              </a:rPr>
              <a:t>%</a:t>
            </a:r>
          </a:p>
        </p:txBody>
      </p:sp>
      <p:sp>
        <p:nvSpPr>
          <p:cNvPr id="82" name="TextBox 81"/>
          <p:cNvSpPr txBox="1"/>
          <p:nvPr/>
        </p:nvSpPr>
        <p:spPr>
          <a:xfrm>
            <a:off x="9573768" y="4041648"/>
            <a:ext cx="2606040" cy="219456"/>
          </a:xfrm>
          <a:prstGeom prst="rect">
            <a:avLst/>
          </a:prstGeom>
          <a:noFill/>
        </p:spPr>
        <p:txBody>
          <a:bodyPr wrap="square" lIns="0" rIns="0" tIns="0" bIns="0" anchor="t">
            <a:spAutoFit/>
          </a:bodyPr>
          <a:lstStyle/>
          <a:p>
            <a:pPr algn="l"/>
            <a:r>
              <a:rPr sz="1150" b="1">
                <a:solidFill>
                  <a:srgbClr val="121313"/>
                </a:solidFill>
                <a:latin typeface="Arial"/>
              </a:rPr>
              <a:t>of the world's factories sit idle</a:t>
            </a:r>
          </a:p>
        </p:txBody>
      </p:sp>
      <p:sp>
        <p:nvSpPr>
          <p:cNvPr id="83" name="TextBox 82"/>
          <p:cNvSpPr txBox="1"/>
          <p:nvPr/>
        </p:nvSpPr>
        <p:spPr>
          <a:xfrm>
            <a:off x="9573768" y="4297680"/>
            <a:ext cx="2606040" cy="347472"/>
          </a:xfrm>
          <a:prstGeom prst="rect">
            <a:avLst/>
          </a:prstGeom>
          <a:noFill/>
        </p:spPr>
        <p:txBody>
          <a:bodyPr wrap="square" lIns="0" rIns="0" tIns="0" bIns="0" anchor="t">
            <a:spAutoFit/>
          </a:bodyPr>
          <a:lstStyle/>
          <a:p>
            <a:pPr algn="l">
              <a:lnSpc>
                <a:spcPct val="144000"/>
              </a:lnSpc>
            </a:pPr>
            <a:r>
              <a:rPr sz="950" b="0">
                <a:solidFill>
                  <a:srgbClr val="44474B"/>
                </a:solidFill>
                <a:latin typeface="Arial"/>
              </a:rPr>
              <a:t>But CATL ran at 97%. The idle lines are the weak ones.</a:t>
            </a:r>
          </a:p>
        </p:txBody>
      </p:sp>
      <p:sp>
        <p:nvSpPr>
          <p:cNvPr id="84" name="Rounded Rectangle 83"/>
          <p:cNvSpPr/>
          <p:nvPr/>
        </p:nvSpPr>
        <p:spPr>
          <a:xfrm>
            <a:off x="658368" y="5532120"/>
            <a:ext cx="10874959" cy="713232"/>
          </a:xfrm>
          <a:prstGeom prst="roundRect">
            <a:avLst>
              <a:gd name="adj" fmla="val 7000"/>
            </a:avLst>
          </a:prstGeom>
          <a:solidFill>
            <a:srgbClr val="FF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896112" y="5696712"/>
            <a:ext cx="10399471" cy="182880"/>
          </a:xfrm>
          <a:prstGeom prst="rect">
            <a:avLst/>
          </a:prstGeom>
          <a:noFill/>
        </p:spPr>
        <p:txBody>
          <a:bodyPr wrap="square" lIns="0" rIns="0" tIns="0" bIns="0" anchor="t">
            <a:spAutoFit/>
          </a:bodyPr>
          <a:lstStyle/>
          <a:p>
            <a:pPr algn="l"/>
            <a:r>
              <a:rPr sz="1050" b="1">
                <a:solidFill>
                  <a:srgbClr val="D2541F"/>
                </a:solidFill>
                <a:latin typeface="Arial"/>
              </a:rPr>
              <a:t>Why this matters to us</a:t>
            </a:r>
          </a:p>
        </p:txBody>
      </p:sp>
      <p:sp>
        <p:nvSpPr>
          <p:cNvPr id="86" name="TextBox 85"/>
          <p:cNvSpPr txBox="1"/>
          <p:nvPr/>
        </p:nvSpPr>
        <p:spPr>
          <a:xfrm>
            <a:off x="896112" y="5916168"/>
            <a:ext cx="10399471" cy="201167"/>
          </a:xfrm>
          <a:prstGeom prst="rect">
            <a:avLst/>
          </a:prstGeom>
          <a:noFill/>
        </p:spPr>
        <p:txBody>
          <a:bodyPr wrap="square" lIns="0" rIns="0" tIns="0" bIns="0" anchor="t">
            <a:spAutoFit/>
          </a:bodyPr>
          <a:lstStyle/>
          <a:p>
            <a:pPr algn="l">
              <a:lnSpc>
                <a:spcPct val="134000"/>
              </a:lnSpc>
            </a:pPr>
            <a:r>
              <a:rPr sz="1050" b="0">
                <a:solidFill>
                  <a:srgbClr val="44474B"/>
                </a:solidFill>
                <a:latin typeface="Arial"/>
              </a:rPr>
              <a:t>No one outside China wins a price fight on this curve. The only places left to make money are the ones where the customer is not buying on price per kWh.</a:t>
            </a:r>
          </a:p>
        </p:txBody>
      </p:sp>
      <p:sp>
        <p:nvSpPr>
          <p:cNvPr id="87" name="TextBox 86"/>
          <p:cNvSpPr txBox="1"/>
          <p:nvPr/>
        </p:nvSpPr>
        <p:spPr>
          <a:xfrm>
            <a:off x="658368" y="6126480"/>
            <a:ext cx="10874959" cy="310896"/>
          </a:xfrm>
          <a:prstGeom prst="rect">
            <a:avLst/>
          </a:prstGeom>
          <a:noFill/>
        </p:spPr>
        <p:txBody>
          <a:bodyPr wrap="square" lIns="0" rIns="0" tIns="0" bIns="0" anchor="t">
            <a:spAutoFit/>
          </a:bodyPr>
          <a:lstStyle/>
          <a:p>
            <a:pPr algn="l">
              <a:lnSpc>
                <a:spcPct val="134000"/>
              </a:lnSpc>
            </a:pPr>
            <a:r>
              <a:rPr sz="800" b="0">
                <a:solidFill>
                  <a:srgbClr val="9A9DA3"/>
                </a:solidFill>
                <a:latin typeface="Arial"/>
              </a:rPr>
              <a:t>IEA Global EV Outlook 2026 - Benchmark Mineral Intelligence - BloombergNEF price survey, December 2025. Converted at ₹95.24 to the dollar, held constant so the trend is comparable.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326319" cy="1005840"/>
          </a:xfrm>
          <a:prstGeom prst="rect">
            <a:avLst/>
          </a:prstGeom>
          <a:noFill/>
        </p:spPr>
        <p:txBody>
          <a:bodyPr wrap="square" lIns="0" rIns="0" tIns="0" bIns="0" anchor="t">
            <a:spAutoFit/>
          </a:bodyPr>
          <a:lstStyle/>
          <a:p>
            <a:pPr algn="l">
              <a:lnSpc>
                <a:spcPct val="104000"/>
              </a:lnSpc>
            </a:pPr>
            <a:r>
              <a:rPr sz="3100" b="1" spc="-22">
                <a:solidFill>
                  <a:srgbClr val="121313"/>
                </a:solidFill>
                <a:latin typeface="Arial"/>
              </a:rPr>
              <a:t>Buying a lithium mine does not solve this</a:t>
            </a:r>
          </a:p>
        </p:txBody>
      </p:sp>
      <p:sp>
        <p:nvSpPr>
          <p:cNvPr id="4" name="TextBox 3"/>
          <p:cNvSpPr txBox="1"/>
          <p:nvPr/>
        </p:nvSpPr>
        <p:spPr>
          <a:xfrm>
            <a:off x="658368" y="1554480"/>
            <a:ext cx="8595360" cy="457200"/>
          </a:xfrm>
          <a:prstGeom prst="rect">
            <a:avLst/>
          </a:prstGeom>
          <a:noFill/>
        </p:spPr>
        <p:txBody>
          <a:bodyPr wrap="square" lIns="0" rIns="0" tIns="0" bIns="0" anchor="t">
            <a:spAutoFit/>
          </a:bodyPr>
          <a:lstStyle/>
          <a:p>
            <a:pPr algn="l">
              <a:lnSpc>
                <a:spcPct val="136000"/>
              </a:lnSpc>
            </a:pPr>
            <a:r>
              <a:rPr sz="1250" b="0">
                <a:solidFill>
                  <a:srgbClr val="44474B"/>
                </a:solidFill>
                <a:latin typeface="Arial"/>
              </a:rPr>
              <a:t>China's hold is not on the ground. It is on every step between the mine and the finished cell.</a:t>
            </a:r>
          </a:p>
        </p:txBody>
      </p:sp>
      <p:sp>
        <p:nvSpPr>
          <p:cNvPr id="5" name="TextBox 4"/>
          <p:cNvSpPr txBox="1"/>
          <p:nvPr/>
        </p:nvSpPr>
        <p:spPr>
          <a:xfrm>
            <a:off x="658368" y="6464807"/>
            <a:ext cx="914400" cy="182880"/>
          </a:xfrm>
          <a:prstGeom prst="rect">
            <a:avLst/>
          </a:prstGeom>
          <a:noFill/>
        </p:spPr>
        <p:txBody>
          <a:bodyPr wrap="square" lIns="0" rIns="0" tIns="0" bIns="0" anchor="t">
            <a:spAutoFit/>
          </a:bodyPr>
          <a:lstStyle/>
          <a:p>
            <a:pPr algn="l"/>
            <a:r>
              <a:rPr sz="900" b="1">
                <a:solidFill>
                  <a:srgbClr val="808288"/>
                </a:solidFill>
                <a:latin typeface="Arial"/>
              </a:rPr>
              <a:t>4 / 16</a:t>
            </a:r>
          </a:p>
        </p:txBody>
      </p:sp>
      <p:sp>
        <p:nvSpPr>
          <p:cNvPr id="6" name="Rectangle 5"/>
          <p:cNvSpPr/>
          <p:nvPr/>
        </p:nvSpPr>
        <p:spPr>
          <a:xfrm>
            <a:off x="1371600"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83411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229662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759144" y="6492240"/>
            <a:ext cx="43508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22165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8417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14668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60920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07171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53423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99674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45926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92177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38429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84680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30932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521647" y="6464807"/>
            <a:ext cx="2011680" cy="182880"/>
          </a:xfrm>
          <a:prstGeom prst="rect">
            <a:avLst/>
          </a:prstGeom>
          <a:noFill/>
        </p:spPr>
        <p:txBody>
          <a:bodyPr wrap="square" lIns="0" rIns="0" tIns="0" bIns="0" anchor="t">
            <a:spAutoFit/>
          </a:bodyPr>
          <a:lstStyle/>
          <a:p>
            <a:pPr algn="r"/>
            <a:r>
              <a:rPr sz="900" b="0">
                <a:solidFill>
                  <a:srgbClr val="808288"/>
                </a:solidFill>
                <a:latin typeface="Arial"/>
              </a:rPr>
              <a:t>Part one: the world</a:t>
            </a:r>
          </a:p>
        </p:txBody>
      </p:sp>
      <p:sp>
        <p:nvSpPr>
          <p:cNvPr id="23" name="Rounded Rectangle 22"/>
          <p:cNvSpPr/>
          <p:nvPr/>
        </p:nvSpPr>
        <p:spPr>
          <a:xfrm>
            <a:off x="658368" y="2103120"/>
            <a:ext cx="6400800" cy="37033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96112" y="2286000"/>
            <a:ext cx="5943600" cy="201168"/>
          </a:xfrm>
          <a:prstGeom prst="rect">
            <a:avLst/>
          </a:prstGeom>
          <a:noFill/>
        </p:spPr>
        <p:txBody>
          <a:bodyPr wrap="square" lIns="0" rIns="0" tIns="0" bIns="0" anchor="t">
            <a:spAutoFit/>
          </a:bodyPr>
          <a:lstStyle/>
          <a:p>
            <a:pPr algn="l"/>
            <a:r>
              <a:rPr sz="1100" b="1">
                <a:solidFill>
                  <a:srgbClr val="121313"/>
                </a:solidFill>
                <a:latin typeface="Arial"/>
              </a:rPr>
              <a:t>China's share of each step of the chain</a:t>
            </a:r>
          </a:p>
        </p:txBody>
      </p:sp>
      <p:sp>
        <p:nvSpPr>
          <p:cNvPr id="25" name="TextBox 24"/>
          <p:cNvSpPr txBox="1"/>
          <p:nvPr/>
        </p:nvSpPr>
        <p:spPr>
          <a:xfrm>
            <a:off x="896112" y="2496312"/>
            <a:ext cx="5943600" cy="182880"/>
          </a:xfrm>
          <a:prstGeom prst="rect">
            <a:avLst/>
          </a:prstGeom>
          <a:noFill/>
        </p:spPr>
        <p:txBody>
          <a:bodyPr wrap="square" lIns="0" rIns="0" tIns="0" bIns="0" anchor="t">
            <a:spAutoFit/>
          </a:bodyPr>
          <a:lstStyle/>
          <a:p>
            <a:pPr algn="l"/>
            <a:r>
              <a:rPr sz="950" b="0">
                <a:solidFill>
                  <a:srgbClr val="808288"/>
                </a:solidFill>
                <a:latin typeface="Arial"/>
              </a:rPr>
              <a:t>percent of the world total; refining and mining are output, anode and cathode capacity</a:t>
            </a:r>
          </a:p>
        </p:txBody>
      </p:sp>
      <p:sp>
        <p:nvSpPr>
          <p:cNvPr id="26" name="TextBox 25"/>
          <p:cNvSpPr txBox="1"/>
          <p:nvPr/>
        </p:nvSpPr>
        <p:spPr>
          <a:xfrm>
            <a:off x="932688" y="2884932"/>
            <a:ext cx="1737360" cy="274320"/>
          </a:xfrm>
          <a:prstGeom prst="rect">
            <a:avLst/>
          </a:prstGeom>
          <a:noFill/>
        </p:spPr>
        <p:txBody>
          <a:bodyPr wrap="square" lIns="0" rIns="0" tIns="0" bIns="0" anchor="ctr">
            <a:spAutoFit/>
          </a:bodyPr>
          <a:lstStyle/>
          <a:p>
            <a:pPr algn="l"/>
            <a:r>
              <a:rPr sz="1050" b="0">
                <a:solidFill>
                  <a:srgbClr val="44474B"/>
                </a:solidFill>
                <a:latin typeface="Arial"/>
              </a:rPr>
              <a:t>Graphite refining</a:t>
            </a:r>
          </a:p>
        </p:txBody>
      </p:sp>
      <p:sp>
        <p:nvSpPr>
          <p:cNvPr id="27" name="Rectangle 26"/>
          <p:cNvSpPr/>
          <p:nvPr/>
        </p:nvSpPr>
        <p:spPr>
          <a:xfrm>
            <a:off x="2761488" y="2907792"/>
            <a:ext cx="3511296" cy="201168"/>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2761488" y="2907792"/>
            <a:ext cx="3300618" cy="201168"/>
          </a:xfrm>
          <a:prstGeom prst="rect">
            <a:avLst/>
          </a:prstGeom>
          <a:solidFill>
            <a:srgbClr val="2A6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327648" y="2884932"/>
            <a:ext cx="512064" cy="274320"/>
          </a:xfrm>
          <a:prstGeom prst="rect">
            <a:avLst/>
          </a:prstGeom>
          <a:noFill/>
        </p:spPr>
        <p:txBody>
          <a:bodyPr wrap="square" lIns="0" rIns="0" tIns="0" bIns="0" anchor="ctr">
            <a:spAutoFit/>
          </a:bodyPr>
          <a:lstStyle/>
          <a:p>
            <a:pPr algn="l"/>
            <a:r>
              <a:rPr sz="1100" b="1">
                <a:solidFill>
                  <a:srgbClr val="121313"/>
                </a:solidFill>
                <a:latin typeface="Arial"/>
              </a:rPr>
              <a:t>94%</a:t>
            </a:r>
          </a:p>
        </p:txBody>
      </p:sp>
      <p:sp>
        <p:nvSpPr>
          <p:cNvPr id="30" name="TextBox 29"/>
          <p:cNvSpPr txBox="1"/>
          <p:nvPr/>
        </p:nvSpPr>
        <p:spPr>
          <a:xfrm>
            <a:off x="932688" y="3255264"/>
            <a:ext cx="1737360" cy="274320"/>
          </a:xfrm>
          <a:prstGeom prst="rect">
            <a:avLst/>
          </a:prstGeom>
          <a:noFill/>
        </p:spPr>
        <p:txBody>
          <a:bodyPr wrap="square" lIns="0" rIns="0" tIns="0" bIns="0" anchor="ctr">
            <a:spAutoFit/>
          </a:bodyPr>
          <a:lstStyle/>
          <a:p>
            <a:pPr algn="l"/>
            <a:r>
              <a:rPr sz="1050" b="0">
                <a:solidFill>
                  <a:srgbClr val="44474B"/>
                </a:solidFill>
                <a:latin typeface="Arial"/>
              </a:rPr>
              <a:t>Anode material</a:t>
            </a:r>
          </a:p>
        </p:txBody>
      </p:sp>
      <p:sp>
        <p:nvSpPr>
          <p:cNvPr id="31" name="Rectangle 30"/>
          <p:cNvSpPr/>
          <p:nvPr/>
        </p:nvSpPr>
        <p:spPr>
          <a:xfrm>
            <a:off x="2761488" y="3278124"/>
            <a:ext cx="3511296" cy="201168"/>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2761488" y="3278124"/>
            <a:ext cx="3160166" cy="201168"/>
          </a:xfrm>
          <a:prstGeom prst="rect">
            <a:avLst/>
          </a:prstGeom>
          <a:solidFill>
            <a:srgbClr val="2A6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27648" y="3255264"/>
            <a:ext cx="512064" cy="274320"/>
          </a:xfrm>
          <a:prstGeom prst="rect">
            <a:avLst/>
          </a:prstGeom>
          <a:noFill/>
        </p:spPr>
        <p:txBody>
          <a:bodyPr wrap="square" lIns="0" rIns="0" tIns="0" bIns="0" anchor="ctr">
            <a:spAutoFit/>
          </a:bodyPr>
          <a:lstStyle/>
          <a:p>
            <a:pPr algn="l"/>
            <a:r>
              <a:rPr sz="1100" b="1">
                <a:solidFill>
                  <a:srgbClr val="121313"/>
                </a:solidFill>
                <a:latin typeface="Arial"/>
              </a:rPr>
              <a:t>90%</a:t>
            </a:r>
          </a:p>
        </p:txBody>
      </p:sp>
      <p:sp>
        <p:nvSpPr>
          <p:cNvPr id="34" name="TextBox 33"/>
          <p:cNvSpPr txBox="1"/>
          <p:nvPr/>
        </p:nvSpPr>
        <p:spPr>
          <a:xfrm>
            <a:off x="932688" y="3625596"/>
            <a:ext cx="1737360" cy="274320"/>
          </a:xfrm>
          <a:prstGeom prst="rect">
            <a:avLst/>
          </a:prstGeom>
          <a:noFill/>
        </p:spPr>
        <p:txBody>
          <a:bodyPr wrap="square" lIns="0" rIns="0" tIns="0" bIns="0" anchor="ctr">
            <a:spAutoFit/>
          </a:bodyPr>
          <a:lstStyle/>
          <a:p>
            <a:pPr algn="l"/>
            <a:r>
              <a:rPr sz="1050" b="0">
                <a:solidFill>
                  <a:srgbClr val="44474B"/>
                </a:solidFill>
                <a:latin typeface="Arial"/>
              </a:rPr>
              <a:t>Cathode material</a:t>
            </a:r>
          </a:p>
        </p:txBody>
      </p:sp>
      <p:sp>
        <p:nvSpPr>
          <p:cNvPr id="35" name="Rectangle 34"/>
          <p:cNvSpPr/>
          <p:nvPr/>
        </p:nvSpPr>
        <p:spPr>
          <a:xfrm>
            <a:off x="2761488" y="3648456"/>
            <a:ext cx="3511296" cy="201168"/>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2761488" y="3648456"/>
            <a:ext cx="2984601" cy="201168"/>
          </a:xfrm>
          <a:prstGeom prst="rect">
            <a:avLst/>
          </a:prstGeom>
          <a:solidFill>
            <a:srgbClr val="2A6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327648" y="3625596"/>
            <a:ext cx="512064" cy="274320"/>
          </a:xfrm>
          <a:prstGeom prst="rect">
            <a:avLst/>
          </a:prstGeom>
          <a:noFill/>
        </p:spPr>
        <p:txBody>
          <a:bodyPr wrap="square" lIns="0" rIns="0" tIns="0" bIns="0" anchor="ctr">
            <a:spAutoFit/>
          </a:bodyPr>
          <a:lstStyle/>
          <a:p>
            <a:pPr algn="l"/>
            <a:r>
              <a:rPr sz="1100" b="1">
                <a:solidFill>
                  <a:srgbClr val="121313"/>
                </a:solidFill>
                <a:latin typeface="Arial"/>
              </a:rPr>
              <a:t>85%</a:t>
            </a:r>
          </a:p>
        </p:txBody>
      </p:sp>
      <p:sp>
        <p:nvSpPr>
          <p:cNvPr id="38" name="TextBox 37"/>
          <p:cNvSpPr txBox="1"/>
          <p:nvPr/>
        </p:nvSpPr>
        <p:spPr>
          <a:xfrm>
            <a:off x="932688" y="3995928"/>
            <a:ext cx="1737360" cy="274320"/>
          </a:xfrm>
          <a:prstGeom prst="rect">
            <a:avLst/>
          </a:prstGeom>
          <a:noFill/>
        </p:spPr>
        <p:txBody>
          <a:bodyPr wrap="square" lIns="0" rIns="0" tIns="0" bIns="0" anchor="ctr">
            <a:spAutoFit/>
          </a:bodyPr>
          <a:lstStyle/>
          <a:p>
            <a:pPr algn="l"/>
            <a:r>
              <a:rPr sz="1050" b="0">
                <a:solidFill>
                  <a:srgbClr val="44474B"/>
                </a:solidFill>
                <a:latin typeface="Arial"/>
              </a:rPr>
              <a:t>Cell manufacturing</a:t>
            </a:r>
          </a:p>
        </p:txBody>
      </p:sp>
      <p:sp>
        <p:nvSpPr>
          <p:cNvPr id="39" name="Rectangle 38"/>
          <p:cNvSpPr/>
          <p:nvPr/>
        </p:nvSpPr>
        <p:spPr>
          <a:xfrm>
            <a:off x="2761488" y="4018788"/>
            <a:ext cx="3511296" cy="201168"/>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2761488" y="4018788"/>
            <a:ext cx="2809036" cy="201168"/>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27648" y="3995928"/>
            <a:ext cx="512064" cy="274320"/>
          </a:xfrm>
          <a:prstGeom prst="rect">
            <a:avLst/>
          </a:prstGeom>
          <a:noFill/>
        </p:spPr>
        <p:txBody>
          <a:bodyPr wrap="square" lIns="0" rIns="0" tIns="0" bIns="0" anchor="ctr">
            <a:spAutoFit/>
          </a:bodyPr>
          <a:lstStyle/>
          <a:p>
            <a:pPr algn="l"/>
            <a:r>
              <a:rPr sz="1100" b="1">
                <a:solidFill>
                  <a:srgbClr val="121313"/>
                </a:solidFill>
                <a:latin typeface="Arial"/>
              </a:rPr>
              <a:t>80%</a:t>
            </a:r>
          </a:p>
        </p:txBody>
      </p:sp>
      <p:sp>
        <p:nvSpPr>
          <p:cNvPr id="42" name="TextBox 41"/>
          <p:cNvSpPr txBox="1"/>
          <p:nvPr/>
        </p:nvSpPr>
        <p:spPr>
          <a:xfrm>
            <a:off x="932688" y="4366260"/>
            <a:ext cx="1737360" cy="274320"/>
          </a:xfrm>
          <a:prstGeom prst="rect">
            <a:avLst/>
          </a:prstGeom>
          <a:noFill/>
        </p:spPr>
        <p:txBody>
          <a:bodyPr wrap="square" lIns="0" rIns="0" tIns="0" bIns="0" anchor="ctr">
            <a:spAutoFit/>
          </a:bodyPr>
          <a:lstStyle/>
          <a:p>
            <a:pPr algn="l"/>
            <a:r>
              <a:rPr sz="1050" b="0">
                <a:solidFill>
                  <a:srgbClr val="44474B"/>
                </a:solidFill>
                <a:latin typeface="Arial"/>
              </a:rPr>
              <a:t>Cobalt refining</a:t>
            </a:r>
          </a:p>
        </p:txBody>
      </p:sp>
      <p:sp>
        <p:nvSpPr>
          <p:cNvPr id="43" name="Rectangle 42"/>
          <p:cNvSpPr/>
          <p:nvPr/>
        </p:nvSpPr>
        <p:spPr>
          <a:xfrm>
            <a:off x="2761488" y="4389120"/>
            <a:ext cx="3511296" cy="201168"/>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2761488" y="4389120"/>
            <a:ext cx="2668584" cy="201168"/>
          </a:xfrm>
          <a:prstGeom prst="rect">
            <a:avLst/>
          </a:prstGeom>
          <a:solidFill>
            <a:srgbClr val="B07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327648" y="4366260"/>
            <a:ext cx="512064" cy="274320"/>
          </a:xfrm>
          <a:prstGeom prst="rect">
            <a:avLst/>
          </a:prstGeom>
          <a:noFill/>
        </p:spPr>
        <p:txBody>
          <a:bodyPr wrap="square" lIns="0" rIns="0" tIns="0" bIns="0" anchor="ctr">
            <a:spAutoFit/>
          </a:bodyPr>
          <a:lstStyle/>
          <a:p>
            <a:pPr algn="l"/>
            <a:r>
              <a:rPr sz="1100" b="1">
                <a:solidFill>
                  <a:srgbClr val="121313"/>
                </a:solidFill>
                <a:latin typeface="Arial"/>
              </a:rPr>
              <a:t>76%</a:t>
            </a:r>
          </a:p>
        </p:txBody>
      </p:sp>
      <p:sp>
        <p:nvSpPr>
          <p:cNvPr id="46" name="TextBox 45"/>
          <p:cNvSpPr txBox="1"/>
          <p:nvPr/>
        </p:nvSpPr>
        <p:spPr>
          <a:xfrm>
            <a:off x="932688" y="4736592"/>
            <a:ext cx="1737360" cy="274320"/>
          </a:xfrm>
          <a:prstGeom prst="rect">
            <a:avLst/>
          </a:prstGeom>
          <a:noFill/>
        </p:spPr>
        <p:txBody>
          <a:bodyPr wrap="square" lIns="0" rIns="0" tIns="0" bIns="0" anchor="ctr">
            <a:spAutoFit/>
          </a:bodyPr>
          <a:lstStyle/>
          <a:p>
            <a:pPr algn="l"/>
            <a:r>
              <a:rPr sz="1050" b="0">
                <a:solidFill>
                  <a:srgbClr val="44474B"/>
                </a:solidFill>
                <a:latin typeface="Arial"/>
              </a:rPr>
              <a:t>Lithium refining</a:t>
            </a:r>
          </a:p>
        </p:txBody>
      </p:sp>
      <p:sp>
        <p:nvSpPr>
          <p:cNvPr id="47" name="Rectangle 46"/>
          <p:cNvSpPr/>
          <p:nvPr/>
        </p:nvSpPr>
        <p:spPr>
          <a:xfrm>
            <a:off x="2761488" y="4759452"/>
            <a:ext cx="3511296" cy="201168"/>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2761488" y="4759452"/>
            <a:ext cx="2633472" cy="201168"/>
          </a:xfrm>
          <a:prstGeom prst="rect">
            <a:avLst/>
          </a:prstGeom>
          <a:solidFill>
            <a:srgbClr val="B07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6327648" y="4736592"/>
            <a:ext cx="512064" cy="274320"/>
          </a:xfrm>
          <a:prstGeom prst="rect">
            <a:avLst/>
          </a:prstGeom>
          <a:noFill/>
        </p:spPr>
        <p:txBody>
          <a:bodyPr wrap="square" lIns="0" rIns="0" tIns="0" bIns="0" anchor="ctr">
            <a:spAutoFit/>
          </a:bodyPr>
          <a:lstStyle/>
          <a:p>
            <a:pPr algn="l"/>
            <a:r>
              <a:rPr sz="1100" b="1">
                <a:solidFill>
                  <a:srgbClr val="121313"/>
                </a:solidFill>
                <a:latin typeface="Arial"/>
              </a:rPr>
              <a:t>75%</a:t>
            </a:r>
          </a:p>
        </p:txBody>
      </p:sp>
      <p:sp>
        <p:nvSpPr>
          <p:cNvPr id="50" name="TextBox 49"/>
          <p:cNvSpPr txBox="1"/>
          <p:nvPr/>
        </p:nvSpPr>
        <p:spPr>
          <a:xfrm>
            <a:off x="932688" y="5106924"/>
            <a:ext cx="1737360" cy="274320"/>
          </a:xfrm>
          <a:prstGeom prst="rect">
            <a:avLst/>
          </a:prstGeom>
          <a:noFill/>
        </p:spPr>
        <p:txBody>
          <a:bodyPr wrap="square" lIns="0" rIns="0" tIns="0" bIns="0" anchor="ctr">
            <a:spAutoFit/>
          </a:bodyPr>
          <a:lstStyle/>
          <a:p>
            <a:pPr algn="l"/>
            <a:r>
              <a:rPr sz="1050" b="0">
                <a:solidFill>
                  <a:srgbClr val="44474B"/>
                </a:solidFill>
                <a:latin typeface="Arial"/>
              </a:rPr>
              <a:t>Nickel refining</a:t>
            </a:r>
          </a:p>
        </p:txBody>
      </p:sp>
      <p:sp>
        <p:nvSpPr>
          <p:cNvPr id="51" name="Rectangle 50"/>
          <p:cNvSpPr/>
          <p:nvPr/>
        </p:nvSpPr>
        <p:spPr>
          <a:xfrm>
            <a:off x="2761488" y="5129784"/>
            <a:ext cx="3511296" cy="201168"/>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2761488" y="5129784"/>
            <a:ext cx="1088501" cy="201168"/>
          </a:xfrm>
          <a:prstGeom prst="rect">
            <a:avLst/>
          </a:prstGeom>
          <a:solidFill>
            <a:srgbClr val="B07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6327648" y="5106924"/>
            <a:ext cx="512064" cy="274320"/>
          </a:xfrm>
          <a:prstGeom prst="rect">
            <a:avLst/>
          </a:prstGeom>
          <a:noFill/>
        </p:spPr>
        <p:txBody>
          <a:bodyPr wrap="square" lIns="0" rIns="0" tIns="0" bIns="0" anchor="ctr">
            <a:spAutoFit/>
          </a:bodyPr>
          <a:lstStyle/>
          <a:p>
            <a:pPr algn="l"/>
            <a:r>
              <a:rPr sz="1100" b="1">
                <a:solidFill>
                  <a:srgbClr val="121313"/>
                </a:solidFill>
                <a:latin typeface="Arial"/>
              </a:rPr>
              <a:t>31%</a:t>
            </a:r>
          </a:p>
        </p:txBody>
      </p:sp>
      <p:sp>
        <p:nvSpPr>
          <p:cNvPr id="54" name="TextBox 53"/>
          <p:cNvSpPr txBox="1"/>
          <p:nvPr/>
        </p:nvSpPr>
        <p:spPr>
          <a:xfrm>
            <a:off x="932688" y="5477256"/>
            <a:ext cx="1737360" cy="274320"/>
          </a:xfrm>
          <a:prstGeom prst="rect">
            <a:avLst/>
          </a:prstGeom>
          <a:noFill/>
        </p:spPr>
        <p:txBody>
          <a:bodyPr wrap="square" lIns="0" rIns="0" tIns="0" bIns="0" anchor="ctr">
            <a:spAutoFit/>
          </a:bodyPr>
          <a:lstStyle/>
          <a:p>
            <a:pPr algn="l"/>
            <a:r>
              <a:rPr sz="1050" b="0">
                <a:solidFill>
                  <a:srgbClr val="44474B"/>
                </a:solidFill>
                <a:latin typeface="Arial"/>
              </a:rPr>
              <a:t>Lithium mining</a:t>
            </a:r>
          </a:p>
        </p:txBody>
      </p:sp>
      <p:sp>
        <p:nvSpPr>
          <p:cNvPr id="55" name="Rectangle 54"/>
          <p:cNvSpPr/>
          <p:nvPr/>
        </p:nvSpPr>
        <p:spPr>
          <a:xfrm>
            <a:off x="2761488" y="5500116"/>
            <a:ext cx="3511296" cy="201168"/>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2761488" y="5500116"/>
            <a:ext cx="596920" cy="201168"/>
          </a:xfrm>
          <a:prstGeom prst="rect">
            <a:avLst/>
          </a:prstGeom>
          <a:solidFill>
            <a:srgbClr val="AFB3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6327648" y="5477256"/>
            <a:ext cx="512064" cy="274320"/>
          </a:xfrm>
          <a:prstGeom prst="rect">
            <a:avLst/>
          </a:prstGeom>
          <a:noFill/>
        </p:spPr>
        <p:txBody>
          <a:bodyPr wrap="square" lIns="0" rIns="0" tIns="0" bIns="0" anchor="ctr">
            <a:spAutoFit/>
          </a:bodyPr>
          <a:lstStyle/>
          <a:p>
            <a:pPr algn="l"/>
            <a:r>
              <a:rPr sz="1100" b="1">
                <a:solidFill>
                  <a:srgbClr val="121313"/>
                </a:solidFill>
                <a:latin typeface="Arial"/>
              </a:rPr>
              <a:t>17%</a:t>
            </a:r>
          </a:p>
        </p:txBody>
      </p:sp>
      <p:sp>
        <p:nvSpPr>
          <p:cNvPr id="58" name="Rectangle 57"/>
          <p:cNvSpPr/>
          <p:nvPr/>
        </p:nvSpPr>
        <p:spPr>
          <a:xfrm>
            <a:off x="7470648" y="2184501"/>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7671816" y="2103120"/>
            <a:ext cx="4507992" cy="737616"/>
          </a:xfrm>
          <a:prstGeom prst="rect">
            <a:avLst/>
          </a:prstGeom>
          <a:noFill/>
        </p:spPr>
        <p:txBody>
          <a:bodyPr wrap="square" lIns="0" rIns="0" tIns="0" bIns="0" anchor="t">
            <a:spAutoFit/>
          </a:bodyPr>
          <a:lstStyle/>
          <a:p>
            <a:pPr algn="l">
              <a:lnSpc>
                <a:spcPct val="132000"/>
              </a:lnSpc>
            </a:pPr>
            <a:r>
              <a:rPr sz="1100" b="1">
                <a:solidFill>
                  <a:srgbClr val="121313"/>
                </a:solidFill>
                <a:latin typeface="Arial"/>
              </a:rPr>
              <a:t>It got worse, not better. </a:t>
            </a:r>
            <a:r>
              <a:rPr sz="1100" b="0">
                <a:solidFill>
                  <a:srgbClr val="44474B"/>
                </a:solidFill>
                <a:latin typeface="Arial"/>
              </a:rPr>
              <a:t>The top three refining nations' combined share of key minerals rose from 82% to 86% between 2020 and 2024, straight through the West's whole effort to break it. China leads five of the six.</a:t>
            </a:r>
          </a:p>
        </p:txBody>
      </p:sp>
      <p:sp>
        <p:nvSpPr>
          <p:cNvPr id="60" name="Rectangle 59"/>
          <p:cNvSpPr/>
          <p:nvPr/>
        </p:nvSpPr>
        <p:spPr>
          <a:xfrm>
            <a:off x="7470648" y="3104997"/>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7671816" y="3023616"/>
            <a:ext cx="4507992" cy="553212"/>
          </a:xfrm>
          <a:prstGeom prst="rect">
            <a:avLst/>
          </a:prstGeom>
          <a:noFill/>
        </p:spPr>
        <p:txBody>
          <a:bodyPr wrap="square" lIns="0" rIns="0" tIns="0" bIns="0" anchor="t">
            <a:spAutoFit/>
          </a:bodyPr>
          <a:lstStyle/>
          <a:p>
            <a:pPr algn="l">
              <a:lnSpc>
                <a:spcPct val="132000"/>
              </a:lnSpc>
            </a:pPr>
            <a:r>
              <a:rPr sz="1100" b="1">
                <a:solidFill>
                  <a:srgbClr val="121313"/>
                </a:solidFill>
                <a:latin typeface="Arial"/>
              </a:rPr>
              <a:t>2035 looks much the same. </a:t>
            </a:r>
            <a:r>
              <a:rPr sz="1100" b="0">
                <a:solidFill>
                  <a:srgbClr val="44474B"/>
                </a:solidFill>
                <a:latin typeface="Arial"/>
              </a:rPr>
              <a:t>The IEA expects China to still hold over 60% of refined lithium and about 80% of battery-grade graphite.</a:t>
            </a:r>
          </a:p>
        </p:txBody>
      </p:sp>
      <p:sp>
        <p:nvSpPr>
          <p:cNvPr id="62" name="Rectangle 61"/>
          <p:cNvSpPr/>
          <p:nvPr/>
        </p:nvSpPr>
        <p:spPr>
          <a:xfrm>
            <a:off x="7470648" y="3841089"/>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7671816" y="3759707"/>
            <a:ext cx="4507992" cy="553212"/>
          </a:xfrm>
          <a:prstGeom prst="rect">
            <a:avLst/>
          </a:prstGeom>
          <a:noFill/>
        </p:spPr>
        <p:txBody>
          <a:bodyPr wrap="square" lIns="0" rIns="0" tIns="0" bIns="0" anchor="t">
            <a:spAutoFit/>
          </a:bodyPr>
          <a:lstStyle/>
          <a:p>
            <a:pPr algn="l">
              <a:lnSpc>
                <a:spcPct val="132000"/>
              </a:lnSpc>
            </a:pPr>
            <a:r>
              <a:rPr sz="1100" b="1">
                <a:solidFill>
                  <a:srgbClr val="121313"/>
                </a:solidFill>
                <a:latin typeface="Arial"/>
              </a:rPr>
              <a:t>The licence is the real risk. </a:t>
            </a:r>
            <a:r>
              <a:rPr sz="1100" b="0">
                <a:solidFill>
                  <a:srgbClr val="44474B"/>
                </a:solidFill>
                <a:latin typeface="Arial"/>
              </a:rPr>
              <a:t>Since July 2025 China requires a government licence to export cathode technology, and that rule was never paused.</a:t>
            </a:r>
          </a:p>
        </p:txBody>
      </p:sp>
      <p:sp>
        <p:nvSpPr>
          <p:cNvPr id="64" name="Rectangle 63"/>
          <p:cNvSpPr/>
          <p:nvPr/>
        </p:nvSpPr>
        <p:spPr>
          <a:xfrm>
            <a:off x="7470648" y="4577181"/>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671816" y="4495799"/>
            <a:ext cx="4507992" cy="553212"/>
          </a:xfrm>
          <a:prstGeom prst="rect">
            <a:avLst/>
          </a:prstGeom>
          <a:noFill/>
        </p:spPr>
        <p:txBody>
          <a:bodyPr wrap="square" lIns="0" rIns="0" tIns="0" bIns="0" anchor="t">
            <a:spAutoFit/>
          </a:bodyPr>
          <a:lstStyle/>
          <a:p>
            <a:pPr algn="l">
              <a:lnSpc>
                <a:spcPct val="132000"/>
              </a:lnSpc>
            </a:pPr>
            <a:r>
              <a:rPr sz="1100" b="1">
                <a:solidFill>
                  <a:srgbClr val="121313"/>
                </a:solidFill>
                <a:latin typeface="Arial"/>
              </a:rPr>
              <a:t>What it means for us. </a:t>
            </a:r>
            <a:r>
              <a:rPr sz="1100" b="0">
                <a:solidFill>
                  <a:srgbClr val="44474B"/>
                </a:solidFill>
                <a:latin typeface="Arial"/>
              </a:rPr>
              <a:t>Every cell plant being built in India today runs on Chinese technology, Chinese machines and Chinese engineers.</a:t>
            </a:r>
          </a:p>
        </p:txBody>
      </p:sp>
      <p:sp>
        <p:nvSpPr>
          <p:cNvPr id="66" name="TextBox 65"/>
          <p:cNvSpPr txBox="1"/>
          <p:nvPr/>
        </p:nvSpPr>
        <p:spPr>
          <a:xfrm>
            <a:off x="658368" y="6126480"/>
            <a:ext cx="10874959" cy="310896"/>
          </a:xfrm>
          <a:prstGeom prst="rect">
            <a:avLst/>
          </a:prstGeom>
          <a:noFill/>
        </p:spPr>
        <p:txBody>
          <a:bodyPr wrap="square" lIns="0" rIns="0" tIns="0" bIns="0" anchor="t">
            <a:spAutoFit/>
          </a:bodyPr>
          <a:lstStyle/>
          <a:p>
            <a:pPr algn="l">
              <a:lnSpc>
                <a:spcPct val="134000"/>
              </a:lnSpc>
            </a:pPr>
            <a:r>
              <a:rPr sz="800" b="0">
                <a:solidFill>
                  <a:srgbClr val="9A9DA3"/>
                </a:solidFill>
                <a:latin typeface="Arial"/>
              </a:rPr>
              <a:t>IEA Global Critical Minerals Outlook and Global EV Outlook 2026 - China's MOFCOM and MOST technology export rules of 15 July 2025 - MOFCOM notice 58 of 2025, paused until 10 November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326319" cy="1005840"/>
          </a:xfrm>
          <a:prstGeom prst="rect">
            <a:avLst/>
          </a:prstGeom>
          <a:noFill/>
        </p:spPr>
        <p:txBody>
          <a:bodyPr wrap="square" lIns="0" rIns="0" tIns="0" bIns="0" anchor="t">
            <a:spAutoFit/>
          </a:bodyPr>
          <a:lstStyle/>
          <a:p>
            <a:pPr algn="l">
              <a:lnSpc>
                <a:spcPct val="104000"/>
              </a:lnSpc>
            </a:pPr>
            <a:r>
              <a:rPr sz="3100" b="1" spc="-22">
                <a:solidFill>
                  <a:srgbClr val="121313"/>
                </a:solidFill>
                <a:latin typeface="Arial"/>
              </a:rPr>
              <a:t>One seller, and a new set of buyers</a:t>
            </a:r>
          </a:p>
        </p:txBody>
      </p:sp>
      <p:sp>
        <p:nvSpPr>
          <p:cNvPr id="4" name="TextBox 3"/>
          <p:cNvSpPr txBox="1"/>
          <p:nvPr/>
        </p:nvSpPr>
        <p:spPr>
          <a:xfrm>
            <a:off x="658368" y="6464807"/>
            <a:ext cx="914400" cy="182880"/>
          </a:xfrm>
          <a:prstGeom prst="rect">
            <a:avLst/>
          </a:prstGeom>
          <a:noFill/>
        </p:spPr>
        <p:txBody>
          <a:bodyPr wrap="square" lIns="0" rIns="0" tIns="0" bIns="0" anchor="t">
            <a:spAutoFit/>
          </a:bodyPr>
          <a:lstStyle/>
          <a:p>
            <a:pPr algn="l"/>
            <a:r>
              <a:rPr sz="900" b="1">
                <a:solidFill>
                  <a:srgbClr val="808288"/>
                </a:solidFill>
                <a:latin typeface="Arial"/>
              </a:rPr>
              <a:t>5 / 16</a:t>
            </a:r>
          </a:p>
        </p:txBody>
      </p:sp>
      <p:sp>
        <p:nvSpPr>
          <p:cNvPr id="5" name="Rectangle 4"/>
          <p:cNvSpPr/>
          <p:nvPr/>
        </p:nvSpPr>
        <p:spPr>
          <a:xfrm>
            <a:off x="1371600"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83411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9662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275914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221659" y="6492240"/>
            <a:ext cx="43508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8417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14668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60920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07171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53423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99674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45926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92177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38429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4680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30932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521647" y="6464807"/>
            <a:ext cx="2011680" cy="182880"/>
          </a:xfrm>
          <a:prstGeom prst="rect">
            <a:avLst/>
          </a:prstGeom>
          <a:noFill/>
        </p:spPr>
        <p:txBody>
          <a:bodyPr wrap="square" lIns="0" rIns="0" tIns="0" bIns="0" anchor="t">
            <a:spAutoFit/>
          </a:bodyPr>
          <a:lstStyle/>
          <a:p>
            <a:pPr algn="r"/>
            <a:r>
              <a:rPr sz="900" b="0">
                <a:solidFill>
                  <a:srgbClr val="808288"/>
                </a:solidFill>
                <a:latin typeface="Arial"/>
              </a:rPr>
              <a:t>Part one: the world</a:t>
            </a:r>
          </a:p>
        </p:txBody>
      </p:sp>
      <p:sp>
        <p:nvSpPr>
          <p:cNvPr id="22" name="Rounded Rectangle 21"/>
          <p:cNvSpPr/>
          <p:nvPr/>
        </p:nvSpPr>
        <p:spPr>
          <a:xfrm>
            <a:off x="658368" y="1783080"/>
            <a:ext cx="5760720" cy="40233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96112" y="1965960"/>
            <a:ext cx="5303520" cy="201168"/>
          </a:xfrm>
          <a:prstGeom prst="rect">
            <a:avLst/>
          </a:prstGeom>
          <a:noFill/>
        </p:spPr>
        <p:txBody>
          <a:bodyPr wrap="square" lIns="0" rIns="0" tIns="0" bIns="0" anchor="t">
            <a:spAutoFit/>
          </a:bodyPr>
          <a:lstStyle/>
          <a:p>
            <a:pPr algn="l"/>
            <a:r>
              <a:rPr sz="1100" b="1">
                <a:solidFill>
                  <a:srgbClr val="121313"/>
                </a:solidFill>
                <a:latin typeface="Arial"/>
              </a:rPr>
              <a:t>The world's biggest battery importers</a:t>
            </a:r>
          </a:p>
        </p:txBody>
      </p:sp>
      <p:sp>
        <p:nvSpPr>
          <p:cNvPr id="24" name="TextBox 23"/>
          <p:cNvSpPr txBox="1"/>
          <p:nvPr/>
        </p:nvSpPr>
        <p:spPr>
          <a:xfrm>
            <a:off x="896112" y="2176272"/>
            <a:ext cx="5303520" cy="182880"/>
          </a:xfrm>
          <a:prstGeom prst="rect">
            <a:avLst/>
          </a:prstGeom>
          <a:noFill/>
        </p:spPr>
        <p:txBody>
          <a:bodyPr wrap="square" lIns="0" rIns="0" tIns="0" bIns="0" anchor="t">
            <a:spAutoFit/>
          </a:bodyPr>
          <a:lstStyle/>
          <a:p>
            <a:pPr algn="l"/>
            <a:r>
              <a:rPr sz="950" b="0">
                <a:solidFill>
                  <a:srgbClr val="808288"/>
                </a:solidFill>
                <a:latin typeface="Arial"/>
              </a:rPr>
              <a:t>rupees of lithium-ion batteries, twelve-month windows ending Oct 2025 to Jan 2026</a:t>
            </a:r>
          </a:p>
        </p:txBody>
      </p:sp>
      <p:sp>
        <p:nvSpPr>
          <p:cNvPr id="25" name="TextBox 24"/>
          <p:cNvSpPr txBox="1"/>
          <p:nvPr/>
        </p:nvSpPr>
        <p:spPr>
          <a:xfrm>
            <a:off x="932688" y="2583180"/>
            <a:ext cx="1234439" cy="301752"/>
          </a:xfrm>
          <a:prstGeom prst="rect">
            <a:avLst/>
          </a:prstGeom>
          <a:noFill/>
        </p:spPr>
        <p:txBody>
          <a:bodyPr wrap="square" lIns="0" rIns="0" tIns="0" bIns="0" anchor="ctr">
            <a:spAutoFit/>
          </a:bodyPr>
          <a:lstStyle/>
          <a:p>
            <a:pPr algn="l"/>
            <a:r>
              <a:rPr sz="1050" b="0">
                <a:solidFill>
                  <a:srgbClr val="44474B"/>
                </a:solidFill>
                <a:latin typeface="Arial"/>
              </a:rPr>
              <a:t>Germany</a:t>
            </a:r>
          </a:p>
        </p:txBody>
      </p:sp>
      <p:sp>
        <p:nvSpPr>
          <p:cNvPr id="26" name="Rectangle 25"/>
          <p:cNvSpPr/>
          <p:nvPr/>
        </p:nvSpPr>
        <p:spPr>
          <a:xfrm>
            <a:off x="2258568" y="2606040"/>
            <a:ext cx="2788920" cy="228600"/>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2258568" y="2606040"/>
            <a:ext cx="2621584" cy="228600"/>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102351" y="2583180"/>
            <a:ext cx="1097280" cy="301752"/>
          </a:xfrm>
          <a:prstGeom prst="rect">
            <a:avLst/>
          </a:prstGeom>
          <a:noFill/>
        </p:spPr>
        <p:txBody>
          <a:bodyPr wrap="square" lIns="0" rIns="0" tIns="0" bIns="0" anchor="ctr">
            <a:spAutoFit/>
          </a:bodyPr>
          <a:lstStyle/>
          <a:p>
            <a:pPr algn="l"/>
            <a:r>
              <a:rPr sz="1100" b="1">
                <a:solidFill>
                  <a:srgbClr val="121313"/>
                </a:solidFill>
                <a:latin typeface="Arial"/>
              </a:rPr>
              <a:t>₹2.7 lakh crore</a:t>
            </a:r>
          </a:p>
        </p:txBody>
      </p:sp>
      <p:sp>
        <p:nvSpPr>
          <p:cNvPr id="29" name="TextBox 28"/>
          <p:cNvSpPr txBox="1"/>
          <p:nvPr/>
        </p:nvSpPr>
        <p:spPr>
          <a:xfrm>
            <a:off x="932688" y="2994660"/>
            <a:ext cx="1234439" cy="301752"/>
          </a:xfrm>
          <a:prstGeom prst="rect">
            <a:avLst/>
          </a:prstGeom>
          <a:noFill/>
        </p:spPr>
        <p:txBody>
          <a:bodyPr wrap="square" lIns="0" rIns="0" tIns="0" bIns="0" anchor="ctr">
            <a:spAutoFit/>
          </a:bodyPr>
          <a:lstStyle/>
          <a:p>
            <a:pPr algn="l"/>
            <a:r>
              <a:rPr sz="1050" b="0">
                <a:solidFill>
                  <a:srgbClr val="44474B"/>
                </a:solidFill>
                <a:latin typeface="Arial"/>
              </a:rPr>
              <a:t>United States</a:t>
            </a:r>
          </a:p>
        </p:txBody>
      </p:sp>
      <p:sp>
        <p:nvSpPr>
          <p:cNvPr id="30" name="Rectangle 29"/>
          <p:cNvSpPr/>
          <p:nvPr/>
        </p:nvSpPr>
        <p:spPr>
          <a:xfrm>
            <a:off x="2258568" y="3017520"/>
            <a:ext cx="2788920" cy="228600"/>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2258568" y="3017520"/>
            <a:ext cx="2063800" cy="228600"/>
          </a:xfrm>
          <a:prstGeom prst="rect">
            <a:avLst/>
          </a:prstGeom>
          <a:solidFill>
            <a:srgbClr val="2A6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102351" y="2994660"/>
            <a:ext cx="1097280" cy="301752"/>
          </a:xfrm>
          <a:prstGeom prst="rect">
            <a:avLst/>
          </a:prstGeom>
          <a:noFill/>
        </p:spPr>
        <p:txBody>
          <a:bodyPr wrap="square" lIns="0" rIns="0" tIns="0" bIns="0" anchor="ctr">
            <a:spAutoFit/>
          </a:bodyPr>
          <a:lstStyle/>
          <a:p>
            <a:pPr algn="l"/>
            <a:r>
              <a:rPr sz="1100" b="1">
                <a:solidFill>
                  <a:srgbClr val="121313"/>
                </a:solidFill>
                <a:latin typeface="Arial"/>
              </a:rPr>
              <a:t>₹2.1 lakh crore</a:t>
            </a:r>
          </a:p>
        </p:txBody>
      </p:sp>
      <p:sp>
        <p:nvSpPr>
          <p:cNvPr id="33" name="TextBox 32"/>
          <p:cNvSpPr txBox="1"/>
          <p:nvPr/>
        </p:nvSpPr>
        <p:spPr>
          <a:xfrm>
            <a:off x="932688" y="3406140"/>
            <a:ext cx="1234439" cy="301752"/>
          </a:xfrm>
          <a:prstGeom prst="rect">
            <a:avLst/>
          </a:prstGeom>
          <a:noFill/>
        </p:spPr>
        <p:txBody>
          <a:bodyPr wrap="square" lIns="0" rIns="0" tIns="0" bIns="0" anchor="ctr">
            <a:spAutoFit/>
          </a:bodyPr>
          <a:lstStyle/>
          <a:p>
            <a:pPr algn="l"/>
            <a:r>
              <a:rPr sz="1050" b="0">
                <a:solidFill>
                  <a:srgbClr val="44474B"/>
                </a:solidFill>
                <a:latin typeface="Arial"/>
              </a:rPr>
              <a:t>Australia</a:t>
            </a:r>
          </a:p>
        </p:txBody>
      </p:sp>
      <p:sp>
        <p:nvSpPr>
          <p:cNvPr id="34" name="Rectangle 33"/>
          <p:cNvSpPr/>
          <p:nvPr/>
        </p:nvSpPr>
        <p:spPr>
          <a:xfrm>
            <a:off x="2258568" y="3429000"/>
            <a:ext cx="2788920" cy="228600"/>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2258568" y="3429000"/>
            <a:ext cx="483412" cy="228600"/>
          </a:xfrm>
          <a:prstGeom prst="rect">
            <a:avLst/>
          </a:prstGeom>
          <a:solidFill>
            <a:srgbClr val="B07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102351" y="3406140"/>
            <a:ext cx="1097280" cy="301752"/>
          </a:xfrm>
          <a:prstGeom prst="rect">
            <a:avLst/>
          </a:prstGeom>
          <a:noFill/>
        </p:spPr>
        <p:txBody>
          <a:bodyPr wrap="square" lIns="0" rIns="0" tIns="0" bIns="0" anchor="ctr">
            <a:spAutoFit/>
          </a:bodyPr>
          <a:lstStyle/>
          <a:p>
            <a:pPr algn="l"/>
            <a:r>
              <a:rPr sz="1100" b="1">
                <a:solidFill>
                  <a:srgbClr val="121313"/>
                </a:solidFill>
                <a:latin typeface="Arial"/>
              </a:rPr>
              <a:t>₹49,500 crore</a:t>
            </a:r>
          </a:p>
        </p:txBody>
      </p:sp>
      <p:sp>
        <p:nvSpPr>
          <p:cNvPr id="37" name="TextBox 36"/>
          <p:cNvSpPr txBox="1"/>
          <p:nvPr/>
        </p:nvSpPr>
        <p:spPr>
          <a:xfrm>
            <a:off x="932688" y="3817620"/>
            <a:ext cx="1234439" cy="301752"/>
          </a:xfrm>
          <a:prstGeom prst="rect">
            <a:avLst/>
          </a:prstGeom>
          <a:noFill/>
        </p:spPr>
        <p:txBody>
          <a:bodyPr wrap="square" lIns="0" rIns="0" tIns="0" bIns="0" anchor="ctr">
            <a:spAutoFit/>
          </a:bodyPr>
          <a:lstStyle/>
          <a:p>
            <a:pPr algn="l"/>
            <a:r>
              <a:rPr sz="1050" b="0">
                <a:solidFill>
                  <a:srgbClr val="44474B"/>
                </a:solidFill>
                <a:latin typeface="Arial"/>
              </a:rPr>
              <a:t>Czechia</a:t>
            </a:r>
          </a:p>
        </p:txBody>
      </p:sp>
      <p:sp>
        <p:nvSpPr>
          <p:cNvPr id="38" name="Rectangle 37"/>
          <p:cNvSpPr/>
          <p:nvPr/>
        </p:nvSpPr>
        <p:spPr>
          <a:xfrm>
            <a:off x="2258568" y="3840480"/>
            <a:ext cx="2788920" cy="228600"/>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2258568" y="3840480"/>
            <a:ext cx="427634" cy="228600"/>
          </a:xfrm>
          <a:prstGeom prst="rect">
            <a:avLst/>
          </a:prstGeom>
          <a:solidFill>
            <a:srgbClr val="078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102351" y="3817620"/>
            <a:ext cx="1097280" cy="301752"/>
          </a:xfrm>
          <a:prstGeom prst="rect">
            <a:avLst/>
          </a:prstGeom>
          <a:noFill/>
        </p:spPr>
        <p:txBody>
          <a:bodyPr wrap="square" lIns="0" rIns="0" tIns="0" bIns="0" anchor="ctr">
            <a:spAutoFit/>
          </a:bodyPr>
          <a:lstStyle/>
          <a:p>
            <a:pPr algn="l"/>
            <a:r>
              <a:rPr sz="1100" b="1">
                <a:solidFill>
                  <a:srgbClr val="121313"/>
                </a:solidFill>
                <a:latin typeface="Arial"/>
              </a:rPr>
              <a:t>₹43,800 crore</a:t>
            </a:r>
          </a:p>
        </p:txBody>
      </p:sp>
      <p:sp>
        <p:nvSpPr>
          <p:cNvPr id="41" name="TextBox 40"/>
          <p:cNvSpPr txBox="1"/>
          <p:nvPr/>
        </p:nvSpPr>
        <p:spPr>
          <a:xfrm>
            <a:off x="932688" y="4229100"/>
            <a:ext cx="1234439" cy="301752"/>
          </a:xfrm>
          <a:prstGeom prst="rect">
            <a:avLst/>
          </a:prstGeom>
          <a:noFill/>
        </p:spPr>
        <p:txBody>
          <a:bodyPr wrap="square" lIns="0" rIns="0" tIns="0" bIns="0" anchor="ctr">
            <a:spAutoFit/>
          </a:bodyPr>
          <a:lstStyle/>
          <a:p>
            <a:pPr algn="l"/>
            <a:r>
              <a:rPr sz="1050" b="0">
                <a:solidFill>
                  <a:srgbClr val="44474B"/>
                </a:solidFill>
                <a:latin typeface="Arial"/>
              </a:rPr>
              <a:t>Mexico</a:t>
            </a:r>
          </a:p>
        </p:txBody>
      </p:sp>
      <p:sp>
        <p:nvSpPr>
          <p:cNvPr id="42" name="Rectangle 41"/>
          <p:cNvSpPr/>
          <p:nvPr/>
        </p:nvSpPr>
        <p:spPr>
          <a:xfrm>
            <a:off x="2258568" y="4251960"/>
            <a:ext cx="2788920" cy="228600"/>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2258568" y="4251960"/>
            <a:ext cx="399745" cy="228600"/>
          </a:xfrm>
          <a:prstGeom prst="rect">
            <a:avLst/>
          </a:prstGeom>
          <a:solidFill>
            <a:srgbClr val="6E51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5102351" y="4229100"/>
            <a:ext cx="1097280" cy="301752"/>
          </a:xfrm>
          <a:prstGeom prst="rect">
            <a:avLst/>
          </a:prstGeom>
          <a:noFill/>
        </p:spPr>
        <p:txBody>
          <a:bodyPr wrap="square" lIns="0" rIns="0" tIns="0" bIns="0" anchor="ctr">
            <a:spAutoFit/>
          </a:bodyPr>
          <a:lstStyle/>
          <a:p>
            <a:pPr algn="l"/>
            <a:r>
              <a:rPr sz="1100" b="1">
                <a:solidFill>
                  <a:srgbClr val="121313"/>
                </a:solidFill>
                <a:latin typeface="Arial"/>
              </a:rPr>
              <a:t>₹41,000 crore</a:t>
            </a:r>
          </a:p>
        </p:txBody>
      </p:sp>
      <p:sp>
        <p:nvSpPr>
          <p:cNvPr id="45" name="TextBox 44"/>
          <p:cNvSpPr txBox="1"/>
          <p:nvPr/>
        </p:nvSpPr>
        <p:spPr>
          <a:xfrm>
            <a:off x="932688" y="4114800"/>
            <a:ext cx="5394960" cy="182880"/>
          </a:xfrm>
          <a:prstGeom prst="rect">
            <a:avLst/>
          </a:prstGeom>
          <a:noFill/>
        </p:spPr>
        <p:txBody>
          <a:bodyPr wrap="square" lIns="0" rIns="0" tIns="0" bIns="0" anchor="t">
            <a:spAutoFit/>
          </a:bodyPr>
          <a:lstStyle/>
          <a:p>
            <a:pPr algn="l"/>
            <a:r>
              <a:rPr sz="1100" b="1">
                <a:solidFill>
                  <a:srgbClr val="121313"/>
                </a:solidFill>
                <a:latin typeface="Arial"/>
              </a:rPr>
              <a:t>Where China's ₹7.3 lakh crore of exports went in 2025</a:t>
            </a:r>
          </a:p>
        </p:txBody>
      </p:sp>
      <p:sp>
        <p:nvSpPr>
          <p:cNvPr id="46" name="Rounded Rectangle 45"/>
          <p:cNvSpPr/>
          <p:nvPr/>
        </p:nvSpPr>
        <p:spPr>
          <a:xfrm>
            <a:off x="932688" y="4370832"/>
            <a:ext cx="2058114" cy="256032"/>
          </a:xfrm>
          <a:prstGeom prst="roundRect">
            <a:avLst>
              <a:gd name="adj" fmla="val 35000"/>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ounded Rectangle 46"/>
          <p:cNvSpPr/>
          <p:nvPr/>
        </p:nvSpPr>
        <p:spPr>
          <a:xfrm>
            <a:off x="3036522" y="4370832"/>
            <a:ext cx="761880" cy="256032"/>
          </a:xfrm>
          <a:prstGeom prst="roundRect">
            <a:avLst>
              <a:gd name="adj" fmla="val 35000"/>
            </a:avLst>
          </a:prstGeom>
          <a:solidFill>
            <a:srgbClr val="2A6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a:off x="3844123" y="4370832"/>
            <a:ext cx="2254924" cy="256032"/>
          </a:xfrm>
          <a:prstGeom prst="roundRect">
            <a:avLst>
              <a:gd name="adj" fmla="val 35000"/>
            </a:avLst>
          </a:prstGeom>
          <a:solidFill>
            <a:srgbClr val="AFB3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932688" y="4791456"/>
            <a:ext cx="118872" cy="11887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115568" y="4745736"/>
            <a:ext cx="1572768" cy="182880"/>
          </a:xfrm>
          <a:prstGeom prst="rect">
            <a:avLst/>
          </a:prstGeom>
          <a:noFill/>
        </p:spPr>
        <p:txBody>
          <a:bodyPr wrap="none" lIns="0" rIns="0" tIns="0" bIns="0" anchor="t">
            <a:spAutoFit/>
          </a:bodyPr>
          <a:lstStyle/>
          <a:p>
            <a:pPr algn="l"/>
            <a:r>
              <a:rPr sz="900" b="0">
                <a:solidFill>
                  <a:srgbClr val="808288"/>
                </a:solidFill>
                <a:latin typeface="Arial"/>
              </a:rPr>
              <a:t>Europe</a:t>
            </a:r>
          </a:p>
        </p:txBody>
      </p:sp>
      <p:sp>
        <p:nvSpPr>
          <p:cNvPr id="51" name="TextBox 50"/>
          <p:cNvSpPr txBox="1"/>
          <p:nvPr/>
        </p:nvSpPr>
        <p:spPr>
          <a:xfrm>
            <a:off x="1115568" y="4928616"/>
            <a:ext cx="1572768" cy="182880"/>
          </a:xfrm>
          <a:prstGeom prst="rect">
            <a:avLst/>
          </a:prstGeom>
          <a:noFill/>
        </p:spPr>
        <p:txBody>
          <a:bodyPr wrap="none" lIns="0" rIns="0" tIns="0" bIns="0" anchor="t">
            <a:spAutoFit/>
          </a:bodyPr>
          <a:lstStyle/>
          <a:p>
            <a:pPr algn="l"/>
            <a:r>
              <a:rPr sz="950" b="1">
                <a:solidFill>
                  <a:srgbClr val="44474B"/>
                </a:solidFill>
                <a:latin typeface="Arial"/>
              </a:rPr>
              <a:t>₹3.0 lakh crore</a:t>
            </a:r>
          </a:p>
        </p:txBody>
      </p:sp>
      <p:sp>
        <p:nvSpPr>
          <p:cNvPr id="52" name="Rectangle 51"/>
          <p:cNvSpPr/>
          <p:nvPr/>
        </p:nvSpPr>
        <p:spPr>
          <a:xfrm>
            <a:off x="2715768" y="4791456"/>
            <a:ext cx="118872" cy="118872"/>
          </a:xfrm>
          <a:prstGeom prst="rect">
            <a:avLst/>
          </a:prstGeom>
          <a:solidFill>
            <a:srgbClr val="2A6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2898648" y="4745736"/>
            <a:ext cx="1572768" cy="182880"/>
          </a:xfrm>
          <a:prstGeom prst="rect">
            <a:avLst/>
          </a:prstGeom>
          <a:noFill/>
        </p:spPr>
        <p:txBody>
          <a:bodyPr wrap="none" lIns="0" rIns="0" tIns="0" bIns="0" anchor="t">
            <a:spAutoFit/>
          </a:bodyPr>
          <a:lstStyle/>
          <a:p>
            <a:pPr algn="l"/>
            <a:r>
              <a:rPr sz="900" b="0">
                <a:solidFill>
                  <a:srgbClr val="808288"/>
                </a:solidFill>
                <a:latin typeface="Arial"/>
              </a:rPr>
              <a:t>United States</a:t>
            </a:r>
          </a:p>
        </p:txBody>
      </p:sp>
      <p:sp>
        <p:nvSpPr>
          <p:cNvPr id="54" name="TextBox 53"/>
          <p:cNvSpPr txBox="1"/>
          <p:nvPr/>
        </p:nvSpPr>
        <p:spPr>
          <a:xfrm>
            <a:off x="2898648" y="4928616"/>
            <a:ext cx="1572768" cy="182880"/>
          </a:xfrm>
          <a:prstGeom prst="rect">
            <a:avLst/>
          </a:prstGeom>
          <a:noFill/>
        </p:spPr>
        <p:txBody>
          <a:bodyPr wrap="none" lIns="0" rIns="0" tIns="0" bIns="0" anchor="t">
            <a:spAutoFit/>
          </a:bodyPr>
          <a:lstStyle/>
          <a:p>
            <a:pPr algn="l"/>
            <a:r>
              <a:rPr sz="950" b="1">
                <a:solidFill>
                  <a:srgbClr val="44474B"/>
                </a:solidFill>
                <a:latin typeface="Arial"/>
              </a:rPr>
              <a:t>₹1.1 lakh crore</a:t>
            </a:r>
          </a:p>
        </p:txBody>
      </p:sp>
      <p:sp>
        <p:nvSpPr>
          <p:cNvPr id="55" name="Rectangle 54"/>
          <p:cNvSpPr/>
          <p:nvPr/>
        </p:nvSpPr>
        <p:spPr>
          <a:xfrm>
            <a:off x="4498848" y="4791456"/>
            <a:ext cx="118872" cy="118872"/>
          </a:xfrm>
          <a:prstGeom prst="rect">
            <a:avLst/>
          </a:prstGeom>
          <a:solidFill>
            <a:srgbClr val="AFB3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4681728" y="4745736"/>
            <a:ext cx="1572768" cy="182880"/>
          </a:xfrm>
          <a:prstGeom prst="rect">
            <a:avLst/>
          </a:prstGeom>
          <a:noFill/>
        </p:spPr>
        <p:txBody>
          <a:bodyPr wrap="none" lIns="0" rIns="0" tIns="0" bIns="0" anchor="t">
            <a:spAutoFit/>
          </a:bodyPr>
          <a:lstStyle/>
          <a:p>
            <a:pPr algn="l"/>
            <a:r>
              <a:rPr sz="900" b="0">
                <a:solidFill>
                  <a:srgbClr val="808288"/>
                </a:solidFill>
                <a:latin typeface="Arial"/>
              </a:rPr>
              <a:t>Everywhere else</a:t>
            </a:r>
          </a:p>
        </p:txBody>
      </p:sp>
      <p:sp>
        <p:nvSpPr>
          <p:cNvPr id="57" name="TextBox 56"/>
          <p:cNvSpPr txBox="1"/>
          <p:nvPr/>
        </p:nvSpPr>
        <p:spPr>
          <a:xfrm>
            <a:off x="4681728" y="4928616"/>
            <a:ext cx="1572768" cy="182880"/>
          </a:xfrm>
          <a:prstGeom prst="rect">
            <a:avLst/>
          </a:prstGeom>
          <a:noFill/>
        </p:spPr>
        <p:txBody>
          <a:bodyPr wrap="none" lIns="0" rIns="0" tIns="0" bIns="0" anchor="t">
            <a:spAutoFit/>
          </a:bodyPr>
          <a:lstStyle/>
          <a:p>
            <a:pPr algn="l"/>
            <a:r>
              <a:rPr sz="950" b="1">
                <a:solidFill>
                  <a:srgbClr val="44474B"/>
                </a:solidFill>
                <a:latin typeface="Arial"/>
              </a:rPr>
              <a:t>₹3.2 lakh crore</a:t>
            </a:r>
          </a:p>
        </p:txBody>
      </p:sp>
      <p:sp>
        <p:nvSpPr>
          <p:cNvPr id="58" name="TextBox 57"/>
          <p:cNvSpPr txBox="1"/>
          <p:nvPr/>
        </p:nvSpPr>
        <p:spPr>
          <a:xfrm>
            <a:off x="6739128" y="1783080"/>
            <a:ext cx="2606040" cy="530352"/>
          </a:xfrm>
          <a:prstGeom prst="rect">
            <a:avLst/>
          </a:prstGeom>
          <a:noFill/>
        </p:spPr>
        <p:txBody>
          <a:bodyPr wrap="square" lIns="0" rIns="0" tIns="0" bIns="0" anchor="t">
            <a:spAutoFit/>
          </a:bodyPr>
          <a:lstStyle/>
          <a:p>
            <a:pPr algn="l"/>
            <a:r>
              <a:rPr sz="3000" b="1" spc="-24">
                <a:solidFill>
                  <a:srgbClr val="D2541F"/>
                </a:solidFill>
                <a:latin typeface="Arial"/>
              </a:rPr>
              <a:t>66</a:t>
            </a:r>
            <a:r>
              <a:rPr sz="1300" b="1">
                <a:solidFill>
                  <a:srgbClr val="D2541F"/>
                </a:solidFill>
                <a:latin typeface="Arial"/>
              </a:rPr>
              <a:t>%</a:t>
            </a:r>
          </a:p>
        </p:txBody>
      </p:sp>
      <p:sp>
        <p:nvSpPr>
          <p:cNvPr id="59" name="TextBox 58"/>
          <p:cNvSpPr txBox="1"/>
          <p:nvPr/>
        </p:nvSpPr>
        <p:spPr>
          <a:xfrm>
            <a:off x="6739128" y="2258568"/>
            <a:ext cx="2606040" cy="219456"/>
          </a:xfrm>
          <a:prstGeom prst="rect">
            <a:avLst/>
          </a:prstGeom>
          <a:noFill/>
        </p:spPr>
        <p:txBody>
          <a:bodyPr wrap="square" lIns="0" rIns="0" tIns="0" bIns="0" anchor="t">
            <a:spAutoFit/>
          </a:bodyPr>
          <a:lstStyle/>
          <a:p>
            <a:pPr algn="l"/>
            <a:r>
              <a:rPr sz="1150" b="1">
                <a:solidFill>
                  <a:srgbClr val="121313"/>
                </a:solidFill>
                <a:latin typeface="Arial"/>
              </a:rPr>
              <a:t>of all battery imports worldwide</a:t>
            </a:r>
          </a:p>
        </p:txBody>
      </p:sp>
      <p:sp>
        <p:nvSpPr>
          <p:cNvPr id="60" name="TextBox 59"/>
          <p:cNvSpPr txBox="1"/>
          <p:nvPr/>
        </p:nvSpPr>
        <p:spPr>
          <a:xfrm>
            <a:off x="6739128" y="2514600"/>
            <a:ext cx="2606040" cy="347472"/>
          </a:xfrm>
          <a:prstGeom prst="rect">
            <a:avLst/>
          </a:prstGeom>
          <a:noFill/>
        </p:spPr>
        <p:txBody>
          <a:bodyPr wrap="square" lIns="0" rIns="0" tIns="0" bIns="0" anchor="t">
            <a:spAutoFit/>
          </a:bodyPr>
          <a:lstStyle/>
          <a:p>
            <a:pPr algn="l">
              <a:lnSpc>
                <a:spcPct val="144000"/>
              </a:lnSpc>
            </a:pPr>
            <a:r>
              <a:rPr sz="950" b="0">
                <a:solidFill>
                  <a:srgbClr val="44474B"/>
                </a:solidFill>
                <a:latin typeface="Arial"/>
              </a:rPr>
              <a:t>come from China, up 5 points in one year. By weight it is 78%.</a:t>
            </a:r>
          </a:p>
        </p:txBody>
      </p:sp>
      <p:sp>
        <p:nvSpPr>
          <p:cNvPr id="61" name="TextBox 60"/>
          <p:cNvSpPr txBox="1"/>
          <p:nvPr/>
        </p:nvSpPr>
        <p:spPr>
          <a:xfrm>
            <a:off x="9482328" y="1783080"/>
            <a:ext cx="2697480" cy="530352"/>
          </a:xfrm>
          <a:prstGeom prst="rect">
            <a:avLst/>
          </a:prstGeom>
          <a:noFill/>
        </p:spPr>
        <p:txBody>
          <a:bodyPr wrap="square" lIns="0" rIns="0" tIns="0" bIns="0" anchor="t">
            <a:spAutoFit/>
          </a:bodyPr>
          <a:lstStyle/>
          <a:p>
            <a:pPr algn="l"/>
            <a:r>
              <a:rPr sz="3000" b="1" spc="-24">
                <a:solidFill>
                  <a:srgbClr val="2A66B0"/>
                </a:solidFill>
                <a:latin typeface="Arial"/>
              </a:rPr>
              <a:t>#1</a:t>
            </a:r>
            <a:r>
              <a:rPr sz="1300" b="1">
                <a:solidFill>
                  <a:srgbClr val="2A66B0"/>
                </a:solidFill>
                <a:latin typeface="Arial"/>
              </a:rPr>
              <a:t/>
            </a:r>
          </a:p>
        </p:txBody>
      </p:sp>
      <p:sp>
        <p:nvSpPr>
          <p:cNvPr id="62" name="TextBox 61"/>
          <p:cNvSpPr txBox="1"/>
          <p:nvPr/>
        </p:nvSpPr>
        <p:spPr>
          <a:xfrm>
            <a:off x="9482328" y="2258568"/>
            <a:ext cx="2697480" cy="219456"/>
          </a:xfrm>
          <a:prstGeom prst="rect">
            <a:avLst/>
          </a:prstGeom>
          <a:noFill/>
        </p:spPr>
        <p:txBody>
          <a:bodyPr wrap="square" lIns="0" rIns="0" tIns="0" bIns="0" anchor="t">
            <a:spAutoFit/>
          </a:bodyPr>
          <a:lstStyle/>
          <a:p>
            <a:pPr algn="l"/>
            <a:r>
              <a:rPr sz="1150" b="1">
                <a:solidFill>
                  <a:srgbClr val="121313"/>
                </a:solidFill>
                <a:latin typeface="Arial"/>
              </a:rPr>
              <a:t>Germany is now the top buyer</a:t>
            </a:r>
          </a:p>
        </p:txBody>
      </p:sp>
      <p:sp>
        <p:nvSpPr>
          <p:cNvPr id="63" name="TextBox 62"/>
          <p:cNvSpPr txBox="1"/>
          <p:nvPr/>
        </p:nvSpPr>
        <p:spPr>
          <a:xfrm>
            <a:off x="9482328" y="2514600"/>
            <a:ext cx="2697480" cy="347472"/>
          </a:xfrm>
          <a:prstGeom prst="rect">
            <a:avLst/>
          </a:prstGeom>
          <a:noFill/>
        </p:spPr>
        <p:txBody>
          <a:bodyPr wrap="square" lIns="0" rIns="0" tIns="0" bIns="0" anchor="t">
            <a:spAutoFit/>
          </a:bodyPr>
          <a:lstStyle/>
          <a:p>
            <a:pPr algn="l">
              <a:lnSpc>
                <a:spcPct val="144000"/>
              </a:lnSpc>
            </a:pPr>
            <a:r>
              <a:rPr sz="950" b="0">
                <a:solidFill>
                  <a:srgbClr val="44474B"/>
                </a:solidFill>
                <a:latin typeface="Arial"/>
              </a:rPr>
              <a:t>₹2.7 lakh crore of imports, and ahead of the United States since 2023.</a:t>
            </a:r>
          </a:p>
        </p:txBody>
      </p:sp>
      <p:sp>
        <p:nvSpPr>
          <p:cNvPr id="64" name="Rectangle 63"/>
          <p:cNvSpPr/>
          <p:nvPr/>
        </p:nvSpPr>
        <p:spPr>
          <a:xfrm>
            <a:off x="6739128" y="3462832"/>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6940296" y="3383280"/>
            <a:ext cx="5239512" cy="352044"/>
          </a:xfrm>
          <a:prstGeom prst="rect">
            <a:avLst/>
          </a:prstGeom>
          <a:noFill/>
        </p:spPr>
        <p:txBody>
          <a:bodyPr wrap="square" lIns="0" rIns="0" tIns="0" bIns="0" anchor="t">
            <a:spAutoFit/>
          </a:bodyPr>
          <a:lstStyle/>
          <a:p>
            <a:pPr algn="l">
              <a:lnSpc>
                <a:spcPct val="132000"/>
              </a:lnSpc>
            </a:pPr>
            <a:r>
              <a:rPr sz="1050" b="1">
                <a:solidFill>
                  <a:srgbClr val="121313"/>
                </a:solidFill>
                <a:latin typeface="Arial"/>
              </a:rPr>
              <a:t>America is leaving the market, not winning it. </a:t>
            </a:r>
            <a:r>
              <a:rPr sz="1050" b="0">
                <a:solidFill>
                  <a:srgbClr val="44474B"/>
                </a:solidFill>
                <a:latin typeface="Arial"/>
              </a:rPr>
              <a:t>Chinese exports to the US fell by a fifth, and China's share of US imports dropped from 65% to 46%.</a:t>
            </a:r>
          </a:p>
        </p:txBody>
      </p:sp>
      <p:sp>
        <p:nvSpPr>
          <p:cNvPr id="66" name="Rectangle 65"/>
          <p:cNvSpPr/>
          <p:nvPr/>
        </p:nvSpPr>
        <p:spPr>
          <a:xfrm>
            <a:off x="6739128" y="3979468"/>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6940296" y="3899916"/>
            <a:ext cx="5239512" cy="528066"/>
          </a:xfrm>
          <a:prstGeom prst="rect">
            <a:avLst/>
          </a:prstGeom>
          <a:noFill/>
        </p:spPr>
        <p:txBody>
          <a:bodyPr wrap="square" lIns="0" rIns="0" tIns="0" bIns="0" anchor="t">
            <a:spAutoFit/>
          </a:bodyPr>
          <a:lstStyle/>
          <a:p>
            <a:pPr algn="l">
              <a:lnSpc>
                <a:spcPct val="132000"/>
              </a:lnSpc>
            </a:pPr>
            <a:r>
              <a:rPr sz="1050" b="1">
                <a:solidFill>
                  <a:srgbClr val="121313"/>
                </a:solidFill>
                <a:latin typeface="Arial"/>
              </a:rPr>
              <a:t>That volume did not vanish. It came our way. </a:t>
            </a:r>
            <a:r>
              <a:rPr sz="1050" b="0">
                <a:solidFill>
                  <a:srgbClr val="44474B"/>
                </a:solidFill>
                <a:latin typeface="Arial"/>
              </a:rPr>
              <a:t>Europe, Australia, India and Vietnam absorbed it. India was the fastest-growing destination of all, up 73% in a year.</a:t>
            </a:r>
          </a:p>
        </p:txBody>
      </p:sp>
      <p:sp>
        <p:nvSpPr>
          <p:cNvPr id="68" name="Rectangle 67"/>
          <p:cNvSpPr/>
          <p:nvPr/>
        </p:nvSpPr>
        <p:spPr>
          <a:xfrm>
            <a:off x="6739128" y="4672126"/>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6940296" y="4592574"/>
            <a:ext cx="5239512" cy="352044"/>
          </a:xfrm>
          <a:prstGeom prst="rect">
            <a:avLst/>
          </a:prstGeom>
          <a:noFill/>
        </p:spPr>
        <p:txBody>
          <a:bodyPr wrap="square" lIns="0" rIns="0" tIns="0" bIns="0" anchor="t">
            <a:spAutoFit/>
          </a:bodyPr>
          <a:lstStyle/>
          <a:p>
            <a:pPr algn="l">
              <a:lnSpc>
                <a:spcPct val="132000"/>
              </a:lnSpc>
            </a:pPr>
            <a:r>
              <a:rPr sz="1050" b="1">
                <a:solidFill>
                  <a:srgbClr val="121313"/>
                </a:solidFill>
                <a:latin typeface="Arial"/>
              </a:rPr>
              <a:t>Prices are falling, not demand. </a:t>
            </a:r>
            <a:r>
              <a:rPr sz="1050" b="0">
                <a:solidFill>
                  <a:srgbClr val="44474B"/>
                </a:solidFill>
                <a:latin typeface="Arial"/>
              </a:rPr>
              <a:t>Across the big importers, tonnage rose 14% while the money spent stayed flat.</a:t>
            </a:r>
          </a:p>
        </p:txBody>
      </p:sp>
      <p:sp>
        <p:nvSpPr>
          <p:cNvPr id="70" name="TextBox 69"/>
          <p:cNvSpPr txBox="1"/>
          <p:nvPr/>
        </p:nvSpPr>
        <p:spPr>
          <a:xfrm>
            <a:off x="658368" y="6126480"/>
            <a:ext cx="10874959" cy="310896"/>
          </a:xfrm>
          <a:prstGeom prst="rect">
            <a:avLst/>
          </a:prstGeom>
          <a:noFill/>
        </p:spPr>
        <p:txBody>
          <a:bodyPr wrap="square" lIns="0" rIns="0" tIns="0" bIns="0" anchor="t">
            <a:spAutoFit/>
          </a:bodyPr>
          <a:lstStyle/>
          <a:p>
            <a:pPr algn="l">
              <a:lnSpc>
                <a:spcPct val="134000"/>
              </a:lnSpc>
            </a:pPr>
            <a:r>
              <a:rPr sz="800" b="0">
                <a:solidFill>
                  <a:srgbClr val="9A9DA3"/>
                </a:solidFill>
                <a:latin typeface="Arial"/>
              </a:rPr>
              <a:t>UN Comtrade mirror data via GTAIC, rolling twelve months, product code 850760 - China Passenger Car Association. 2025 Comtrade reporting is incomplete, so shares are firmer than totals.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326319" cy="1005840"/>
          </a:xfrm>
          <a:prstGeom prst="rect">
            <a:avLst/>
          </a:prstGeom>
          <a:noFill/>
        </p:spPr>
        <p:txBody>
          <a:bodyPr wrap="square" lIns="0" rIns="0" tIns="0" bIns="0" anchor="t">
            <a:spAutoFit/>
          </a:bodyPr>
          <a:lstStyle/>
          <a:p>
            <a:pPr algn="l">
              <a:lnSpc>
                <a:spcPct val="104000"/>
              </a:lnSpc>
            </a:pPr>
            <a:r>
              <a:rPr sz="3100" b="1" spc="-22">
                <a:solidFill>
                  <a:srgbClr val="121313"/>
                </a:solidFill>
                <a:latin typeface="Arial"/>
              </a:rPr>
              <a:t>Europe will build half of what it promised</a:t>
            </a:r>
          </a:p>
        </p:txBody>
      </p:sp>
      <p:sp>
        <p:nvSpPr>
          <p:cNvPr id="4" name="TextBox 3"/>
          <p:cNvSpPr txBox="1"/>
          <p:nvPr/>
        </p:nvSpPr>
        <p:spPr>
          <a:xfrm>
            <a:off x="658368" y="6464807"/>
            <a:ext cx="914400" cy="182880"/>
          </a:xfrm>
          <a:prstGeom prst="rect">
            <a:avLst/>
          </a:prstGeom>
          <a:noFill/>
        </p:spPr>
        <p:txBody>
          <a:bodyPr wrap="square" lIns="0" rIns="0" tIns="0" bIns="0" anchor="t">
            <a:spAutoFit/>
          </a:bodyPr>
          <a:lstStyle/>
          <a:p>
            <a:pPr algn="l"/>
            <a:r>
              <a:rPr sz="900" b="1">
                <a:solidFill>
                  <a:srgbClr val="808288"/>
                </a:solidFill>
                <a:latin typeface="Arial"/>
              </a:rPr>
              <a:t>6 / 16</a:t>
            </a:r>
          </a:p>
        </p:txBody>
      </p:sp>
      <p:sp>
        <p:nvSpPr>
          <p:cNvPr id="5" name="Rectangle 4"/>
          <p:cNvSpPr/>
          <p:nvPr/>
        </p:nvSpPr>
        <p:spPr>
          <a:xfrm>
            <a:off x="1371600"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83411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9662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275914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22165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84174" y="6492240"/>
            <a:ext cx="43508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14668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60920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07171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53423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99674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45926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92177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38429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4680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30932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521647" y="6464807"/>
            <a:ext cx="2011680" cy="182880"/>
          </a:xfrm>
          <a:prstGeom prst="rect">
            <a:avLst/>
          </a:prstGeom>
          <a:noFill/>
        </p:spPr>
        <p:txBody>
          <a:bodyPr wrap="square" lIns="0" rIns="0" tIns="0" bIns="0" anchor="t">
            <a:spAutoFit/>
          </a:bodyPr>
          <a:lstStyle/>
          <a:p>
            <a:pPr algn="r"/>
            <a:r>
              <a:rPr sz="900" b="0">
                <a:solidFill>
                  <a:srgbClr val="808288"/>
                </a:solidFill>
                <a:latin typeface="Arial"/>
              </a:rPr>
              <a:t>Part two: Europe tried</a:t>
            </a:r>
          </a:p>
        </p:txBody>
      </p:sp>
      <p:sp>
        <p:nvSpPr>
          <p:cNvPr id="22" name="Rounded Rectangle 21"/>
          <p:cNvSpPr/>
          <p:nvPr/>
        </p:nvSpPr>
        <p:spPr>
          <a:xfrm>
            <a:off x="658368" y="1783080"/>
            <a:ext cx="6217920" cy="40233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96112" y="1965960"/>
            <a:ext cx="5760720" cy="201168"/>
          </a:xfrm>
          <a:prstGeom prst="rect">
            <a:avLst/>
          </a:prstGeom>
          <a:noFill/>
        </p:spPr>
        <p:txBody>
          <a:bodyPr wrap="square" lIns="0" rIns="0" tIns="0" bIns="0" anchor="t">
            <a:spAutoFit/>
          </a:bodyPr>
          <a:lstStyle/>
          <a:p>
            <a:pPr algn="l"/>
            <a:r>
              <a:rPr sz="1100" b="1">
                <a:solidFill>
                  <a:srgbClr val="121313"/>
                </a:solidFill>
                <a:latin typeface="Arial"/>
              </a:rPr>
              <a:t>What Europe promised for 2030, and what it will make</a:t>
            </a:r>
          </a:p>
        </p:txBody>
      </p:sp>
      <p:sp>
        <p:nvSpPr>
          <p:cNvPr id="24" name="TextBox 23"/>
          <p:cNvSpPr txBox="1"/>
          <p:nvPr/>
        </p:nvSpPr>
        <p:spPr>
          <a:xfrm>
            <a:off x="896112" y="2176272"/>
            <a:ext cx="5760720" cy="182880"/>
          </a:xfrm>
          <a:prstGeom prst="rect">
            <a:avLst/>
          </a:prstGeom>
          <a:noFill/>
        </p:spPr>
        <p:txBody>
          <a:bodyPr wrap="square" lIns="0" rIns="0" tIns="0" bIns="0" anchor="t">
            <a:spAutoFit/>
          </a:bodyPr>
          <a:lstStyle/>
          <a:p>
            <a:pPr algn="l"/>
            <a:r>
              <a:rPr sz="950" b="0">
                <a:solidFill>
                  <a:srgbClr val="808288"/>
                </a:solidFill>
                <a:latin typeface="Arial"/>
              </a:rPr>
              <a:t>gigawatt-hours a year</a:t>
            </a:r>
          </a:p>
        </p:txBody>
      </p:sp>
      <p:sp>
        <p:nvSpPr>
          <p:cNvPr id="25" name="Rectangle 24"/>
          <p:cNvSpPr/>
          <p:nvPr/>
        </p:nvSpPr>
        <p:spPr>
          <a:xfrm>
            <a:off x="1499616" y="5266944"/>
            <a:ext cx="5029200" cy="7315"/>
          </a:xfrm>
          <a:prstGeom prst="rect">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58368" y="5193792"/>
            <a:ext cx="768096" cy="164592"/>
          </a:xfrm>
          <a:prstGeom prst="rect">
            <a:avLst/>
          </a:prstGeom>
          <a:noFill/>
        </p:spPr>
        <p:txBody>
          <a:bodyPr wrap="square" lIns="0" rIns="0" tIns="0" bIns="0" anchor="t">
            <a:spAutoFit/>
          </a:bodyPr>
          <a:lstStyle/>
          <a:p>
            <a:pPr algn="r"/>
            <a:r>
              <a:rPr sz="850" b="0" spc="40">
                <a:solidFill>
                  <a:srgbClr val="9A9DA3"/>
                </a:solidFill>
                <a:latin typeface="Arial"/>
              </a:rPr>
              <a:t>0</a:t>
            </a:r>
          </a:p>
        </p:txBody>
      </p:sp>
      <p:sp>
        <p:nvSpPr>
          <p:cNvPr id="27" name="Rectangle 26"/>
          <p:cNvSpPr/>
          <p:nvPr/>
        </p:nvSpPr>
        <p:spPr>
          <a:xfrm>
            <a:off x="1499616" y="4695444"/>
            <a:ext cx="5029200" cy="7315"/>
          </a:xfrm>
          <a:prstGeom prst="rect">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58368" y="4622292"/>
            <a:ext cx="768096" cy="164592"/>
          </a:xfrm>
          <a:prstGeom prst="rect">
            <a:avLst/>
          </a:prstGeom>
          <a:noFill/>
        </p:spPr>
        <p:txBody>
          <a:bodyPr wrap="square" lIns="0" rIns="0" tIns="0" bIns="0" anchor="t">
            <a:spAutoFit/>
          </a:bodyPr>
          <a:lstStyle/>
          <a:p>
            <a:pPr algn="r"/>
            <a:r>
              <a:rPr sz="850" b="0" spc="40">
                <a:solidFill>
                  <a:srgbClr val="9A9DA3"/>
                </a:solidFill>
                <a:latin typeface="Arial"/>
              </a:rPr>
              <a:t>500</a:t>
            </a:r>
          </a:p>
        </p:txBody>
      </p:sp>
      <p:sp>
        <p:nvSpPr>
          <p:cNvPr id="29" name="Rectangle 28"/>
          <p:cNvSpPr/>
          <p:nvPr/>
        </p:nvSpPr>
        <p:spPr>
          <a:xfrm>
            <a:off x="1499616" y="4123944"/>
            <a:ext cx="5029200" cy="7315"/>
          </a:xfrm>
          <a:prstGeom prst="rect">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58368" y="4050791"/>
            <a:ext cx="768096" cy="164592"/>
          </a:xfrm>
          <a:prstGeom prst="rect">
            <a:avLst/>
          </a:prstGeom>
          <a:noFill/>
        </p:spPr>
        <p:txBody>
          <a:bodyPr wrap="square" lIns="0" rIns="0" tIns="0" bIns="0" anchor="t">
            <a:spAutoFit/>
          </a:bodyPr>
          <a:lstStyle/>
          <a:p>
            <a:pPr algn="r"/>
            <a:r>
              <a:rPr sz="850" b="0" spc="40">
                <a:solidFill>
                  <a:srgbClr val="9A9DA3"/>
                </a:solidFill>
                <a:latin typeface="Arial"/>
              </a:rPr>
              <a:t>1,000</a:t>
            </a:r>
          </a:p>
        </p:txBody>
      </p:sp>
      <p:sp>
        <p:nvSpPr>
          <p:cNvPr id="31" name="Rectangle 30"/>
          <p:cNvSpPr/>
          <p:nvPr/>
        </p:nvSpPr>
        <p:spPr>
          <a:xfrm>
            <a:off x="1499616" y="3552444"/>
            <a:ext cx="5029200" cy="7315"/>
          </a:xfrm>
          <a:prstGeom prst="rect">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58368" y="3479291"/>
            <a:ext cx="768096" cy="164592"/>
          </a:xfrm>
          <a:prstGeom prst="rect">
            <a:avLst/>
          </a:prstGeom>
          <a:noFill/>
        </p:spPr>
        <p:txBody>
          <a:bodyPr wrap="square" lIns="0" rIns="0" tIns="0" bIns="0" anchor="t">
            <a:spAutoFit/>
          </a:bodyPr>
          <a:lstStyle/>
          <a:p>
            <a:pPr algn="r"/>
            <a:r>
              <a:rPr sz="850" b="0" spc="40">
                <a:solidFill>
                  <a:srgbClr val="9A9DA3"/>
                </a:solidFill>
                <a:latin typeface="Arial"/>
              </a:rPr>
              <a:t>1,500</a:t>
            </a:r>
          </a:p>
        </p:txBody>
      </p:sp>
      <p:sp>
        <p:nvSpPr>
          <p:cNvPr id="33" name="Rectangle 32"/>
          <p:cNvSpPr/>
          <p:nvPr/>
        </p:nvSpPr>
        <p:spPr>
          <a:xfrm>
            <a:off x="1499616" y="2980944"/>
            <a:ext cx="5029200" cy="7315"/>
          </a:xfrm>
          <a:prstGeom prst="rect">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58368" y="2907791"/>
            <a:ext cx="768096" cy="164592"/>
          </a:xfrm>
          <a:prstGeom prst="rect">
            <a:avLst/>
          </a:prstGeom>
          <a:noFill/>
        </p:spPr>
        <p:txBody>
          <a:bodyPr wrap="square" lIns="0" rIns="0" tIns="0" bIns="0" anchor="t">
            <a:spAutoFit/>
          </a:bodyPr>
          <a:lstStyle/>
          <a:p>
            <a:pPr algn="r"/>
            <a:r>
              <a:rPr sz="850" b="0" spc="40">
                <a:solidFill>
                  <a:srgbClr val="9A9DA3"/>
                </a:solidFill>
                <a:latin typeface="Arial"/>
              </a:rPr>
              <a:t>2,000</a:t>
            </a:r>
          </a:p>
        </p:txBody>
      </p:sp>
      <p:sp>
        <p:nvSpPr>
          <p:cNvPr id="35" name="TextBox 34"/>
          <p:cNvSpPr txBox="1"/>
          <p:nvPr/>
        </p:nvSpPr>
        <p:spPr>
          <a:xfrm>
            <a:off x="1499616" y="5330952"/>
            <a:ext cx="1257300" cy="182880"/>
          </a:xfrm>
          <a:prstGeom prst="rect">
            <a:avLst/>
          </a:prstGeom>
          <a:noFill/>
        </p:spPr>
        <p:txBody>
          <a:bodyPr wrap="square" lIns="0" rIns="0" tIns="0" bIns="0" anchor="t">
            <a:spAutoFit/>
          </a:bodyPr>
          <a:lstStyle/>
          <a:p>
            <a:pPr algn="ctr"/>
            <a:r>
              <a:rPr sz="900" b="0" spc="40">
                <a:solidFill>
                  <a:srgbClr val="9A9DA3"/>
                </a:solidFill>
                <a:latin typeface="Arial"/>
              </a:rPr>
              <a:t>Announced</a:t>
            </a:r>
          </a:p>
        </p:txBody>
      </p:sp>
      <p:sp>
        <p:nvSpPr>
          <p:cNvPr id="36" name="Rectangle 35"/>
          <p:cNvSpPr/>
          <p:nvPr/>
        </p:nvSpPr>
        <p:spPr>
          <a:xfrm>
            <a:off x="1763649" y="2980944"/>
            <a:ext cx="350901" cy="2286000"/>
          </a:xfrm>
          <a:prstGeom prst="rect">
            <a:avLst/>
          </a:prstGeom>
          <a:solidFill>
            <a:srgbClr val="B07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708785" y="2766060"/>
            <a:ext cx="460628" cy="182880"/>
          </a:xfrm>
          <a:prstGeom prst="rect">
            <a:avLst/>
          </a:prstGeom>
          <a:noFill/>
        </p:spPr>
        <p:txBody>
          <a:bodyPr wrap="none" lIns="0" rIns="0" tIns="0" bIns="0" anchor="t">
            <a:spAutoFit/>
          </a:bodyPr>
          <a:lstStyle/>
          <a:p>
            <a:pPr algn="ctr"/>
            <a:r>
              <a:rPr sz="800" b="1">
                <a:solidFill>
                  <a:srgbClr val="B07C12"/>
                </a:solidFill>
                <a:latin typeface="Arial"/>
              </a:rPr>
              <a:t>2,000</a:t>
            </a:r>
          </a:p>
        </p:txBody>
      </p:sp>
      <p:sp>
        <p:nvSpPr>
          <p:cNvPr id="38" name="Rectangle 37"/>
          <p:cNvSpPr/>
          <p:nvPr/>
        </p:nvSpPr>
        <p:spPr>
          <a:xfrm>
            <a:off x="2141982" y="2980944"/>
            <a:ext cx="350901" cy="2286000"/>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2087118" y="2766060"/>
            <a:ext cx="460628" cy="182880"/>
          </a:xfrm>
          <a:prstGeom prst="rect">
            <a:avLst/>
          </a:prstGeom>
          <a:noFill/>
        </p:spPr>
        <p:txBody>
          <a:bodyPr wrap="none" lIns="0" rIns="0" tIns="0" bIns="0" anchor="t">
            <a:spAutoFit/>
          </a:bodyPr>
          <a:lstStyle/>
          <a:p>
            <a:pPr algn="ctr"/>
            <a:r>
              <a:rPr sz="800" b="1">
                <a:solidFill>
                  <a:srgbClr val="D2541F"/>
                </a:solidFill>
                <a:latin typeface="Arial"/>
              </a:rPr>
              <a:t>2,000</a:t>
            </a:r>
          </a:p>
        </p:txBody>
      </p:sp>
      <p:sp>
        <p:nvSpPr>
          <p:cNvPr id="40" name="TextBox 39"/>
          <p:cNvSpPr txBox="1"/>
          <p:nvPr/>
        </p:nvSpPr>
        <p:spPr>
          <a:xfrm>
            <a:off x="2756916" y="5330952"/>
            <a:ext cx="1257300" cy="182880"/>
          </a:xfrm>
          <a:prstGeom prst="rect">
            <a:avLst/>
          </a:prstGeom>
          <a:noFill/>
        </p:spPr>
        <p:txBody>
          <a:bodyPr wrap="square" lIns="0" rIns="0" tIns="0" bIns="0" anchor="t">
            <a:spAutoFit/>
          </a:bodyPr>
          <a:lstStyle/>
          <a:p>
            <a:pPr algn="ctr"/>
            <a:r>
              <a:rPr sz="900" b="0" spc="40">
                <a:solidFill>
                  <a:srgbClr val="9A9DA3"/>
                </a:solidFill>
                <a:latin typeface="Arial"/>
              </a:rPr>
              <a:t>Likely built</a:t>
            </a:r>
          </a:p>
        </p:txBody>
      </p:sp>
      <p:sp>
        <p:nvSpPr>
          <p:cNvPr id="41" name="Rectangle 40"/>
          <p:cNvSpPr/>
          <p:nvPr/>
        </p:nvSpPr>
        <p:spPr>
          <a:xfrm>
            <a:off x="3020949" y="3895344"/>
            <a:ext cx="350901" cy="1371600"/>
          </a:xfrm>
          <a:prstGeom prst="rect">
            <a:avLst/>
          </a:prstGeom>
          <a:solidFill>
            <a:srgbClr val="B07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2966085" y="3680459"/>
            <a:ext cx="460628" cy="182880"/>
          </a:xfrm>
          <a:prstGeom prst="rect">
            <a:avLst/>
          </a:prstGeom>
          <a:noFill/>
        </p:spPr>
        <p:txBody>
          <a:bodyPr wrap="none" lIns="0" rIns="0" tIns="0" bIns="0" anchor="t">
            <a:spAutoFit/>
          </a:bodyPr>
          <a:lstStyle/>
          <a:p>
            <a:pPr algn="ctr"/>
            <a:r>
              <a:rPr sz="800" b="1">
                <a:solidFill>
                  <a:srgbClr val="B07C12"/>
                </a:solidFill>
                <a:latin typeface="Arial"/>
              </a:rPr>
              <a:t>1,200</a:t>
            </a:r>
          </a:p>
        </p:txBody>
      </p:sp>
      <p:sp>
        <p:nvSpPr>
          <p:cNvPr id="43" name="Rectangle 42"/>
          <p:cNvSpPr/>
          <p:nvPr/>
        </p:nvSpPr>
        <p:spPr>
          <a:xfrm>
            <a:off x="3399282" y="3323844"/>
            <a:ext cx="350901" cy="1943100"/>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3344418" y="3108960"/>
            <a:ext cx="460628" cy="182880"/>
          </a:xfrm>
          <a:prstGeom prst="rect">
            <a:avLst/>
          </a:prstGeom>
          <a:noFill/>
        </p:spPr>
        <p:txBody>
          <a:bodyPr wrap="none" lIns="0" rIns="0" tIns="0" bIns="0" anchor="t">
            <a:spAutoFit/>
          </a:bodyPr>
          <a:lstStyle/>
          <a:p>
            <a:pPr algn="ctr"/>
            <a:r>
              <a:rPr sz="800" b="1">
                <a:solidFill>
                  <a:srgbClr val="D2541F"/>
                </a:solidFill>
                <a:latin typeface="Arial"/>
              </a:rPr>
              <a:t>1,700</a:t>
            </a:r>
          </a:p>
        </p:txBody>
      </p:sp>
      <p:sp>
        <p:nvSpPr>
          <p:cNvPr id="45" name="TextBox 44"/>
          <p:cNvSpPr txBox="1"/>
          <p:nvPr/>
        </p:nvSpPr>
        <p:spPr>
          <a:xfrm>
            <a:off x="4014216" y="5330952"/>
            <a:ext cx="1257300" cy="182880"/>
          </a:xfrm>
          <a:prstGeom prst="rect">
            <a:avLst/>
          </a:prstGeom>
          <a:noFill/>
        </p:spPr>
        <p:txBody>
          <a:bodyPr wrap="square" lIns="0" rIns="0" tIns="0" bIns="0" anchor="t">
            <a:spAutoFit/>
          </a:bodyPr>
          <a:lstStyle/>
          <a:p>
            <a:pPr algn="ctr"/>
            <a:r>
              <a:rPr sz="900" b="0" spc="40">
                <a:solidFill>
                  <a:srgbClr val="9A9DA3"/>
                </a:solidFill>
                <a:latin typeface="Arial"/>
              </a:rPr>
              <a:t>Actually made</a:t>
            </a:r>
          </a:p>
        </p:txBody>
      </p:sp>
      <p:sp>
        <p:nvSpPr>
          <p:cNvPr id="46" name="Rectangle 45"/>
          <p:cNvSpPr/>
          <p:nvPr/>
        </p:nvSpPr>
        <p:spPr>
          <a:xfrm>
            <a:off x="4278249" y="4352544"/>
            <a:ext cx="350901" cy="914400"/>
          </a:xfrm>
          <a:prstGeom prst="rect">
            <a:avLst/>
          </a:prstGeom>
          <a:solidFill>
            <a:srgbClr val="B07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4223385" y="4137659"/>
            <a:ext cx="460628" cy="182880"/>
          </a:xfrm>
          <a:prstGeom prst="rect">
            <a:avLst/>
          </a:prstGeom>
          <a:noFill/>
        </p:spPr>
        <p:txBody>
          <a:bodyPr wrap="none" lIns="0" rIns="0" tIns="0" bIns="0" anchor="t">
            <a:spAutoFit/>
          </a:bodyPr>
          <a:lstStyle/>
          <a:p>
            <a:pPr algn="ctr"/>
            <a:r>
              <a:rPr sz="800" b="1">
                <a:solidFill>
                  <a:srgbClr val="B07C12"/>
                </a:solidFill>
                <a:latin typeface="Arial"/>
              </a:rPr>
              <a:t>800</a:t>
            </a:r>
          </a:p>
        </p:txBody>
      </p:sp>
      <p:sp>
        <p:nvSpPr>
          <p:cNvPr id="48" name="Rectangle 47"/>
          <p:cNvSpPr/>
          <p:nvPr/>
        </p:nvSpPr>
        <p:spPr>
          <a:xfrm>
            <a:off x="4656582" y="4009644"/>
            <a:ext cx="350901" cy="1257300"/>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4601718" y="3794759"/>
            <a:ext cx="460628" cy="182880"/>
          </a:xfrm>
          <a:prstGeom prst="rect">
            <a:avLst/>
          </a:prstGeom>
          <a:noFill/>
        </p:spPr>
        <p:txBody>
          <a:bodyPr wrap="none" lIns="0" rIns="0" tIns="0" bIns="0" anchor="t">
            <a:spAutoFit/>
          </a:bodyPr>
          <a:lstStyle/>
          <a:p>
            <a:pPr algn="ctr"/>
            <a:r>
              <a:rPr sz="800" b="1">
                <a:solidFill>
                  <a:srgbClr val="D2541F"/>
                </a:solidFill>
                <a:latin typeface="Arial"/>
              </a:rPr>
              <a:t>1,100</a:t>
            </a:r>
          </a:p>
        </p:txBody>
      </p:sp>
      <p:sp>
        <p:nvSpPr>
          <p:cNvPr id="50" name="TextBox 49"/>
          <p:cNvSpPr txBox="1"/>
          <p:nvPr/>
        </p:nvSpPr>
        <p:spPr>
          <a:xfrm>
            <a:off x="5271516" y="5330952"/>
            <a:ext cx="1257300" cy="182880"/>
          </a:xfrm>
          <a:prstGeom prst="rect">
            <a:avLst/>
          </a:prstGeom>
          <a:noFill/>
        </p:spPr>
        <p:txBody>
          <a:bodyPr wrap="square" lIns="0" rIns="0" tIns="0" bIns="0" anchor="t">
            <a:spAutoFit/>
          </a:bodyPr>
          <a:lstStyle/>
          <a:p>
            <a:pPr algn="ctr"/>
            <a:r>
              <a:rPr sz="900" b="0" spc="40">
                <a:solidFill>
                  <a:srgbClr val="9A9DA3"/>
                </a:solidFill>
                <a:latin typeface="Arial"/>
              </a:rPr>
              <a:t>Europe needs</a:t>
            </a:r>
          </a:p>
        </p:txBody>
      </p:sp>
      <p:sp>
        <p:nvSpPr>
          <p:cNvPr id="51" name="Rectangle 50"/>
          <p:cNvSpPr/>
          <p:nvPr/>
        </p:nvSpPr>
        <p:spPr>
          <a:xfrm>
            <a:off x="5535549" y="4352544"/>
            <a:ext cx="350901" cy="914400"/>
          </a:xfrm>
          <a:prstGeom prst="rect">
            <a:avLst/>
          </a:prstGeom>
          <a:solidFill>
            <a:srgbClr val="B07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5480685" y="4137659"/>
            <a:ext cx="460628" cy="182880"/>
          </a:xfrm>
          <a:prstGeom prst="rect">
            <a:avLst/>
          </a:prstGeom>
          <a:noFill/>
        </p:spPr>
        <p:txBody>
          <a:bodyPr wrap="none" lIns="0" rIns="0" tIns="0" bIns="0" anchor="t">
            <a:spAutoFit/>
          </a:bodyPr>
          <a:lstStyle/>
          <a:p>
            <a:pPr algn="ctr"/>
            <a:r>
              <a:rPr sz="800" b="1">
                <a:solidFill>
                  <a:srgbClr val="B07C12"/>
                </a:solidFill>
                <a:latin typeface="Arial"/>
              </a:rPr>
              <a:t>800</a:t>
            </a:r>
          </a:p>
        </p:txBody>
      </p:sp>
      <p:sp>
        <p:nvSpPr>
          <p:cNvPr id="53" name="Rectangle 52"/>
          <p:cNvSpPr/>
          <p:nvPr/>
        </p:nvSpPr>
        <p:spPr>
          <a:xfrm>
            <a:off x="5913882" y="3781044"/>
            <a:ext cx="350901" cy="1485900"/>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5859018" y="3566160"/>
            <a:ext cx="460628" cy="182880"/>
          </a:xfrm>
          <a:prstGeom prst="rect">
            <a:avLst/>
          </a:prstGeom>
          <a:noFill/>
        </p:spPr>
        <p:txBody>
          <a:bodyPr wrap="none" lIns="0" rIns="0" tIns="0" bIns="0" anchor="t">
            <a:spAutoFit/>
          </a:bodyPr>
          <a:lstStyle/>
          <a:p>
            <a:pPr algn="ctr"/>
            <a:r>
              <a:rPr sz="800" b="1">
                <a:solidFill>
                  <a:srgbClr val="D2541F"/>
                </a:solidFill>
                <a:latin typeface="Arial"/>
              </a:rPr>
              <a:t>1,300</a:t>
            </a:r>
          </a:p>
        </p:txBody>
      </p:sp>
      <p:sp>
        <p:nvSpPr>
          <p:cNvPr id="55" name="Rectangle 54"/>
          <p:cNvSpPr/>
          <p:nvPr/>
        </p:nvSpPr>
        <p:spPr>
          <a:xfrm>
            <a:off x="1499616" y="5266944"/>
            <a:ext cx="5029200" cy="914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p:cNvSpPr/>
          <p:nvPr/>
        </p:nvSpPr>
        <p:spPr>
          <a:xfrm>
            <a:off x="1499616" y="5582412"/>
            <a:ext cx="128016" cy="128016"/>
          </a:xfrm>
          <a:prstGeom prst="roundRect">
            <a:avLst>
              <a:gd name="adj" fmla="val 30000"/>
            </a:avLst>
          </a:prstGeom>
          <a:solidFill>
            <a:srgbClr val="B07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1700784" y="5541264"/>
            <a:ext cx="2103120" cy="201168"/>
          </a:xfrm>
          <a:prstGeom prst="rect">
            <a:avLst/>
          </a:prstGeom>
          <a:noFill/>
        </p:spPr>
        <p:txBody>
          <a:bodyPr wrap="none" lIns="0" rIns="0" tIns="0" bIns="0" anchor="t">
            <a:spAutoFit/>
          </a:bodyPr>
          <a:lstStyle/>
          <a:p>
            <a:pPr algn="l"/>
            <a:r>
              <a:rPr sz="900" b="0">
                <a:solidFill>
                  <a:srgbClr val="808288"/>
                </a:solidFill>
                <a:latin typeface="Arial"/>
              </a:rPr>
              <a:t>Low end of the range</a:t>
            </a:r>
          </a:p>
        </p:txBody>
      </p:sp>
      <p:sp>
        <p:nvSpPr>
          <p:cNvPr id="58" name="Rounded Rectangle 57"/>
          <p:cNvSpPr/>
          <p:nvPr/>
        </p:nvSpPr>
        <p:spPr>
          <a:xfrm>
            <a:off x="3877056" y="5582412"/>
            <a:ext cx="128016" cy="128016"/>
          </a:xfrm>
          <a:prstGeom prst="roundRect">
            <a:avLst>
              <a:gd name="adj" fmla="val 30000"/>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4078224" y="5541264"/>
            <a:ext cx="2103120" cy="201168"/>
          </a:xfrm>
          <a:prstGeom prst="rect">
            <a:avLst/>
          </a:prstGeom>
          <a:noFill/>
        </p:spPr>
        <p:txBody>
          <a:bodyPr wrap="none" lIns="0" rIns="0" tIns="0" bIns="0" anchor="t">
            <a:spAutoFit/>
          </a:bodyPr>
          <a:lstStyle/>
          <a:p>
            <a:pPr algn="l"/>
            <a:r>
              <a:rPr sz="900" b="0">
                <a:solidFill>
                  <a:srgbClr val="808288"/>
                </a:solidFill>
                <a:latin typeface="Arial"/>
              </a:rPr>
              <a:t>High end of the range</a:t>
            </a:r>
          </a:p>
        </p:txBody>
      </p:sp>
      <p:sp>
        <p:nvSpPr>
          <p:cNvPr id="60" name="TextBox 59"/>
          <p:cNvSpPr txBox="1"/>
          <p:nvPr/>
        </p:nvSpPr>
        <p:spPr>
          <a:xfrm>
            <a:off x="7196328" y="1783080"/>
            <a:ext cx="2377440" cy="530352"/>
          </a:xfrm>
          <a:prstGeom prst="rect">
            <a:avLst/>
          </a:prstGeom>
          <a:noFill/>
        </p:spPr>
        <p:txBody>
          <a:bodyPr wrap="square" lIns="0" rIns="0" tIns="0" bIns="0" anchor="t">
            <a:spAutoFit/>
          </a:bodyPr>
          <a:lstStyle/>
          <a:p>
            <a:pPr algn="l"/>
            <a:r>
              <a:rPr sz="3000" b="1" spc="-24">
                <a:solidFill>
                  <a:srgbClr val="C4362C"/>
                </a:solidFill>
                <a:latin typeface="Arial"/>
              </a:rPr>
              <a:t>700</a:t>
            </a:r>
            <a:r>
              <a:rPr sz="1300" b="1">
                <a:solidFill>
                  <a:srgbClr val="C4362C"/>
                </a:solidFill>
                <a:latin typeface="Arial"/>
              </a:rPr>
              <a:t>+ GWh</a:t>
            </a:r>
          </a:p>
        </p:txBody>
      </p:sp>
      <p:sp>
        <p:nvSpPr>
          <p:cNvPr id="61" name="TextBox 60"/>
          <p:cNvSpPr txBox="1"/>
          <p:nvPr/>
        </p:nvSpPr>
        <p:spPr>
          <a:xfrm>
            <a:off x="7196328" y="2258568"/>
            <a:ext cx="2377440" cy="219456"/>
          </a:xfrm>
          <a:prstGeom prst="rect">
            <a:avLst/>
          </a:prstGeom>
          <a:noFill/>
        </p:spPr>
        <p:txBody>
          <a:bodyPr wrap="square" lIns="0" rIns="0" tIns="0" bIns="0" anchor="t">
            <a:spAutoFit/>
          </a:bodyPr>
          <a:lstStyle/>
          <a:p>
            <a:pPr algn="l"/>
            <a:r>
              <a:rPr sz="1150" b="1">
                <a:solidFill>
                  <a:srgbClr val="121313"/>
                </a:solidFill>
                <a:latin typeface="Arial"/>
              </a:rPr>
              <a:t>Cancelled or delayed</a:t>
            </a:r>
          </a:p>
        </p:txBody>
      </p:sp>
      <p:sp>
        <p:nvSpPr>
          <p:cNvPr id="62" name="TextBox 61"/>
          <p:cNvSpPr txBox="1"/>
          <p:nvPr/>
        </p:nvSpPr>
        <p:spPr>
          <a:xfrm>
            <a:off x="7196328" y="2514600"/>
            <a:ext cx="2377440" cy="521207"/>
          </a:xfrm>
          <a:prstGeom prst="rect">
            <a:avLst/>
          </a:prstGeom>
          <a:noFill/>
        </p:spPr>
        <p:txBody>
          <a:bodyPr wrap="square" lIns="0" rIns="0" tIns="0" bIns="0" anchor="t">
            <a:spAutoFit/>
          </a:bodyPr>
          <a:lstStyle/>
          <a:p>
            <a:pPr algn="l">
              <a:lnSpc>
                <a:spcPct val="144000"/>
              </a:lnSpc>
            </a:pPr>
            <a:r>
              <a:rPr sz="950" b="0">
                <a:solidFill>
                  <a:srgbClr val="44474B"/>
                </a:solidFill>
                <a:latin typeface="Arial"/>
              </a:rPr>
              <a:t>About 240 GWh of it in Germany alone, roughly a quarter of everything announced.</a:t>
            </a:r>
          </a:p>
        </p:txBody>
      </p:sp>
      <p:sp>
        <p:nvSpPr>
          <p:cNvPr id="63" name="TextBox 62"/>
          <p:cNvSpPr txBox="1"/>
          <p:nvPr/>
        </p:nvSpPr>
        <p:spPr>
          <a:xfrm>
            <a:off x="9756648" y="1783080"/>
            <a:ext cx="2423160" cy="530352"/>
          </a:xfrm>
          <a:prstGeom prst="rect">
            <a:avLst/>
          </a:prstGeom>
          <a:noFill/>
        </p:spPr>
        <p:txBody>
          <a:bodyPr wrap="square" lIns="0" rIns="0" tIns="0" bIns="0" anchor="t">
            <a:spAutoFit/>
          </a:bodyPr>
          <a:lstStyle/>
          <a:p>
            <a:pPr algn="l"/>
            <a:r>
              <a:rPr sz="3000" b="1" spc="-24">
                <a:solidFill>
                  <a:srgbClr val="2A66B0"/>
                </a:solidFill>
                <a:latin typeface="Arial"/>
              </a:rPr>
              <a:t>98</a:t>
            </a:r>
            <a:r>
              <a:rPr sz="1300" b="1">
                <a:solidFill>
                  <a:srgbClr val="2A66B0"/>
                </a:solidFill>
                <a:latin typeface="Arial"/>
              </a:rPr>
              <a:t>%</a:t>
            </a:r>
          </a:p>
        </p:txBody>
      </p:sp>
      <p:sp>
        <p:nvSpPr>
          <p:cNvPr id="64" name="TextBox 63"/>
          <p:cNvSpPr txBox="1"/>
          <p:nvPr/>
        </p:nvSpPr>
        <p:spPr>
          <a:xfrm>
            <a:off x="9756648" y="2258568"/>
            <a:ext cx="2423160" cy="219456"/>
          </a:xfrm>
          <a:prstGeom prst="rect">
            <a:avLst/>
          </a:prstGeom>
          <a:noFill/>
        </p:spPr>
        <p:txBody>
          <a:bodyPr wrap="square" lIns="0" rIns="0" tIns="0" bIns="0" anchor="t">
            <a:spAutoFit/>
          </a:bodyPr>
          <a:lstStyle/>
          <a:p>
            <a:pPr algn="l"/>
            <a:r>
              <a:rPr sz="1150" b="1">
                <a:solidFill>
                  <a:srgbClr val="121313"/>
                </a:solidFill>
                <a:latin typeface="Arial"/>
              </a:rPr>
              <a:t>Owned by Asian firms</a:t>
            </a:r>
          </a:p>
        </p:txBody>
      </p:sp>
      <p:sp>
        <p:nvSpPr>
          <p:cNvPr id="65" name="TextBox 64"/>
          <p:cNvSpPr txBox="1"/>
          <p:nvPr/>
        </p:nvSpPr>
        <p:spPr>
          <a:xfrm>
            <a:off x="9756648" y="2514600"/>
            <a:ext cx="2423160" cy="347472"/>
          </a:xfrm>
          <a:prstGeom prst="rect">
            <a:avLst/>
          </a:prstGeom>
          <a:noFill/>
        </p:spPr>
        <p:txBody>
          <a:bodyPr wrap="square" lIns="0" rIns="0" tIns="0" bIns="0" anchor="t">
            <a:spAutoFit/>
          </a:bodyPr>
          <a:lstStyle/>
          <a:p>
            <a:pPr algn="l">
              <a:lnSpc>
                <a:spcPct val="144000"/>
              </a:lnSpc>
            </a:pPr>
            <a:r>
              <a:rPr sz="950" b="0">
                <a:solidFill>
                  <a:srgbClr val="44474B"/>
                </a:solidFill>
                <a:latin typeface="Arial"/>
              </a:rPr>
              <a:t>of the battery capacity sitting on European soil.</a:t>
            </a:r>
          </a:p>
        </p:txBody>
      </p:sp>
      <p:sp>
        <p:nvSpPr>
          <p:cNvPr id="66" name="Rectangle 65"/>
          <p:cNvSpPr/>
          <p:nvPr/>
        </p:nvSpPr>
        <p:spPr>
          <a:xfrm>
            <a:off x="7196328" y="3645712"/>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7397496" y="3566160"/>
            <a:ext cx="4782312" cy="352044"/>
          </a:xfrm>
          <a:prstGeom prst="rect">
            <a:avLst/>
          </a:prstGeom>
          <a:noFill/>
        </p:spPr>
        <p:txBody>
          <a:bodyPr wrap="square" lIns="0" rIns="0" tIns="0" bIns="0" anchor="t">
            <a:spAutoFit/>
          </a:bodyPr>
          <a:lstStyle/>
          <a:p>
            <a:pPr algn="l">
              <a:lnSpc>
                <a:spcPct val="132000"/>
              </a:lnSpc>
            </a:pPr>
            <a:r>
              <a:rPr sz="1050" b="1">
                <a:solidFill>
                  <a:srgbClr val="121313"/>
                </a:solidFill>
                <a:latin typeface="Arial"/>
              </a:rPr>
              <a:t>Europe is not short of announcements. </a:t>
            </a:r>
            <a:r>
              <a:rPr sz="1050" b="0">
                <a:solidFill>
                  <a:srgbClr val="44474B"/>
                </a:solidFill>
                <a:latin typeface="Arial"/>
              </a:rPr>
              <a:t>It is short of factories that actually get finished, approved by customers and run properly.</a:t>
            </a:r>
          </a:p>
        </p:txBody>
      </p:sp>
      <p:sp>
        <p:nvSpPr>
          <p:cNvPr id="68" name="Rectangle 67"/>
          <p:cNvSpPr/>
          <p:nvPr/>
        </p:nvSpPr>
        <p:spPr>
          <a:xfrm>
            <a:off x="7196328" y="4162348"/>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7397496" y="4082796"/>
            <a:ext cx="4782312" cy="352044"/>
          </a:xfrm>
          <a:prstGeom prst="rect">
            <a:avLst/>
          </a:prstGeom>
          <a:noFill/>
        </p:spPr>
        <p:txBody>
          <a:bodyPr wrap="square" lIns="0" rIns="0" tIns="0" bIns="0" anchor="t">
            <a:spAutoFit/>
          </a:bodyPr>
          <a:lstStyle/>
          <a:p>
            <a:pPr algn="l">
              <a:lnSpc>
                <a:spcPct val="132000"/>
              </a:lnSpc>
            </a:pPr>
            <a:r>
              <a:rPr sz="1050" b="1">
                <a:solidFill>
                  <a:srgbClr val="121313"/>
                </a:solidFill>
                <a:latin typeface="Arial"/>
              </a:rPr>
              <a:t>Demand and realistic supply broadly meet. </a:t>
            </a:r>
            <a:r>
              <a:rPr sz="1050" b="0">
                <a:solidFill>
                  <a:srgbClr val="44474B"/>
                </a:solidFill>
                <a:latin typeface="Arial"/>
              </a:rPr>
              <a:t>The shortfall is against the promise, not the need.</a:t>
            </a:r>
          </a:p>
        </p:txBody>
      </p:sp>
      <p:sp>
        <p:nvSpPr>
          <p:cNvPr id="70" name="Rectangle 69"/>
          <p:cNvSpPr/>
          <p:nvPr/>
        </p:nvSpPr>
        <p:spPr>
          <a:xfrm>
            <a:off x="7196328" y="4678984"/>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7397496" y="4599431"/>
            <a:ext cx="4782312" cy="352044"/>
          </a:xfrm>
          <a:prstGeom prst="rect">
            <a:avLst/>
          </a:prstGeom>
          <a:noFill/>
        </p:spPr>
        <p:txBody>
          <a:bodyPr wrap="square" lIns="0" rIns="0" tIns="0" bIns="0" anchor="t">
            <a:spAutoFit/>
          </a:bodyPr>
          <a:lstStyle/>
          <a:p>
            <a:pPr algn="l">
              <a:lnSpc>
                <a:spcPct val="132000"/>
              </a:lnSpc>
            </a:pPr>
            <a:r>
              <a:rPr sz="1050" b="1">
                <a:solidFill>
                  <a:srgbClr val="121313"/>
                </a:solidFill>
                <a:latin typeface="Arial"/>
              </a:rPr>
              <a:t>Deloitte puts a price on the miss: </a:t>
            </a:r>
            <a:r>
              <a:rPr sz="1050" b="0">
                <a:solidFill>
                  <a:srgbClr val="44474B"/>
                </a:solidFill>
                <a:latin typeface="Arial"/>
              </a:rPr>
              <a:t>about ₹1.1 lakh crore of profit given up over four years.</a:t>
            </a:r>
          </a:p>
        </p:txBody>
      </p:sp>
      <p:sp>
        <p:nvSpPr>
          <p:cNvPr id="72" name="TextBox 71"/>
          <p:cNvSpPr txBox="1"/>
          <p:nvPr/>
        </p:nvSpPr>
        <p:spPr>
          <a:xfrm>
            <a:off x="658368" y="6126480"/>
            <a:ext cx="10874959" cy="310896"/>
          </a:xfrm>
          <a:prstGeom prst="rect">
            <a:avLst/>
          </a:prstGeom>
          <a:noFill/>
        </p:spPr>
        <p:txBody>
          <a:bodyPr wrap="square" lIns="0" rIns="0" tIns="0" bIns="0" anchor="t">
            <a:spAutoFit/>
          </a:bodyPr>
          <a:lstStyle/>
          <a:p>
            <a:pPr algn="l">
              <a:lnSpc>
                <a:spcPct val="134000"/>
              </a:lnSpc>
            </a:pPr>
            <a:r>
              <a:rPr sz="800" b="0">
                <a:solidFill>
                  <a:srgbClr val="9A9DA3"/>
                </a:solidFill>
                <a:latin typeface="Arial"/>
              </a:rPr>
              <a:t>Fraunhofer ISI risk model for the European battery ramp-up, data to December 2024 - Transport &amp; Environment, October 2026 - Deloitte via electrive, August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326319" cy="1005840"/>
          </a:xfrm>
          <a:prstGeom prst="rect">
            <a:avLst/>
          </a:prstGeom>
          <a:noFill/>
        </p:spPr>
        <p:txBody>
          <a:bodyPr wrap="square" lIns="0" rIns="0" tIns="0" bIns="0" anchor="t">
            <a:spAutoFit/>
          </a:bodyPr>
          <a:lstStyle/>
          <a:p>
            <a:pPr algn="l">
              <a:lnSpc>
                <a:spcPct val="104000"/>
              </a:lnSpc>
            </a:pPr>
            <a:r>
              <a:rPr sz="3100" b="1" spc="-22">
                <a:solidFill>
                  <a:srgbClr val="121313"/>
                </a:solidFill>
                <a:latin typeface="Arial"/>
              </a:rPr>
              <a:t>Seven of its nine European rivals are gone</a:t>
            </a:r>
          </a:p>
        </p:txBody>
      </p:sp>
      <p:sp>
        <p:nvSpPr>
          <p:cNvPr id="4" name="TextBox 3"/>
          <p:cNvSpPr txBox="1"/>
          <p:nvPr/>
        </p:nvSpPr>
        <p:spPr>
          <a:xfrm>
            <a:off x="658368" y="6464807"/>
            <a:ext cx="914400" cy="182880"/>
          </a:xfrm>
          <a:prstGeom prst="rect">
            <a:avLst/>
          </a:prstGeom>
          <a:noFill/>
        </p:spPr>
        <p:txBody>
          <a:bodyPr wrap="square" lIns="0" rIns="0" tIns="0" bIns="0" anchor="t">
            <a:spAutoFit/>
          </a:bodyPr>
          <a:lstStyle/>
          <a:p>
            <a:pPr algn="l"/>
            <a:r>
              <a:rPr sz="900" b="1">
                <a:solidFill>
                  <a:srgbClr val="808288"/>
                </a:solidFill>
                <a:latin typeface="Arial"/>
              </a:rPr>
              <a:t>7 / 16</a:t>
            </a:r>
          </a:p>
        </p:txBody>
      </p:sp>
      <p:sp>
        <p:nvSpPr>
          <p:cNvPr id="5" name="Rectangle 4"/>
          <p:cNvSpPr/>
          <p:nvPr/>
        </p:nvSpPr>
        <p:spPr>
          <a:xfrm>
            <a:off x="1371600"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83411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9662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275914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22165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8417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146689" y="6492240"/>
            <a:ext cx="43508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60920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07171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53423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99674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45926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92177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38429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4680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30932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521647" y="6464807"/>
            <a:ext cx="2011680" cy="182880"/>
          </a:xfrm>
          <a:prstGeom prst="rect">
            <a:avLst/>
          </a:prstGeom>
          <a:noFill/>
        </p:spPr>
        <p:txBody>
          <a:bodyPr wrap="square" lIns="0" rIns="0" tIns="0" bIns="0" anchor="t">
            <a:spAutoFit/>
          </a:bodyPr>
          <a:lstStyle/>
          <a:p>
            <a:pPr algn="r"/>
            <a:r>
              <a:rPr sz="900" b="0">
                <a:solidFill>
                  <a:srgbClr val="808288"/>
                </a:solidFill>
                <a:latin typeface="Arial"/>
              </a:rPr>
              <a:t>Part two: Europe tried</a:t>
            </a:r>
          </a:p>
        </p:txBody>
      </p:sp>
      <p:sp>
        <p:nvSpPr>
          <p:cNvPr id="22" name="Rounded Rectangle 21"/>
          <p:cNvSpPr/>
          <p:nvPr/>
        </p:nvSpPr>
        <p:spPr>
          <a:xfrm>
            <a:off x="658368" y="1783080"/>
            <a:ext cx="7132320" cy="40233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1993392"/>
            <a:ext cx="1344168" cy="182880"/>
          </a:xfrm>
          <a:prstGeom prst="rect">
            <a:avLst/>
          </a:prstGeom>
          <a:noFill/>
        </p:spPr>
        <p:txBody>
          <a:bodyPr wrap="square" lIns="0" rIns="0" tIns="0" bIns="0" anchor="t">
            <a:spAutoFit/>
          </a:bodyPr>
          <a:lstStyle/>
          <a:p>
            <a:pPr algn="l"/>
            <a:r>
              <a:rPr sz="900" b="1" spc="110">
                <a:solidFill>
                  <a:srgbClr val="9A9DA3"/>
                </a:solidFill>
                <a:latin typeface="Arial"/>
              </a:rPr>
              <a:t>COMPANY</a:t>
            </a:r>
          </a:p>
        </p:txBody>
      </p:sp>
      <p:sp>
        <p:nvSpPr>
          <p:cNvPr id="24" name="TextBox 23"/>
          <p:cNvSpPr txBox="1"/>
          <p:nvPr/>
        </p:nvSpPr>
        <p:spPr>
          <a:xfrm>
            <a:off x="2350008" y="1993392"/>
            <a:ext cx="978407" cy="182880"/>
          </a:xfrm>
          <a:prstGeom prst="rect">
            <a:avLst/>
          </a:prstGeom>
          <a:noFill/>
        </p:spPr>
        <p:txBody>
          <a:bodyPr wrap="square" lIns="0" rIns="0" tIns="0" bIns="0" anchor="t">
            <a:spAutoFit/>
          </a:bodyPr>
          <a:lstStyle/>
          <a:p>
            <a:pPr algn="l"/>
            <a:r>
              <a:rPr sz="900" b="1" spc="110">
                <a:solidFill>
                  <a:srgbClr val="9A9DA3"/>
                </a:solidFill>
                <a:latin typeface="Arial"/>
              </a:rPr>
              <a:t>WHERE</a:t>
            </a:r>
          </a:p>
        </p:txBody>
      </p:sp>
      <p:sp>
        <p:nvSpPr>
          <p:cNvPr id="25" name="TextBox 24"/>
          <p:cNvSpPr txBox="1"/>
          <p:nvPr/>
        </p:nvSpPr>
        <p:spPr>
          <a:xfrm>
            <a:off x="3401568" y="1993392"/>
            <a:ext cx="2990088" cy="182880"/>
          </a:xfrm>
          <a:prstGeom prst="rect">
            <a:avLst/>
          </a:prstGeom>
          <a:noFill/>
        </p:spPr>
        <p:txBody>
          <a:bodyPr wrap="square" lIns="0" rIns="0" tIns="0" bIns="0" anchor="t">
            <a:spAutoFit/>
          </a:bodyPr>
          <a:lstStyle/>
          <a:p>
            <a:pPr algn="l"/>
            <a:r>
              <a:rPr sz="900" b="1" spc="110">
                <a:solidFill>
                  <a:srgbClr val="9A9DA3"/>
                </a:solidFill>
                <a:latin typeface="Arial"/>
              </a:rPr>
              <a:t>WHAT HAPPENED</a:t>
            </a:r>
          </a:p>
        </p:txBody>
      </p:sp>
      <p:sp>
        <p:nvSpPr>
          <p:cNvPr id="26" name="TextBox 25"/>
          <p:cNvSpPr txBox="1"/>
          <p:nvPr/>
        </p:nvSpPr>
        <p:spPr>
          <a:xfrm>
            <a:off x="6464808" y="1993392"/>
            <a:ext cx="1024127" cy="182880"/>
          </a:xfrm>
          <a:prstGeom prst="rect">
            <a:avLst/>
          </a:prstGeom>
          <a:noFill/>
        </p:spPr>
        <p:txBody>
          <a:bodyPr wrap="square" lIns="0" rIns="0" tIns="0" bIns="0" anchor="t">
            <a:spAutoFit/>
          </a:bodyPr>
          <a:lstStyle/>
          <a:p>
            <a:pPr algn="l"/>
            <a:r>
              <a:rPr sz="900" b="1" spc="110">
                <a:solidFill>
                  <a:srgbClr val="9A9DA3"/>
                </a:solidFill>
                <a:latin typeface="Arial"/>
              </a:rPr>
              <a:t>MONEY GONE</a:t>
            </a:r>
          </a:p>
        </p:txBody>
      </p:sp>
      <p:sp>
        <p:nvSpPr>
          <p:cNvPr id="27" name="Rectangle 26"/>
          <p:cNvSpPr/>
          <p:nvPr/>
        </p:nvSpPr>
        <p:spPr>
          <a:xfrm>
            <a:off x="932688" y="2208276"/>
            <a:ext cx="6629400" cy="10972"/>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841248" y="2235708"/>
            <a:ext cx="6812280" cy="347472"/>
          </a:xfrm>
          <a:prstGeom prst="roundRect">
            <a:avLst>
              <a:gd name="adj" fmla="val 18000"/>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32688" y="2286000"/>
            <a:ext cx="1344168" cy="347472"/>
          </a:xfrm>
          <a:prstGeom prst="rect">
            <a:avLst/>
          </a:prstGeom>
          <a:noFill/>
        </p:spPr>
        <p:txBody>
          <a:bodyPr wrap="square" lIns="0" rIns="0" tIns="0" bIns="0" anchor="ctr">
            <a:spAutoFit/>
          </a:bodyPr>
          <a:lstStyle/>
          <a:p>
            <a:pPr algn="l"/>
            <a:r>
              <a:rPr sz="900" b="1">
                <a:solidFill>
                  <a:srgbClr val="121313"/>
                </a:solidFill>
                <a:latin typeface="Arial"/>
              </a:rPr>
              <a:t>Northvolt</a:t>
            </a:r>
          </a:p>
        </p:txBody>
      </p:sp>
      <p:sp>
        <p:nvSpPr>
          <p:cNvPr id="30" name="TextBox 29"/>
          <p:cNvSpPr txBox="1"/>
          <p:nvPr/>
        </p:nvSpPr>
        <p:spPr>
          <a:xfrm>
            <a:off x="2350008" y="2286000"/>
            <a:ext cx="978407" cy="347472"/>
          </a:xfrm>
          <a:prstGeom prst="rect">
            <a:avLst/>
          </a:prstGeom>
          <a:noFill/>
        </p:spPr>
        <p:txBody>
          <a:bodyPr wrap="square" lIns="0" rIns="0" tIns="0" bIns="0" anchor="ctr">
            <a:spAutoFit/>
          </a:bodyPr>
          <a:lstStyle/>
          <a:p>
            <a:pPr algn="l"/>
            <a:r>
              <a:rPr sz="900" b="0">
                <a:solidFill>
                  <a:srgbClr val="44474B"/>
                </a:solidFill>
                <a:latin typeface="Arial"/>
              </a:rPr>
              <a:t>Sweden</a:t>
            </a:r>
          </a:p>
        </p:txBody>
      </p:sp>
      <p:sp>
        <p:nvSpPr>
          <p:cNvPr id="31" name="TextBox 30"/>
          <p:cNvSpPr txBox="1"/>
          <p:nvPr/>
        </p:nvSpPr>
        <p:spPr>
          <a:xfrm>
            <a:off x="3401568" y="2286000"/>
            <a:ext cx="2990088" cy="347472"/>
          </a:xfrm>
          <a:prstGeom prst="rect">
            <a:avLst/>
          </a:prstGeom>
          <a:noFill/>
        </p:spPr>
        <p:txBody>
          <a:bodyPr wrap="square" lIns="0" rIns="0" tIns="0" bIns="0" anchor="ctr">
            <a:spAutoFit/>
          </a:bodyPr>
          <a:lstStyle/>
          <a:p>
            <a:pPr algn="l"/>
            <a:r>
              <a:rPr sz="900" b="0">
                <a:solidFill>
                  <a:srgbClr val="44474B"/>
                </a:solidFill>
                <a:latin typeface="Arial"/>
              </a:rPr>
              <a:t>Bankrupt Mar 2025. Shipped about 1 GWh against a 16 GWh target</a:t>
            </a:r>
          </a:p>
        </p:txBody>
      </p:sp>
      <p:sp>
        <p:nvSpPr>
          <p:cNvPr id="32" name="TextBox 31"/>
          <p:cNvSpPr txBox="1"/>
          <p:nvPr/>
        </p:nvSpPr>
        <p:spPr>
          <a:xfrm>
            <a:off x="6464808" y="2286000"/>
            <a:ext cx="1024127" cy="347472"/>
          </a:xfrm>
          <a:prstGeom prst="rect">
            <a:avLst/>
          </a:prstGeom>
          <a:noFill/>
        </p:spPr>
        <p:txBody>
          <a:bodyPr wrap="square" lIns="0" rIns="0" tIns="0" bIns="0" anchor="ctr">
            <a:spAutoFit/>
          </a:bodyPr>
          <a:lstStyle/>
          <a:p>
            <a:pPr algn="l"/>
            <a:r>
              <a:rPr sz="900" b="0">
                <a:solidFill>
                  <a:srgbClr val="44474B"/>
                </a:solidFill>
                <a:latin typeface="Arial"/>
              </a:rPr>
              <a:t>₹1.4 lakh cr</a:t>
            </a:r>
          </a:p>
        </p:txBody>
      </p:sp>
      <p:sp>
        <p:nvSpPr>
          <p:cNvPr id="33" name="TextBox 32"/>
          <p:cNvSpPr txBox="1"/>
          <p:nvPr/>
        </p:nvSpPr>
        <p:spPr>
          <a:xfrm>
            <a:off x="932688" y="2651760"/>
            <a:ext cx="1344168" cy="347472"/>
          </a:xfrm>
          <a:prstGeom prst="rect">
            <a:avLst/>
          </a:prstGeom>
          <a:noFill/>
        </p:spPr>
        <p:txBody>
          <a:bodyPr wrap="square" lIns="0" rIns="0" tIns="0" bIns="0" anchor="ctr">
            <a:spAutoFit/>
          </a:bodyPr>
          <a:lstStyle/>
          <a:p>
            <a:pPr algn="l"/>
            <a:r>
              <a:rPr sz="900" b="1">
                <a:solidFill>
                  <a:srgbClr val="121313"/>
                </a:solidFill>
                <a:latin typeface="Arial"/>
              </a:rPr>
              <a:t>Varta</a:t>
            </a:r>
          </a:p>
        </p:txBody>
      </p:sp>
      <p:sp>
        <p:nvSpPr>
          <p:cNvPr id="34" name="TextBox 33"/>
          <p:cNvSpPr txBox="1"/>
          <p:nvPr/>
        </p:nvSpPr>
        <p:spPr>
          <a:xfrm>
            <a:off x="2350008" y="2651760"/>
            <a:ext cx="978407" cy="347472"/>
          </a:xfrm>
          <a:prstGeom prst="rect">
            <a:avLst/>
          </a:prstGeom>
          <a:noFill/>
        </p:spPr>
        <p:txBody>
          <a:bodyPr wrap="square" lIns="0" rIns="0" tIns="0" bIns="0" anchor="ctr">
            <a:spAutoFit/>
          </a:bodyPr>
          <a:lstStyle/>
          <a:p>
            <a:pPr algn="l"/>
            <a:r>
              <a:rPr sz="900" b="0">
                <a:solidFill>
                  <a:srgbClr val="44474B"/>
                </a:solidFill>
                <a:latin typeface="Arial"/>
              </a:rPr>
              <a:t>Germany</a:t>
            </a:r>
          </a:p>
        </p:txBody>
      </p:sp>
      <p:sp>
        <p:nvSpPr>
          <p:cNvPr id="35" name="TextBox 34"/>
          <p:cNvSpPr txBox="1"/>
          <p:nvPr/>
        </p:nvSpPr>
        <p:spPr>
          <a:xfrm>
            <a:off x="3401568" y="2651760"/>
            <a:ext cx="2990088" cy="347472"/>
          </a:xfrm>
          <a:prstGeom prst="rect">
            <a:avLst/>
          </a:prstGeom>
          <a:noFill/>
        </p:spPr>
        <p:txBody>
          <a:bodyPr wrap="square" lIns="0" rIns="0" tIns="0" bIns="0" anchor="ctr">
            <a:spAutoFit/>
          </a:bodyPr>
          <a:lstStyle/>
          <a:p>
            <a:pPr algn="l"/>
            <a:r>
              <a:rPr sz="900" b="0">
                <a:solidFill>
                  <a:srgbClr val="44474B"/>
                </a:solidFill>
                <a:latin typeface="Arial"/>
              </a:rPr>
              <a:t>Rescued in 2024, then filed insolvency again in Jul 2026</a:t>
            </a:r>
          </a:p>
        </p:txBody>
      </p:sp>
      <p:sp>
        <p:nvSpPr>
          <p:cNvPr id="36" name="TextBox 35"/>
          <p:cNvSpPr txBox="1"/>
          <p:nvPr/>
        </p:nvSpPr>
        <p:spPr>
          <a:xfrm>
            <a:off x="6464808" y="2651760"/>
            <a:ext cx="1024127" cy="347472"/>
          </a:xfrm>
          <a:prstGeom prst="rect">
            <a:avLst/>
          </a:prstGeom>
          <a:noFill/>
        </p:spPr>
        <p:txBody>
          <a:bodyPr wrap="square" lIns="0" rIns="0" tIns="0" bIns="0" anchor="ctr">
            <a:spAutoFit/>
          </a:bodyPr>
          <a:lstStyle/>
          <a:p>
            <a:pPr algn="l"/>
            <a:r>
              <a:rPr sz="900" b="0">
                <a:solidFill>
                  <a:srgbClr val="44474B"/>
                </a:solidFill>
                <a:latin typeface="Arial"/>
              </a:rPr>
              <a:t>₹3,000 crore</a:t>
            </a:r>
          </a:p>
        </p:txBody>
      </p:sp>
      <p:sp>
        <p:nvSpPr>
          <p:cNvPr id="37" name="Rounded Rectangle 36"/>
          <p:cNvSpPr/>
          <p:nvPr/>
        </p:nvSpPr>
        <p:spPr>
          <a:xfrm>
            <a:off x="841248" y="2967227"/>
            <a:ext cx="6812280" cy="347472"/>
          </a:xfrm>
          <a:prstGeom prst="roundRect">
            <a:avLst>
              <a:gd name="adj" fmla="val 18000"/>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32688" y="3017520"/>
            <a:ext cx="1344168" cy="347472"/>
          </a:xfrm>
          <a:prstGeom prst="rect">
            <a:avLst/>
          </a:prstGeom>
          <a:noFill/>
        </p:spPr>
        <p:txBody>
          <a:bodyPr wrap="square" lIns="0" rIns="0" tIns="0" bIns="0" anchor="ctr">
            <a:spAutoFit/>
          </a:bodyPr>
          <a:lstStyle/>
          <a:p>
            <a:pPr algn="l"/>
            <a:r>
              <a:rPr sz="900" b="1">
                <a:solidFill>
                  <a:srgbClr val="121313"/>
                </a:solidFill>
                <a:latin typeface="Arial"/>
              </a:rPr>
              <a:t>Morrow</a:t>
            </a:r>
          </a:p>
        </p:txBody>
      </p:sp>
      <p:sp>
        <p:nvSpPr>
          <p:cNvPr id="39" name="TextBox 38"/>
          <p:cNvSpPr txBox="1"/>
          <p:nvPr/>
        </p:nvSpPr>
        <p:spPr>
          <a:xfrm>
            <a:off x="2350008" y="3017520"/>
            <a:ext cx="978407" cy="347472"/>
          </a:xfrm>
          <a:prstGeom prst="rect">
            <a:avLst/>
          </a:prstGeom>
          <a:noFill/>
        </p:spPr>
        <p:txBody>
          <a:bodyPr wrap="square" lIns="0" rIns="0" tIns="0" bIns="0" anchor="ctr">
            <a:spAutoFit/>
          </a:bodyPr>
          <a:lstStyle/>
          <a:p>
            <a:pPr algn="l"/>
            <a:r>
              <a:rPr sz="900" b="0">
                <a:solidFill>
                  <a:srgbClr val="44474B"/>
                </a:solidFill>
                <a:latin typeface="Arial"/>
              </a:rPr>
              <a:t>Norway</a:t>
            </a:r>
          </a:p>
        </p:txBody>
      </p:sp>
      <p:sp>
        <p:nvSpPr>
          <p:cNvPr id="40" name="TextBox 39"/>
          <p:cNvSpPr txBox="1"/>
          <p:nvPr/>
        </p:nvSpPr>
        <p:spPr>
          <a:xfrm>
            <a:off x="3401568" y="3017520"/>
            <a:ext cx="2990088" cy="347472"/>
          </a:xfrm>
          <a:prstGeom prst="rect">
            <a:avLst/>
          </a:prstGeom>
          <a:noFill/>
        </p:spPr>
        <p:txBody>
          <a:bodyPr wrap="square" lIns="0" rIns="0" tIns="0" bIns="0" anchor="ctr">
            <a:spAutoFit/>
          </a:bodyPr>
          <a:lstStyle/>
          <a:p>
            <a:pPr algn="l"/>
            <a:r>
              <a:rPr sz="900" b="0">
                <a:solidFill>
                  <a:srgbClr val="44474B"/>
                </a:solidFill>
                <a:latin typeface="Arial"/>
              </a:rPr>
              <a:t>Bankrupt May 2026, weeks after starting production</a:t>
            </a:r>
          </a:p>
        </p:txBody>
      </p:sp>
      <p:sp>
        <p:nvSpPr>
          <p:cNvPr id="41" name="TextBox 40"/>
          <p:cNvSpPr txBox="1"/>
          <p:nvPr/>
        </p:nvSpPr>
        <p:spPr>
          <a:xfrm>
            <a:off x="6464808" y="3017520"/>
            <a:ext cx="1024127" cy="347472"/>
          </a:xfrm>
          <a:prstGeom prst="rect">
            <a:avLst/>
          </a:prstGeom>
          <a:noFill/>
        </p:spPr>
        <p:txBody>
          <a:bodyPr wrap="square" lIns="0" rIns="0" tIns="0" bIns="0" anchor="ctr">
            <a:spAutoFit/>
          </a:bodyPr>
          <a:lstStyle/>
          <a:p>
            <a:pPr algn="l"/>
            <a:r>
              <a:rPr sz="900" b="0">
                <a:solidFill>
                  <a:srgbClr val="44474B"/>
                </a:solidFill>
                <a:latin typeface="Arial"/>
              </a:rPr>
              <a:t>₹4,600 crore</a:t>
            </a:r>
          </a:p>
        </p:txBody>
      </p:sp>
      <p:sp>
        <p:nvSpPr>
          <p:cNvPr id="42" name="TextBox 41"/>
          <p:cNvSpPr txBox="1"/>
          <p:nvPr/>
        </p:nvSpPr>
        <p:spPr>
          <a:xfrm>
            <a:off x="932688" y="3383279"/>
            <a:ext cx="1344168" cy="347472"/>
          </a:xfrm>
          <a:prstGeom prst="rect">
            <a:avLst/>
          </a:prstGeom>
          <a:noFill/>
        </p:spPr>
        <p:txBody>
          <a:bodyPr wrap="square" lIns="0" rIns="0" tIns="0" bIns="0" anchor="ctr">
            <a:spAutoFit/>
          </a:bodyPr>
          <a:lstStyle/>
          <a:p>
            <a:pPr algn="l"/>
            <a:r>
              <a:rPr sz="900" b="1">
                <a:solidFill>
                  <a:srgbClr val="121313"/>
                </a:solidFill>
                <a:latin typeface="Arial"/>
              </a:rPr>
              <a:t>CustomCells</a:t>
            </a:r>
          </a:p>
        </p:txBody>
      </p:sp>
      <p:sp>
        <p:nvSpPr>
          <p:cNvPr id="43" name="TextBox 42"/>
          <p:cNvSpPr txBox="1"/>
          <p:nvPr/>
        </p:nvSpPr>
        <p:spPr>
          <a:xfrm>
            <a:off x="2350008" y="3383279"/>
            <a:ext cx="978407" cy="347472"/>
          </a:xfrm>
          <a:prstGeom prst="rect">
            <a:avLst/>
          </a:prstGeom>
          <a:noFill/>
        </p:spPr>
        <p:txBody>
          <a:bodyPr wrap="square" lIns="0" rIns="0" tIns="0" bIns="0" anchor="ctr">
            <a:spAutoFit/>
          </a:bodyPr>
          <a:lstStyle/>
          <a:p>
            <a:pPr algn="l"/>
            <a:r>
              <a:rPr sz="900" b="0">
                <a:solidFill>
                  <a:srgbClr val="44474B"/>
                </a:solidFill>
                <a:latin typeface="Arial"/>
              </a:rPr>
              <a:t>Germany</a:t>
            </a:r>
          </a:p>
        </p:txBody>
      </p:sp>
      <p:sp>
        <p:nvSpPr>
          <p:cNvPr id="44" name="TextBox 43"/>
          <p:cNvSpPr txBox="1"/>
          <p:nvPr/>
        </p:nvSpPr>
        <p:spPr>
          <a:xfrm>
            <a:off x="3401568" y="3383279"/>
            <a:ext cx="2990088" cy="347472"/>
          </a:xfrm>
          <a:prstGeom prst="rect">
            <a:avLst/>
          </a:prstGeom>
          <a:noFill/>
        </p:spPr>
        <p:txBody>
          <a:bodyPr wrap="square" lIns="0" rIns="0" tIns="0" bIns="0" anchor="ctr">
            <a:spAutoFit/>
          </a:bodyPr>
          <a:lstStyle/>
          <a:p>
            <a:pPr algn="l"/>
            <a:r>
              <a:rPr sz="900" b="0">
                <a:solidFill>
                  <a:srgbClr val="44474B"/>
                </a:solidFill>
                <a:latin typeface="Arial"/>
              </a:rPr>
              <a:t>Insolvent 2025 when its one big customer did not pay</a:t>
            </a:r>
          </a:p>
        </p:txBody>
      </p:sp>
      <p:sp>
        <p:nvSpPr>
          <p:cNvPr id="45" name="TextBox 44"/>
          <p:cNvSpPr txBox="1"/>
          <p:nvPr/>
        </p:nvSpPr>
        <p:spPr>
          <a:xfrm>
            <a:off x="6464808" y="3383279"/>
            <a:ext cx="1024127" cy="347472"/>
          </a:xfrm>
          <a:prstGeom prst="rect">
            <a:avLst/>
          </a:prstGeom>
          <a:noFill/>
        </p:spPr>
        <p:txBody>
          <a:bodyPr wrap="square" lIns="0" rIns="0" tIns="0" bIns="0" anchor="ctr">
            <a:spAutoFit/>
          </a:bodyPr>
          <a:lstStyle/>
          <a:p>
            <a:pPr algn="l"/>
            <a:r>
              <a:rPr sz="900" b="0">
                <a:solidFill>
                  <a:srgbClr val="44474B"/>
                </a:solidFill>
                <a:latin typeface="Arial"/>
              </a:rPr>
              <a:t>not disclosed</a:t>
            </a:r>
          </a:p>
        </p:txBody>
      </p:sp>
      <p:sp>
        <p:nvSpPr>
          <p:cNvPr id="46" name="Rounded Rectangle 45"/>
          <p:cNvSpPr/>
          <p:nvPr/>
        </p:nvSpPr>
        <p:spPr>
          <a:xfrm>
            <a:off x="841248" y="3698748"/>
            <a:ext cx="6812280" cy="347472"/>
          </a:xfrm>
          <a:prstGeom prst="roundRect">
            <a:avLst>
              <a:gd name="adj" fmla="val 18000"/>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932688" y="3749039"/>
            <a:ext cx="1344168" cy="347472"/>
          </a:xfrm>
          <a:prstGeom prst="rect">
            <a:avLst/>
          </a:prstGeom>
          <a:noFill/>
        </p:spPr>
        <p:txBody>
          <a:bodyPr wrap="square" lIns="0" rIns="0" tIns="0" bIns="0" anchor="ctr">
            <a:spAutoFit/>
          </a:bodyPr>
          <a:lstStyle/>
          <a:p>
            <a:pPr algn="l"/>
            <a:r>
              <a:rPr sz="900" b="1">
                <a:solidFill>
                  <a:srgbClr val="121313"/>
                </a:solidFill>
                <a:latin typeface="Arial"/>
              </a:rPr>
              <a:t>Britishvolt</a:t>
            </a:r>
          </a:p>
        </p:txBody>
      </p:sp>
      <p:sp>
        <p:nvSpPr>
          <p:cNvPr id="48" name="TextBox 47"/>
          <p:cNvSpPr txBox="1"/>
          <p:nvPr/>
        </p:nvSpPr>
        <p:spPr>
          <a:xfrm>
            <a:off x="2350008" y="3749039"/>
            <a:ext cx="978407" cy="347472"/>
          </a:xfrm>
          <a:prstGeom prst="rect">
            <a:avLst/>
          </a:prstGeom>
          <a:noFill/>
        </p:spPr>
        <p:txBody>
          <a:bodyPr wrap="square" lIns="0" rIns="0" tIns="0" bIns="0" anchor="ctr">
            <a:spAutoFit/>
          </a:bodyPr>
          <a:lstStyle/>
          <a:p>
            <a:pPr algn="l"/>
            <a:r>
              <a:rPr sz="900" b="0">
                <a:solidFill>
                  <a:srgbClr val="44474B"/>
                </a:solidFill>
                <a:latin typeface="Arial"/>
              </a:rPr>
              <a:t>UK</a:t>
            </a:r>
          </a:p>
        </p:txBody>
      </p:sp>
      <p:sp>
        <p:nvSpPr>
          <p:cNvPr id="49" name="TextBox 48"/>
          <p:cNvSpPr txBox="1"/>
          <p:nvPr/>
        </p:nvSpPr>
        <p:spPr>
          <a:xfrm>
            <a:off x="3401568" y="3749039"/>
            <a:ext cx="2990088" cy="347472"/>
          </a:xfrm>
          <a:prstGeom prst="rect">
            <a:avLst/>
          </a:prstGeom>
          <a:noFill/>
        </p:spPr>
        <p:txBody>
          <a:bodyPr wrap="square" lIns="0" rIns="0" tIns="0" bIns="0" anchor="ctr">
            <a:spAutoFit/>
          </a:bodyPr>
          <a:lstStyle/>
          <a:p>
            <a:pPr algn="l"/>
            <a:r>
              <a:rPr sz="900" b="0">
                <a:solidFill>
                  <a:srgbClr val="44474B"/>
                </a:solidFill>
                <a:latin typeface="Arial"/>
              </a:rPr>
              <a:t>Administration Jan 2023. The 30 GWh plant was never built</a:t>
            </a:r>
          </a:p>
        </p:txBody>
      </p:sp>
      <p:sp>
        <p:nvSpPr>
          <p:cNvPr id="50" name="TextBox 49"/>
          <p:cNvSpPr txBox="1"/>
          <p:nvPr/>
        </p:nvSpPr>
        <p:spPr>
          <a:xfrm>
            <a:off x="6464808" y="3749039"/>
            <a:ext cx="1024127" cy="347472"/>
          </a:xfrm>
          <a:prstGeom prst="rect">
            <a:avLst/>
          </a:prstGeom>
          <a:noFill/>
        </p:spPr>
        <p:txBody>
          <a:bodyPr wrap="square" lIns="0" rIns="0" tIns="0" bIns="0" anchor="ctr">
            <a:spAutoFit/>
          </a:bodyPr>
          <a:lstStyle/>
          <a:p>
            <a:pPr algn="l"/>
            <a:r>
              <a:rPr sz="900" b="0">
                <a:solidFill>
                  <a:srgbClr val="44474B"/>
                </a:solidFill>
                <a:latin typeface="Arial"/>
              </a:rPr>
              <a:t>₹49,200 crore</a:t>
            </a:r>
          </a:p>
        </p:txBody>
      </p:sp>
      <p:sp>
        <p:nvSpPr>
          <p:cNvPr id="51" name="TextBox 50"/>
          <p:cNvSpPr txBox="1"/>
          <p:nvPr/>
        </p:nvSpPr>
        <p:spPr>
          <a:xfrm>
            <a:off x="932688" y="4114800"/>
            <a:ext cx="1344168" cy="347472"/>
          </a:xfrm>
          <a:prstGeom prst="rect">
            <a:avLst/>
          </a:prstGeom>
          <a:noFill/>
        </p:spPr>
        <p:txBody>
          <a:bodyPr wrap="square" lIns="0" rIns="0" tIns="0" bIns="0" anchor="ctr">
            <a:spAutoFit/>
          </a:bodyPr>
          <a:lstStyle/>
          <a:p>
            <a:pPr algn="l"/>
            <a:r>
              <a:rPr sz="900" b="1">
                <a:solidFill>
                  <a:srgbClr val="121313"/>
                </a:solidFill>
                <a:latin typeface="Arial"/>
              </a:rPr>
              <a:t>Leclanche DE</a:t>
            </a:r>
          </a:p>
        </p:txBody>
      </p:sp>
      <p:sp>
        <p:nvSpPr>
          <p:cNvPr id="52" name="TextBox 51"/>
          <p:cNvSpPr txBox="1"/>
          <p:nvPr/>
        </p:nvSpPr>
        <p:spPr>
          <a:xfrm>
            <a:off x="2350008" y="4114800"/>
            <a:ext cx="978407" cy="347472"/>
          </a:xfrm>
          <a:prstGeom prst="rect">
            <a:avLst/>
          </a:prstGeom>
          <a:noFill/>
        </p:spPr>
        <p:txBody>
          <a:bodyPr wrap="square" lIns="0" rIns="0" tIns="0" bIns="0" anchor="ctr">
            <a:spAutoFit/>
          </a:bodyPr>
          <a:lstStyle/>
          <a:p>
            <a:pPr algn="l"/>
            <a:r>
              <a:rPr sz="900" b="0">
                <a:solidFill>
                  <a:srgbClr val="44474B"/>
                </a:solidFill>
                <a:latin typeface="Arial"/>
              </a:rPr>
              <a:t>Germany</a:t>
            </a:r>
          </a:p>
        </p:txBody>
      </p:sp>
      <p:sp>
        <p:nvSpPr>
          <p:cNvPr id="53" name="TextBox 52"/>
          <p:cNvSpPr txBox="1"/>
          <p:nvPr/>
        </p:nvSpPr>
        <p:spPr>
          <a:xfrm>
            <a:off x="3401568" y="4114800"/>
            <a:ext cx="2990088" cy="347472"/>
          </a:xfrm>
          <a:prstGeom prst="rect">
            <a:avLst/>
          </a:prstGeom>
          <a:noFill/>
        </p:spPr>
        <p:txBody>
          <a:bodyPr wrap="square" lIns="0" rIns="0" tIns="0" bIns="0" anchor="ctr">
            <a:spAutoFit/>
          </a:bodyPr>
          <a:lstStyle/>
          <a:p>
            <a:pPr algn="l"/>
            <a:r>
              <a:rPr sz="900" b="0">
                <a:solidFill>
                  <a:srgbClr val="44474B"/>
                </a:solidFill>
                <a:latin typeface="Arial"/>
              </a:rPr>
              <a:t>German units filed insolvency in Sep 2026</a:t>
            </a:r>
          </a:p>
        </p:txBody>
      </p:sp>
      <p:sp>
        <p:nvSpPr>
          <p:cNvPr id="54" name="TextBox 53"/>
          <p:cNvSpPr txBox="1"/>
          <p:nvPr/>
        </p:nvSpPr>
        <p:spPr>
          <a:xfrm>
            <a:off x="6464808" y="4114800"/>
            <a:ext cx="1024127" cy="347472"/>
          </a:xfrm>
          <a:prstGeom prst="rect">
            <a:avLst/>
          </a:prstGeom>
          <a:noFill/>
        </p:spPr>
        <p:txBody>
          <a:bodyPr wrap="square" lIns="0" rIns="0" tIns="0" bIns="0" anchor="ctr">
            <a:spAutoFit/>
          </a:bodyPr>
          <a:lstStyle/>
          <a:p>
            <a:pPr algn="l"/>
            <a:r>
              <a:rPr sz="900" b="0">
                <a:solidFill>
                  <a:srgbClr val="44474B"/>
                </a:solidFill>
                <a:latin typeface="Arial"/>
              </a:rPr>
              <a:t>not disclosed</a:t>
            </a:r>
          </a:p>
        </p:txBody>
      </p:sp>
      <p:sp>
        <p:nvSpPr>
          <p:cNvPr id="55" name="Rounded Rectangle 54"/>
          <p:cNvSpPr/>
          <p:nvPr/>
        </p:nvSpPr>
        <p:spPr>
          <a:xfrm>
            <a:off x="841248" y="4430268"/>
            <a:ext cx="6812280" cy="347472"/>
          </a:xfrm>
          <a:prstGeom prst="roundRect">
            <a:avLst>
              <a:gd name="adj" fmla="val 18000"/>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932688" y="4480560"/>
            <a:ext cx="1344168" cy="347472"/>
          </a:xfrm>
          <a:prstGeom prst="rect">
            <a:avLst/>
          </a:prstGeom>
          <a:noFill/>
        </p:spPr>
        <p:txBody>
          <a:bodyPr wrap="square" lIns="0" rIns="0" tIns="0" bIns="0" anchor="ctr">
            <a:spAutoFit/>
          </a:bodyPr>
          <a:lstStyle/>
          <a:p>
            <a:pPr algn="l"/>
            <a:r>
              <a:rPr sz="900" b="1">
                <a:solidFill>
                  <a:srgbClr val="121313"/>
                </a:solidFill>
                <a:latin typeface="Arial"/>
              </a:rPr>
              <a:t>Cellforce</a:t>
            </a:r>
          </a:p>
        </p:txBody>
      </p:sp>
      <p:sp>
        <p:nvSpPr>
          <p:cNvPr id="57" name="TextBox 56"/>
          <p:cNvSpPr txBox="1"/>
          <p:nvPr/>
        </p:nvSpPr>
        <p:spPr>
          <a:xfrm>
            <a:off x="2350008" y="4480560"/>
            <a:ext cx="978407" cy="347472"/>
          </a:xfrm>
          <a:prstGeom prst="rect">
            <a:avLst/>
          </a:prstGeom>
          <a:noFill/>
        </p:spPr>
        <p:txBody>
          <a:bodyPr wrap="square" lIns="0" rIns="0" tIns="0" bIns="0" anchor="ctr">
            <a:spAutoFit/>
          </a:bodyPr>
          <a:lstStyle/>
          <a:p>
            <a:pPr algn="l"/>
            <a:r>
              <a:rPr sz="900" b="0">
                <a:solidFill>
                  <a:srgbClr val="44474B"/>
                </a:solidFill>
                <a:latin typeface="Arial"/>
              </a:rPr>
              <a:t>Germany</a:t>
            </a:r>
          </a:p>
        </p:txBody>
      </p:sp>
      <p:sp>
        <p:nvSpPr>
          <p:cNvPr id="58" name="TextBox 57"/>
          <p:cNvSpPr txBox="1"/>
          <p:nvPr/>
        </p:nvSpPr>
        <p:spPr>
          <a:xfrm>
            <a:off x="3401568" y="4480560"/>
            <a:ext cx="2990088" cy="347472"/>
          </a:xfrm>
          <a:prstGeom prst="rect">
            <a:avLst/>
          </a:prstGeom>
          <a:noFill/>
        </p:spPr>
        <p:txBody>
          <a:bodyPr wrap="square" lIns="0" rIns="0" tIns="0" bIns="0" anchor="ctr">
            <a:spAutoFit/>
          </a:bodyPr>
          <a:lstStyle/>
          <a:p>
            <a:pPr algn="l"/>
            <a:r>
              <a:rPr sz="900" b="0">
                <a:solidFill>
                  <a:srgbClr val="44474B"/>
                </a:solidFill>
                <a:latin typeface="Arial"/>
              </a:rPr>
              <a:t>Porsche's cell venture, closed completely in May 2026</a:t>
            </a:r>
          </a:p>
        </p:txBody>
      </p:sp>
      <p:sp>
        <p:nvSpPr>
          <p:cNvPr id="59" name="TextBox 58"/>
          <p:cNvSpPr txBox="1"/>
          <p:nvPr/>
        </p:nvSpPr>
        <p:spPr>
          <a:xfrm>
            <a:off x="6464808" y="4480560"/>
            <a:ext cx="1024127" cy="347472"/>
          </a:xfrm>
          <a:prstGeom prst="rect">
            <a:avLst/>
          </a:prstGeom>
          <a:noFill/>
        </p:spPr>
        <p:txBody>
          <a:bodyPr wrap="square" lIns="0" rIns="0" tIns="0" bIns="0" anchor="ctr">
            <a:spAutoFit/>
          </a:bodyPr>
          <a:lstStyle/>
          <a:p>
            <a:pPr algn="l"/>
            <a:r>
              <a:rPr sz="900" b="0">
                <a:solidFill>
                  <a:srgbClr val="44474B"/>
                </a:solidFill>
                <a:latin typeface="Arial"/>
              </a:rPr>
              <a:t>not disclosed</a:t>
            </a:r>
          </a:p>
        </p:txBody>
      </p:sp>
      <p:sp>
        <p:nvSpPr>
          <p:cNvPr id="60" name="TextBox 59"/>
          <p:cNvSpPr txBox="1"/>
          <p:nvPr/>
        </p:nvSpPr>
        <p:spPr>
          <a:xfrm>
            <a:off x="932688" y="4846320"/>
            <a:ext cx="1344168" cy="347472"/>
          </a:xfrm>
          <a:prstGeom prst="rect">
            <a:avLst/>
          </a:prstGeom>
          <a:noFill/>
        </p:spPr>
        <p:txBody>
          <a:bodyPr wrap="square" lIns="0" rIns="0" tIns="0" bIns="0" anchor="ctr">
            <a:spAutoFit/>
          </a:bodyPr>
          <a:lstStyle/>
          <a:p>
            <a:pPr algn="l"/>
            <a:r>
              <a:rPr sz="900" b="1">
                <a:solidFill>
                  <a:srgbClr val="121313"/>
                </a:solidFill>
                <a:latin typeface="Arial"/>
              </a:rPr>
              <a:t>ACC</a:t>
            </a:r>
          </a:p>
        </p:txBody>
      </p:sp>
      <p:sp>
        <p:nvSpPr>
          <p:cNvPr id="61" name="TextBox 60"/>
          <p:cNvSpPr txBox="1"/>
          <p:nvPr/>
        </p:nvSpPr>
        <p:spPr>
          <a:xfrm>
            <a:off x="2350008" y="4846320"/>
            <a:ext cx="978407" cy="347472"/>
          </a:xfrm>
          <a:prstGeom prst="rect">
            <a:avLst/>
          </a:prstGeom>
          <a:noFill/>
        </p:spPr>
        <p:txBody>
          <a:bodyPr wrap="square" lIns="0" rIns="0" tIns="0" bIns="0" anchor="ctr">
            <a:spAutoFit/>
          </a:bodyPr>
          <a:lstStyle/>
          <a:p>
            <a:pPr algn="l"/>
            <a:r>
              <a:rPr sz="900" b="0">
                <a:solidFill>
                  <a:srgbClr val="44474B"/>
                </a:solidFill>
                <a:latin typeface="Arial"/>
              </a:rPr>
              <a:t>France</a:t>
            </a:r>
          </a:p>
        </p:txBody>
      </p:sp>
      <p:sp>
        <p:nvSpPr>
          <p:cNvPr id="62" name="TextBox 61"/>
          <p:cNvSpPr txBox="1"/>
          <p:nvPr/>
        </p:nvSpPr>
        <p:spPr>
          <a:xfrm>
            <a:off x="3401568" y="4846320"/>
            <a:ext cx="2990088" cy="347472"/>
          </a:xfrm>
          <a:prstGeom prst="rect">
            <a:avLst/>
          </a:prstGeom>
          <a:noFill/>
        </p:spPr>
        <p:txBody>
          <a:bodyPr wrap="square" lIns="0" rIns="0" tIns="0" bIns="0" anchor="ctr">
            <a:spAutoFit/>
          </a:bodyPr>
          <a:lstStyle/>
          <a:p>
            <a:pPr algn="l"/>
            <a:r>
              <a:rPr sz="900" b="0">
                <a:solidFill>
                  <a:srgbClr val="44474B"/>
                </a:solidFill>
                <a:latin typeface="Arial"/>
              </a:rPr>
              <a:t>Two plants cancelled, replaced by a CATL deal</a:t>
            </a:r>
          </a:p>
        </p:txBody>
      </p:sp>
      <p:sp>
        <p:nvSpPr>
          <p:cNvPr id="63" name="TextBox 62"/>
          <p:cNvSpPr txBox="1"/>
          <p:nvPr/>
        </p:nvSpPr>
        <p:spPr>
          <a:xfrm>
            <a:off x="6464808" y="4846320"/>
            <a:ext cx="1024127" cy="347472"/>
          </a:xfrm>
          <a:prstGeom prst="rect">
            <a:avLst/>
          </a:prstGeom>
          <a:noFill/>
        </p:spPr>
        <p:txBody>
          <a:bodyPr wrap="square" lIns="0" rIns="0" tIns="0" bIns="0" anchor="ctr">
            <a:spAutoFit/>
          </a:bodyPr>
          <a:lstStyle/>
          <a:p>
            <a:pPr algn="l"/>
            <a:r>
              <a:rPr sz="900" b="0">
                <a:solidFill>
                  <a:srgbClr val="44474B"/>
                </a:solidFill>
                <a:latin typeface="Arial"/>
              </a:rPr>
              <a:t>not disclosed</a:t>
            </a:r>
          </a:p>
        </p:txBody>
      </p:sp>
      <p:sp>
        <p:nvSpPr>
          <p:cNvPr id="64" name="Rounded Rectangle 63"/>
          <p:cNvSpPr/>
          <p:nvPr/>
        </p:nvSpPr>
        <p:spPr>
          <a:xfrm>
            <a:off x="8156448" y="1783080"/>
            <a:ext cx="4041648" cy="1298448"/>
          </a:xfrm>
          <a:prstGeom prst="roundRect">
            <a:avLst>
              <a:gd name="adj" fmla="val 7000"/>
            </a:avLst>
          </a:prstGeom>
          <a:solidFill>
            <a:srgbClr val="FF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8394192" y="1947672"/>
            <a:ext cx="3566160" cy="182880"/>
          </a:xfrm>
          <a:prstGeom prst="rect">
            <a:avLst/>
          </a:prstGeom>
          <a:noFill/>
        </p:spPr>
        <p:txBody>
          <a:bodyPr wrap="square" lIns="0" rIns="0" tIns="0" bIns="0" anchor="t">
            <a:spAutoFit/>
          </a:bodyPr>
          <a:lstStyle/>
          <a:p>
            <a:pPr algn="l"/>
            <a:r>
              <a:rPr sz="1050" b="1">
                <a:solidFill>
                  <a:srgbClr val="D2541F"/>
                </a:solidFill>
                <a:latin typeface="Arial"/>
              </a:rPr>
              <a:t>The warning</a:t>
            </a:r>
          </a:p>
        </p:txBody>
      </p:sp>
      <p:sp>
        <p:nvSpPr>
          <p:cNvPr id="66" name="TextBox 65"/>
          <p:cNvSpPr txBox="1"/>
          <p:nvPr/>
        </p:nvSpPr>
        <p:spPr>
          <a:xfrm>
            <a:off x="8394192" y="2167128"/>
            <a:ext cx="3566160" cy="786383"/>
          </a:xfrm>
          <a:prstGeom prst="rect">
            <a:avLst/>
          </a:prstGeom>
          <a:noFill/>
        </p:spPr>
        <p:txBody>
          <a:bodyPr wrap="square" lIns="0" rIns="0" tIns="0" bIns="0" anchor="t">
            <a:spAutoFit/>
          </a:bodyPr>
          <a:lstStyle/>
          <a:p>
            <a:pPr algn="l">
              <a:lnSpc>
                <a:spcPct val="134000"/>
              </a:lnSpc>
            </a:pPr>
            <a:r>
              <a:rPr sz="1050" b="0">
                <a:solidFill>
                  <a:srgbClr val="44474B"/>
                </a:solidFill>
                <a:latin typeface="Arial"/>
              </a:rPr>
              <a:t>Morrow's plant was judged far too small to supply a big carmaker. UniverCell's target is the same size. Its entire defence is that it is not trying to supply a carmaker.</a:t>
            </a:r>
          </a:p>
        </p:txBody>
      </p:sp>
      <p:sp>
        <p:nvSpPr>
          <p:cNvPr id="67" name="TextBox 66"/>
          <p:cNvSpPr txBox="1"/>
          <p:nvPr/>
        </p:nvSpPr>
        <p:spPr>
          <a:xfrm>
            <a:off x="8156448" y="3310128"/>
            <a:ext cx="3931920" cy="201168"/>
          </a:xfrm>
          <a:prstGeom prst="rect">
            <a:avLst/>
          </a:prstGeom>
          <a:noFill/>
        </p:spPr>
        <p:txBody>
          <a:bodyPr wrap="square" lIns="0" rIns="0" tIns="0" bIns="0" anchor="t">
            <a:spAutoFit/>
          </a:bodyPr>
          <a:lstStyle/>
          <a:p>
            <a:pPr algn="l"/>
            <a:r>
              <a:rPr sz="1100" b="1">
                <a:solidFill>
                  <a:srgbClr val="121313"/>
                </a:solidFill>
                <a:latin typeface="Arial"/>
              </a:rPr>
              <a:t>What the survivors have in common</a:t>
            </a:r>
          </a:p>
        </p:txBody>
      </p:sp>
      <p:sp>
        <p:nvSpPr>
          <p:cNvPr id="68" name="Rectangle 67"/>
          <p:cNvSpPr/>
          <p:nvPr/>
        </p:nvSpPr>
        <p:spPr>
          <a:xfrm>
            <a:off x="8156448" y="3662172"/>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8357616" y="3584448"/>
            <a:ext cx="3776472" cy="502920"/>
          </a:xfrm>
          <a:prstGeom prst="rect">
            <a:avLst/>
          </a:prstGeom>
          <a:noFill/>
        </p:spPr>
        <p:txBody>
          <a:bodyPr wrap="square" lIns="0" rIns="0" tIns="0" bIns="0" anchor="t">
            <a:spAutoFit/>
          </a:bodyPr>
          <a:lstStyle/>
          <a:p>
            <a:pPr algn="l">
              <a:lnSpc>
                <a:spcPct val="132000"/>
              </a:lnSpc>
            </a:pPr>
            <a:r>
              <a:rPr sz="1000" b="1">
                <a:solidFill>
                  <a:srgbClr val="121313"/>
                </a:solidFill>
                <a:latin typeface="Arial"/>
              </a:rPr>
              <a:t>A carmaker owns them. </a:t>
            </a:r>
            <a:r>
              <a:rPr sz="1000" b="0">
                <a:solidFill>
                  <a:srgbClr val="44474B"/>
                </a:solidFill>
                <a:latin typeface="Arial"/>
              </a:rPr>
              <a:t>Every European survivor has one. Every independent firm that tried the open market has failed.</a:t>
            </a:r>
          </a:p>
        </p:txBody>
      </p:sp>
      <p:sp>
        <p:nvSpPr>
          <p:cNvPr id="70" name="Rectangle 69"/>
          <p:cNvSpPr/>
          <p:nvPr/>
        </p:nvSpPr>
        <p:spPr>
          <a:xfrm>
            <a:off x="8156448" y="4311396"/>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8357616" y="4233672"/>
            <a:ext cx="3776472" cy="335280"/>
          </a:xfrm>
          <a:prstGeom prst="rect">
            <a:avLst/>
          </a:prstGeom>
          <a:noFill/>
        </p:spPr>
        <p:txBody>
          <a:bodyPr wrap="square" lIns="0" rIns="0" tIns="0" bIns="0" anchor="t">
            <a:spAutoFit/>
          </a:bodyPr>
          <a:lstStyle/>
          <a:p>
            <a:pPr algn="l">
              <a:lnSpc>
                <a:spcPct val="132000"/>
              </a:lnSpc>
            </a:pPr>
            <a:r>
              <a:rPr sz="1000" b="1">
                <a:solidFill>
                  <a:srgbClr val="121313"/>
                </a:solidFill>
                <a:latin typeface="Arial"/>
              </a:rPr>
              <a:t>They built to orders, not ambition. </a:t>
            </a:r>
            <a:r>
              <a:rPr sz="1000" b="0">
                <a:solidFill>
                  <a:srgbClr val="44474B"/>
                </a:solidFill>
                <a:latin typeface="Arial"/>
              </a:rPr>
              <a:t>Northvolt built for 16 GWh and shipped 1.</a:t>
            </a:r>
          </a:p>
        </p:txBody>
      </p:sp>
      <p:sp>
        <p:nvSpPr>
          <p:cNvPr id="72" name="Rectangle 71"/>
          <p:cNvSpPr/>
          <p:nvPr/>
        </p:nvSpPr>
        <p:spPr>
          <a:xfrm>
            <a:off x="8156448" y="4792980"/>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8357616" y="4715256"/>
            <a:ext cx="3776472" cy="335280"/>
          </a:xfrm>
          <a:prstGeom prst="rect">
            <a:avLst/>
          </a:prstGeom>
          <a:noFill/>
        </p:spPr>
        <p:txBody>
          <a:bodyPr wrap="square" lIns="0" rIns="0" tIns="0" bIns="0" anchor="t">
            <a:spAutoFit/>
          </a:bodyPr>
          <a:lstStyle/>
          <a:p>
            <a:pPr algn="l">
              <a:lnSpc>
                <a:spcPct val="132000"/>
              </a:lnSpc>
            </a:pPr>
            <a:r>
              <a:rPr sz="1000" b="1">
                <a:solidFill>
                  <a:srgbClr val="121313"/>
                </a:solidFill>
                <a:latin typeface="Arial"/>
              </a:rPr>
              <a:t>They refused the price fight. </a:t>
            </a:r>
            <a:r>
              <a:rPr sz="1000" b="0">
                <a:solidFill>
                  <a:srgbClr val="44474B"/>
                </a:solidFill>
                <a:latin typeface="Arial"/>
              </a:rPr>
              <a:t>Anyone competing on cost against Chinese cells lost.</a:t>
            </a:r>
          </a:p>
        </p:txBody>
      </p:sp>
      <p:sp>
        <p:nvSpPr>
          <p:cNvPr id="74" name="TextBox 73"/>
          <p:cNvSpPr txBox="1"/>
          <p:nvPr/>
        </p:nvSpPr>
        <p:spPr>
          <a:xfrm>
            <a:off x="8156448" y="5559552"/>
            <a:ext cx="3977639" cy="402336"/>
          </a:xfrm>
          <a:prstGeom prst="rect">
            <a:avLst/>
          </a:prstGeom>
          <a:noFill/>
        </p:spPr>
        <p:txBody>
          <a:bodyPr wrap="square" lIns="0" rIns="0" tIns="0" bIns="0" anchor="t">
            <a:spAutoFit/>
          </a:bodyPr>
          <a:lstStyle/>
          <a:p>
            <a:pPr algn="l">
              <a:lnSpc>
                <a:spcPct val="134000"/>
              </a:lnSpc>
            </a:pPr>
            <a:r>
              <a:rPr sz="1000" b="0">
                <a:solidFill>
                  <a:srgbClr val="44474B"/>
                </a:solidFill>
                <a:latin typeface="Arial"/>
              </a:rPr>
              <a:t>UniverCell passes the second and third tests. </a:t>
            </a:r>
            <a:r>
              <a:rPr sz="1000" b="1">
                <a:solidFill>
                  <a:srgbClr val="C4362C"/>
                </a:solidFill>
                <a:latin typeface="Arial"/>
              </a:rPr>
              <a:t>It fails the first. No carmaker owns any part of it.</a:t>
            </a:r>
          </a:p>
        </p:txBody>
      </p:sp>
      <p:sp>
        <p:nvSpPr>
          <p:cNvPr id="75" name="TextBox 74"/>
          <p:cNvSpPr txBox="1"/>
          <p:nvPr/>
        </p:nvSpPr>
        <p:spPr>
          <a:xfrm>
            <a:off x="658368" y="6126480"/>
            <a:ext cx="10874959" cy="310896"/>
          </a:xfrm>
          <a:prstGeom prst="rect">
            <a:avLst/>
          </a:prstGeom>
          <a:noFill/>
        </p:spPr>
        <p:txBody>
          <a:bodyPr wrap="square" lIns="0" rIns="0" tIns="0" bIns="0" anchor="t">
            <a:spAutoFit/>
          </a:bodyPr>
          <a:lstStyle/>
          <a:p>
            <a:pPr algn="l">
              <a:lnSpc>
                <a:spcPct val="134000"/>
              </a:lnSpc>
            </a:pPr>
            <a:r>
              <a:rPr sz="800" b="0">
                <a:solidFill>
                  <a:srgbClr val="9A9DA3"/>
                </a:solidFill>
                <a:latin typeface="Arial"/>
              </a:rPr>
              <a:t>Insolvency filings and administrators' statements reported by electrive, Energy-Storage.News, Stuttgarter Zeitung, TechCrunch and Climate Home News, 2023 to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326319" cy="1005840"/>
          </a:xfrm>
          <a:prstGeom prst="rect">
            <a:avLst/>
          </a:prstGeom>
          <a:noFill/>
        </p:spPr>
        <p:txBody>
          <a:bodyPr wrap="square" lIns="0" rIns="0" tIns="0" bIns="0" anchor="t">
            <a:spAutoFit/>
          </a:bodyPr>
          <a:lstStyle/>
          <a:p>
            <a:pPr algn="l">
              <a:lnSpc>
                <a:spcPct val="104000"/>
              </a:lnSpc>
            </a:pPr>
            <a:r>
              <a:rPr sz="3100" b="1" spc="-22">
                <a:solidFill>
                  <a:srgbClr val="121313"/>
                </a:solidFill>
                <a:latin typeface="Arial"/>
              </a:rPr>
              <a:t>Ninety-two people in northern Germany</a:t>
            </a:r>
          </a:p>
        </p:txBody>
      </p:sp>
      <p:sp>
        <p:nvSpPr>
          <p:cNvPr id="4" name="TextBox 3"/>
          <p:cNvSpPr txBox="1"/>
          <p:nvPr/>
        </p:nvSpPr>
        <p:spPr>
          <a:xfrm>
            <a:off x="658368" y="6464807"/>
            <a:ext cx="914400" cy="182880"/>
          </a:xfrm>
          <a:prstGeom prst="rect">
            <a:avLst/>
          </a:prstGeom>
          <a:noFill/>
        </p:spPr>
        <p:txBody>
          <a:bodyPr wrap="square" lIns="0" rIns="0" tIns="0" bIns="0" anchor="t">
            <a:spAutoFit/>
          </a:bodyPr>
          <a:lstStyle/>
          <a:p>
            <a:pPr algn="l"/>
            <a:r>
              <a:rPr sz="900" b="1">
                <a:solidFill>
                  <a:srgbClr val="808288"/>
                </a:solidFill>
                <a:latin typeface="Arial"/>
              </a:rPr>
              <a:t>8 / 16</a:t>
            </a:r>
          </a:p>
        </p:txBody>
      </p:sp>
      <p:sp>
        <p:nvSpPr>
          <p:cNvPr id="5" name="Rectangle 4"/>
          <p:cNvSpPr/>
          <p:nvPr/>
        </p:nvSpPr>
        <p:spPr>
          <a:xfrm>
            <a:off x="1371600"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83411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9662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275914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22165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8417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14668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609204" y="6492240"/>
            <a:ext cx="43508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07171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53423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99674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45926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92177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38429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4680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30932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521647" y="6464807"/>
            <a:ext cx="2011680" cy="182880"/>
          </a:xfrm>
          <a:prstGeom prst="rect">
            <a:avLst/>
          </a:prstGeom>
          <a:noFill/>
        </p:spPr>
        <p:txBody>
          <a:bodyPr wrap="square" lIns="0" rIns="0" tIns="0" bIns="0" anchor="t">
            <a:spAutoFit/>
          </a:bodyPr>
          <a:lstStyle/>
          <a:p>
            <a:pPr algn="r"/>
            <a:r>
              <a:rPr sz="900" b="0">
                <a:solidFill>
                  <a:srgbClr val="808288"/>
                </a:solidFill>
                <a:latin typeface="Arial"/>
              </a:rPr>
              <a:t>Part three: the company</a:t>
            </a:r>
          </a:p>
        </p:txBody>
      </p:sp>
      <p:sp>
        <p:nvSpPr>
          <p:cNvPr id="22" name="Rounded Rectangle 21"/>
          <p:cNvSpPr/>
          <p:nvPr/>
        </p:nvSpPr>
        <p:spPr>
          <a:xfrm>
            <a:off x="658368" y="1783080"/>
            <a:ext cx="3383280" cy="4023360"/>
          </a:xfrm>
          <a:prstGeom prst="roundRect">
            <a:avLst>
              <a:gd name="adj" fmla="val 5000"/>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96112" y="1965960"/>
            <a:ext cx="2926080" cy="201168"/>
          </a:xfrm>
          <a:prstGeom prst="rect">
            <a:avLst/>
          </a:prstGeom>
          <a:noFill/>
        </p:spPr>
        <p:txBody>
          <a:bodyPr wrap="square" lIns="0" rIns="0" tIns="0" bIns="0" anchor="t">
            <a:spAutoFit/>
          </a:bodyPr>
          <a:lstStyle/>
          <a:p>
            <a:pPr algn="l"/>
            <a:r>
              <a:rPr sz="1100" b="1">
                <a:solidFill>
                  <a:srgbClr val="121313"/>
                </a:solidFill>
                <a:latin typeface="Arial"/>
              </a:rPr>
              <a:t>The basics</a:t>
            </a:r>
          </a:p>
        </p:txBody>
      </p:sp>
      <p:sp>
        <p:nvSpPr>
          <p:cNvPr id="24" name="TextBox 23"/>
          <p:cNvSpPr txBox="1"/>
          <p:nvPr/>
        </p:nvSpPr>
        <p:spPr>
          <a:xfrm>
            <a:off x="932688" y="2386584"/>
            <a:ext cx="978407" cy="411479"/>
          </a:xfrm>
          <a:prstGeom prst="rect">
            <a:avLst/>
          </a:prstGeom>
          <a:noFill/>
        </p:spPr>
        <p:txBody>
          <a:bodyPr wrap="square" lIns="0" rIns="0" tIns="0" bIns="0" anchor="ctr">
            <a:spAutoFit/>
          </a:bodyPr>
          <a:lstStyle/>
          <a:p>
            <a:pPr algn="l"/>
            <a:r>
              <a:rPr sz="900" b="1">
                <a:solidFill>
                  <a:srgbClr val="121313"/>
                </a:solidFill>
                <a:latin typeface="Arial"/>
              </a:rPr>
              <a:t>Started</a:t>
            </a:r>
          </a:p>
        </p:txBody>
      </p:sp>
      <p:sp>
        <p:nvSpPr>
          <p:cNvPr id="25" name="TextBox 24"/>
          <p:cNvSpPr txBox="1"/>
          <p:nvPr/>
        </p:nvSpPr>
        <p:spPr>
          <a:xfrm>
            <a:off x="1984248" y="2386584"/>
            <a:ext cx="1709928" cy="411479"/>
          </a:xfrm>
          <a:prstGeom prst="rect">
            <a:avLst/>
          </a:prstGeom>
          <a:noFill/>
        </p:spPr>
        <p:txBody>
          <a:bodyPr wrap="square" lIns="0" rIns="0" tIns="0" bIns="0" anchor="ctr">
            <a:spAutoFit/>
          </a:bodyPr>
          <a:lstStyle/>
          <a:p>
            <a:pPr algn="l"/>
            <a:r>
              <a:rPr sz="900" b="0">
                <a:solidFill>
                  <a:srgbClr val="44474B"/>
                </a:solidFill>
                <a:latin typeface="Arial"/>
              </a:rPr>
              <a:t>May 2019</a:t>
            </a:r>
          </a:p>
        </p:txBody>
      </p:sp>
      <p:sp>
        <p:nvSpPr>
          <p:cNvPr id="26" name="TextBox 25"/>
          <p:cNvSpPr txBox="1"/>
          <p:nvPr/>
        </p:nvSpPr>
        <p:spPr>
          <a:xfrm>
            <a:off x="932688" y="2816352"/>
            <a:ext cx="978407" cy="411479"/>
          </a:xfrm>
          <a:prstGeom prst="rect">
            <a:avLst/>
          </a:prstGeom>
          <a:noFill/>
        </p:spPr>
        <p:txBody>
          <a:bodyPr wrap="square" lIns="0" rIns="0" tIns="0" bIns="0" anchor="ctr">
            <a:spAutoFit/>
          </a:bodyPr>
          <a:lstStyle/>
          <a:p>
            <a:pPr algn="l"/>
            <a:r>
              <a:rPr sz="900" b="1">
                <a:solidFill>
                  <a:srgbClr val="121313"/>
                </a:solidFill>
                <a:latin typeface="Arial"/>
              </a:rPr>
              <a:t>Where</a:t>
            </a:r>
          </a:p>
        </p:txBody>
      </p:sp>
      <p:sp>
        <p:nvSpPr>
          <p:cNvPr id="27" name="TextBox 26"/>
          <p:cNvSpPr txBox="1"/>
          <p:nvPr/>
        </p:nvSpPr>
        <p:spPr>
          <a:xfrm>
            <a:off x="1984248" y="2816352"/>
            <a:ext cx="1709928" cy="411479"/>
          </a:xfrm>
          <a:prstGeom prst="rect">
            <a:avLst/>
          </a:prstGeom>
          <a:noFill/>
        </p:spPr>
        <p:txBody>
          <a:bodyPr wrap="square" lIns="0" rIns="0" tIns="0" bIns="0" anchor="ctr">
            <a:spAutoFit/>
          </a:bodyPr>
          <a:lstStyle/>
          <a:p>
            <a:pPr algn="l"/>
            <a:r>
              <a:rPr sz="900" b="0">
                <a:solidFill>
                  <a:srgbClr val="44474B"/>
                </a:solidFill>
                <a:latin typeface="Arial"/>
              </a:rPr>
              <a:t>Flintbek, near Kiel</a:t>
            </a:r>
          </a:p>
        </p:txBody>
      </p:sp>
      <p:sp>
        <p:nvSpPr>
          <p:cNvPr id="28" name="TextBox 27"/>
          <p:cNvSpPr txBox="1"/>
          <p:nvPr/>
        </p:nvSpPr>
        <p:spPr>
          <a:xfrm>
            <a:off x="932688" y="3246120"/>
            <a:ext cx="978407" cy="411479"/>
          </a:xfrm>
          <a:prstGeom prst="rect">
            <a:avLst/>
          </a:prstGeom>
          <a:noFill/>
        </p:spPr>
        <p:txBody>
          <a:bodyPr wrap="square" lIns="0" rIns="0" tIns="0" bIns="0" anchor="ctr">
            <a:spAutoFit/>
          </a:bodyPr>
          <a:lstStyle/>
          <a:p>
            <a:pPr algn="l"/>
            <a:r>
              <a:rPr sz="900" b="1">
                <a:solidFill>
                  <a:srgbClr val="121313"/>
                </a:solidFill>
                <a:latin typeface="Arial"/>
              </a:rPr>
              <a:t>Founders</a:t>
            </a:r>
          </a:p>
        </p:txBody>
      </p:sp>
      <p:sp>
        <p:nvSpPr>
          <p:cNvPr id="29" name="TextBox 28"/>
          <p:cNvSpPr txBox="1"/>
          <p:nvPr/>
        </p:nvSpPr>
        <p:spPr>
          <a:xfrm>
            <a:off x="1984248" y="3246120"/>
            <a:ext cx="1709928" cy="411479"/>
          </a:xfrm>
          <a:prstGeom prst="rect">
            <a:avLst/>
          </a:prstGeom>
          <a:noFill/>
        </p:spPr>
        <p:txBody>
          <a:bodyPr wrap="square" lIns="0" rIns="0" tIns="0" bIns="0" anchor="ctr">
            <a:spAutoFit/>
          </a:bodyPr>
          <a:lstStyle/>
          <a:p>
            <a:pPr algn="l"/>
            <a:r>
              <a:rPr sz="900" b="0">
                <a:solidFill>
                  <a:srgbClr val="44474B"/>
                </a:solidFill>
                <a:latin typeface="Arial"/>
              </a:rPr>
              <a:t>Dr Stefan Permien and Marius Strack</a:t>
            </a:r>
          </a:p>
        </p:txBody>
      </p:sp>
      <p:sp>
        <p:nvSpPr>
          <p:cNvPr id="30" name="TextBox 29"/>
          <p:cNvSpPr txBox="1"/>
          <p:nvPr/>
        </p:nvSpPr>
        <p:spPr>
          <a:xfrm>
            <a:off x="932688" y="3675887"/>
            <a:ext cx="978407" cy="411479"/>
          </a:xfrm>
          <a:prstGeom prst="rect">
            <a:avLst/>
          </a:prstGeom>
          <a:noFill/>
        </p:spPr>
        <p:txBody>
          <a:bodyPr wrap="square" lIns="0" rIns="0" tIns="0" bIns="0" anchor="ctr">
            <a:spAutoFit/>
          </a:bodyPr>
          <a:lstStyle/>
          <a:p>
            <a:pPr algn="l"/>
            <a:r>
              <a:rPr sz="900" b="1">
                <a:solidFill>
                  <a:srgbClr val="121313"/>
                </a:solidFill>
                <a:latin typeface="Arial"/>
              </a:rPr>
              <a:t>People</a:t>
            </a:r>
          </a:p>
        </p:txBody>
      </p:sp>
      <p:sp>
        <p:nvSpPr>
          <p:cNvPr id="31" name="TextBox 30"/>
          <p:cNvSpPr txBox="1"/>
          <p:nvPr/>
        </p:nvSpPr>
        <p:spPr>
          <a:xfrm>
            <a:off x="1984248" y="3675887"/>
            <a:ext cx="1709928" cy="411479"/>
          </a:xfrm>
          <a:prstGeom prst="rect">
            <a:avLst/>
          </a:prstGeom>
          <a:noFill/>
        </p:spPr>
        <p:txBody>
          <a:bodyPr wrap="square" lIns="0" rIns="0" tIns="0" bIns="0" anchor="ctr">
            <a:spAutoFit/>
          </a:bodyPr>
          <a:lstStyle/>
          <a:p>
            <a:pPr algn="l"/>
            <a:r>
              <a:rPr sz="900" b="0">
                <a:solidFill>
                  <a:srgbClr val="44474B"/>
                </a:solidFill>
                <a:latin typeface="Arial"/>
              </a:rPr>
              <a:t>92</a:t>
            </a:r>
          </a:p>
        </p:txBody>
      </p:sp>
      <p:sp>
        <p:nvSpPr>
          <p:cNvPr id="32" name="TextBox 31"/>
          <p:cNvSpPr txBox="1"/>
          <p:nvPr/>
        </p:nvSpPr>
        <p:spPr>
          <a:xfrm>
            <a:off x="932688" y="4105655"/>
            <a:ext cx="978407" cy="411479"/>
          </a:xfrm>
          <a:prstGeom prst="rect">
            <a:avLst/>
          </a:prstGeom>
          <a:noFill/>
        </p:spPr>
        <p:txBody>
          <a:bodyPr wrap="square" lIns="0" rIns="0" tIns="0" bIns="0" anchor="ctr">
            <a:spAutoFit/>
          </a:bodyPr>
          <a:lstStyle/>
          <a:p>
            <a:pPr algn="l"/>
            <a:r>
              <a:rPr sz="900" b="1">
                <a:solidFill>
                  <a:srgbClr val="121313"/>
                </a:solidFill>
                <a:latin typeface="Arial"/>
              </a:rPr>
              <a:t>Balance sheet</a:t>
            </a:r>
          </a:p>
        </p:txBody>
      </p:sp>
      <p:sp>
        <p:nvSpPr>
          <p:cNvPr id="33" name="TextBox 32"/>
          <p:cNvSpPr txBox="1"/>
          <p:nvPr/>
        </p:nvSpPr>
        <p:spPr>
          <a:xfrm>
            <a:off x="1984248" y="4105655"/>
            <a:ext cx="1709928" cy="411479"/>
          </a:xfrm>
          <a:prstGeom prst="rect">
            <a:avLst/>
          </a:prstGeom>
          <a:noFill/>
        </p:spPr>
        <p:txBody>
          <a:bodyPr wrap="square" lIns="0" rIns="0" tIns="0" bIns="0" anchor="ctr">
            <a:spAutoFit/>
          </a:bodyPr>
          <a:lstStyle/>
          <a:p>
            <a:pPr algn="l"/>
            <a:r>
              <a:rPr sz="900" b="0">
                <a:solidFill>
                  <a:srgbClr val="44474B"/>
                </a:solidFill>
                <a:latin typeface="Arial"/>
              </a:rPr>
              <a:t>₹132 crore</a:t>
            </a:r>
          </a:p>
        </p:txBody>
      </p:sp>
      <p:sp>
        <p:nvSpPr>
          <p:cNvPr id="34" name="TextBox 33"/>
          <p:cNvSpPr txBox="1"/>
          <p:nvPr/>
        </p:nvSpPr>
        <p:spPr>
          <a:xfrm>
            <a:off x="932688" y="4535423"/>
            <a:ext cx="978407" cy="411479"/>
          </a:xfrm>
          <a:prstGeom prst="rect">
            <a:avLst/>
          </a:prstGeom>
          <a:noFill/>
        </p:spPr>
        <p:txBody>
          <a:bodyPr wrap="square" lIns="0" rIns="0" tIns="0" bIns="0" anchor="ctr">
            <a:spAutoFit/>
          </a:bodyPr>
          <a:lstStyle/>
          <a:p>
            <a:pPr algn="l"/>
            <a:r>
              <a:rPr sz="900" b="1">
                <a:solidFill>
                  <a:srgbClr val="121313"/>
                </a:solidFill>
                <a:latin typeface="Arial"/>
              </a:rPr>
              <a:t>Sales</a:t>
            </a:r>
          </a:p>
        </p:txBody>
      </p:sp>
      <p:sp>
        <p:nvSpPr>
          <p:cNvPr id="35" name="TextBox 34"/>
          <p:cNvSpPr txBox="1"/>
          <p:nvPr/>
        </p:nvSpPr>
        <p:spPr>
          <a:xfrm>
            <a:off x="1984248" y="4535423"/>
            <a:ext cx="1709928" cy="411479"/>
          </a:xfrm>
          <a:prstGeom prst="rect">
            <a:avLst/>
          </a:prstGeom>
          <a:noFill/>
        </p:spPr>
        <p:txBody>
          <a:bodyPr wrap="square" lIns="0" rIns="0" tIns="0" bIns="0" anchor="ctr">
            <a:spAutoFit/>
          </a:bodyPr>
          <a:lstStyle/>
          <a:p>
            <a:pPr algn="l"/>
            <a:r>
              <a:rPr sz="900" b="0">
                <a:solidFill>
                  <a:srgbClr val="44474B"/>
                </a:solidFill>
                <a:latin typeface="Arial"/>
              </a:rPr>
              <a:t>double-digit millions of euros</a:t>
            </a:r>
          </a:p>
        </p:txBody>
      </p:sp>
      <p:sp>
        <p:nvSpPr>
          <p:cNvPr id="36" name="TextBox 35"/>
          <p:cNvSpPr txBox="1"/>
          <p:nvPr/>
        </p:nvSpPr>
        <p:spPr>
          <a:xfrm>
            <a:off x="932688" y="4965191"/>
            <a:ext cx="978407" cy="411479"/>
          </a:xfrm>
          <a:prstGeom prst="rect">
            <a:avLst/>
          </a:prstGeom>
          <a:noFill/>
        </p:spPr>
        <p:txBody>
          <a:bodyPr wrap="square" lIns="0" rIns="0" tIns="0" bIns="0" anchor="ctr">
            <a:spAutoFit/>
          </a:bodyPr>
          <a:lstStyle/>
          <a:p>
            <a:pPr algn="l"/>
            <a:r>
              <a:rPr sz="900" b="1">
                <a:solidFill>
                  <a:srgbClr val="121313"/>
                </a:solidFill>
                <a:latin typeface="Arial"/>
              </a:rPr>
              <a:t>Patents</a:t>
            </a:r>
          </a:p>
        </p:txBody>
      </p:sp>
      <p:sp>
        <p:nvSpPr>
          <p:cNvPr id="37" name="TextBox 36"/>
          <p:cNvSpPr txBox="1"/>
          <p:nvPr/>
        </p:nvSpPr>
        <p:spPr>
          <a:xfrm>
            <a:off x="1984248" y="4965191"/>
            <a:ext cx="1709928" cy="411479"/>
          </a:xfrm>
          <a:prstGeom prst="rect">
            <a:avLst/>
          </a:prstGeom>
          <a:noFill/>
        </p:spPr>
        <p:txBody>
          <a:bodyPr wrap="square" lIns="0" rIns="0" tIns="0" bIns="0" anchor="ctr">
            <a:spAutoFit/>
          </a:bodyPr>
          <a:lstStyle/>
          <a:p>
            <a:pPr algn="l"/>
            <a:r>
              <a:rPr sz="900" b="0">
                <a:solidFill>
                  <a:srgbClr val="44474B"/>
                </a:solidFill>
                <a:latin typeface="Arial"/>
              </a:rPr>
              <a:t>1, still pending</a:t>
            </a:r>
          </a:p>
        </p:txBody>
      </p:sp>
      <p:sp>
        <p:nvSpPr>
          <p:cNvPr id="38" name="Rounded Rectangle 37"/>
          <p:cNvSpPr/>
          <p:nvPr/>
        </p:nvSpPr>
        <p:spPr>
          <a:xfrm>
            <a:off x="4270248" y="1783080"/>
            <a:ext cx="3840480" cy="40233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07992" y="1965960"/>
            <a:ext cx="3383280" cy="201168"/>
          </a:xfrm>
          <a:prstGeom prst="rect">
            <a:avLst/>
          </a:prstGeom>
          <a:noFill/>
        </p:spPr>
        <p:txBody>
          <a:bodyPr wrap="square" lIns="0" rIns="0" tIns="0" bIns="0" anchor="t">
            <a:spAutoFit/>
          </a:bodyPr>
          <a:lstStyle/>
          <a:p>
            <a:pPr algn="l"/>
            <a:r>
              <a:rPr sz="1100" b="1">
                <a:solidFill>
                  <a:srgbClr val="121313"/>
                </a:solidFill>
                <a:latin typeface="Arial"/>
              </a:rPr>
              <a:t>What they sell</a:t>
            </a:r>
          </a:p>
        </p:txBody>
      </p:sp>
      <p:sp>
        <p:nvSpPr>
          <p:cNvPr id="40" name="Rectangle 39"/>
          <p:cNvSpPr/>
          <p:nvPr/>
        </p:nvSpPr>
        <p:spPr>
          <a:xfrm>
            <a:off x="4507992" y="2464308"/>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4709159" y="2386584"/>
            <a:ext cx="3182112" cy="502920"/>
          </a:xfrm>
          <a:prstGeom prst="rect">
            <a:avLst/>
          </a:prstGeom>
          <a:noFill/>
        </p:spPr>
        <p:txBody>
          <a:bodyPr wrap="square" lIns="0" rIns="0" tIns="0" bIns="0" anchor="t">
            <a:spAutoFit/>
          </a:bodyPr>
          <a:lstStyle/>
          <a:p>
            <a:pPr algn="l">
              <a:lnSpc>
                <a:spcPct val="132000"/>
              </a:lnSpc>
            </a:pPr>
            <a:r>
              <a:rPr sz="1000" b="1">
                <a:solidFill>
                  <a:srgbClr val="121313"/>
                </a:solidFill>
                <a:latin typeface="Arial"/>
              </a:rPr>
              <a:t>Coated electrode foil. </a:t>
            </a:r>
            <a:r>
              <a:rPr sz="1000" b="0">
                <a:solidFill>
                  <a:srgbClr val="44474B"/>
                </a:solidFill>
                <a:latin typeface="Arial"/>
              </a:rPr>
              <a:t>This is the real business. Over 1,000 tested recipes, and the 1,000th customer order was delivered in January 2026.</a:t>
            </a:r>
          </a:p>
        </p:txBody>
      </p:sp>
      <p:sp>
        <p:nvSpPr>
          <p:cNvPr id="42" name="Rectangle 41"/>
          <p:cNvSpPr/>
          <p:nvPr/>
        </p:nvSpPr>
        <p:spPr>
          <a:xfrm>
            <a:off x="4507992" y="3122676"/>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4709159" y="3044952"/>
            <a:ext cx="3182112" cy="335280"/>
          </a:xfrm>
          <a:prstGeom prst="rect">
            <a:avLst/>
          </a:prstGeom>
          <a:noFill/>
        </p:spPr>
        <p:txBody>
          <a:bodyPr wrap="square" lIns="0" rIns="0" tIns="0" bIns="0" anchor="t">
            <a:spAutoFit/>
          </a:bodyPr>
          <a:lstStyle/>
          <a:p>
            <a:pPr algn="l">
              <a:lnSpc>
                <a:spcPct val="132000"/>
              </a:lnSpc>
            </a:pPr>
            <a:r>
              <a:rPr sz="1000" b="1">
                <a:solidFill>
                  <a:srgbClr val="121313"/>
                </a:solidFill>
                <a:latin typeface="Arial"/>
              </a:rPr>
              <a:t>Custom pouch cells </a:t>
            </a:r>
            <a:r>
              <a:rPr sz="1000" b="0">
                <a:solidFill>
                  <a:srgbClr val="44474B"/>
                </a:solidFill>
                <a:latin typeface="Arial"/>
              </a:rPr>
              <a:t>for customers who need an odd shape.</a:t>
            </a:r>
          </a:p>
        </p:txBody>
      </p:sp>
      <p:sp>
        <p:nvSpPr>
          <p:cNvPr id="44" name="Rectangle 43"/>
          <p:cNvSpPr/>
          <p:nvPr/>
        </p:nvSpPr>
        <p:spPr>
          <a:xfrm>
            <a:off x="4507992" y="3613404"/>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709159" y="3535680"/>
            <a:ext cx="3182112" cy="502920"/>
          </a:xfrm>
          <a:prstGeom prst="rect">
            <a:avLst/>
          </a:prstGeom>
          <a:noFill/>
        </p:spPr>
        <p:txBody>
          <a:bodyPr wrap="square" lIns="0" rIns="0" tIns="0" bIns="0" anchor="t">
            <a:spAutoFit/>
          </a:bodyPr>
          <a:lstStyle/>
          <a:p>
            <a:pPr algn="l">
              <a:lnSpc>
                <a:spcPct val="132000"/>
              </a:lnSpc>
            </a:pPr>
            <a:r>
              <a:rPr sz="1000" b="1">
                <a:solidFill>
                  <a:srgbClr val="121313"/>
                </a:solidFill>
                <a:latin typeface="Arial"/>
              </a:rPr>
              <a:t>Their own 21700 cell. </a:t>
            </a:r>
            <a:r>
              <a:rPr sz="1000" b="0">
                <a:solidFill>
                  <a:srgbClr val="44474B"/>
                </a:solidFill>
                <a:latin typeface="Arial"/>
              </a:rPr>
              <a:t>6 amp-hours, fast charging, over 750 cycles. Production started June 2026.</a:t>
            </a:r>
          </a:p>
        </p:txBody>
      </p:sp>
      <p:sp>
        <p:nvSpPr>
          <p:cNvPr id="46" name="Rectangle 45"/>
          <p:cNvSpPr/>
          <p:nvPr/>
        </p:nvSpPr>
        <p:spPr>
          <a:xfrm>
            <a:off x="4507992" y="4271772"/>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4709159" y="4194048"/>
            <a:ext cx="3182112" cy="335280"/>
          </a:xfrm>
          <a:prstGeom prst="rect">
            <a:avLst/>
          </a:prstGeom>
          <a:noFill/>
        </p:spPr>
        <p:txBody>
          <a:bodyPr wrap="square" lIns="0" rIns="0" tIns="0" bIns="0" anchor="t">
            <a:spAutoFit/>
          </a:bodyPr>
          <a:lstStyle/>
          <a:p>
            <a:pPr algn="l">
              <a:lnSpc>
                <a:spcPct val="132000"/>
              </a:lnSpc>
            </a:pPr>
            <a:r>
              <a:rPr sz="1000" b="1">
                <a:solidFill>
                  <a:srgbClr val="121313"/>
                </a:solidFill>
                <a:latin typeface="Arial"/>
              </a:rPr>
              <a:t>Sodium-ion </a:t>
            </a:r>
            <a:r>
              <a:rPr sz="1000" b="0">
                <a:solidFill>
                  <a:srgbClr val="44474B"/>
                </a:solidFill>
                <a:latin typeface="Arial"/>
              </a:rPr>
              <a:t>with a Karlsruhe partner, on a ₹155 crore government-funded project.</a:t>
            </a:r>
          </a:p>
        </p:txBody>
      </p:sp>
      <p:sp>
        <p:nvSpPr>
          <p:cNvPr id="48" name="Rounded Rectangle 47"/>
          <p:cNvSpPr/>
          <p:nvPr/>
        </p:nvSpPr>
        <p:spPr>
          <a:xfrm>
            <a:off x="8357616" y="1783080"/>
            <a:ext cx="3840480" cy="40233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8595360" y="1965960"/>
            <a:ext cx="3383280" cy="201168"/>
          </a:xfrm>
          <a:prstGeom prst="rect">
            <a:avLst/>
          </a:prstGeom>
          <a:noFill/>
        </p:spPr>
        <p:txBody>
          <a:bodyPr wrap="square" lIns="0" rIns="0" tIns="0" bIns="0" anchor="t">
            <a:spAutoFit/>
          </a:bodyPr>
          <a:lstStyle/>
          <a:p>
            <a:pPr algn="l"/>
            <a:r>
              <a:rPr sz="1100" b="1">
                <a:solidFill>
                  <a:srgbClr val="121313"/>
                </a:solidFill>
                <a:latin typeface="Arial"/>
              </a:rPr>
              <a:t>Who backs them</a:t>
            </a:r>
          </a:p>
        </p:txBody>
      </p:sp>
      <p:sp>
        <p:nvSpPr>
          <p:cNvPr id="50" name="Rectangle 49"/>
          <p:cNvSpPr/>
          <p:nvPr/>
        </p:nvSpPr>
        <p:spPr>
          <a:xfrm>
            <a:off x="8595360" y="2464308"/>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796528" y="2386584"/>
            <a:ext cx="3182112" cy="502920"/>
          </a:xfrm>
          <a:prstGeom prst="rect">
            <a:avLst/>
          </a:prstGeom>
          <a:noFill/>
        </p:spPr>
        <p:txBody>
          <a:bodyPr wrap="square" lIns="0" rIns="0" tIns="0" bIns="0" anchor="t">
            <a:spAutoFit/>
          </a:bodyPr>
          <a:lstStyle/>
          <a:p>
            <a:pPr algn="l">
              <a:lnSpc>
                <a:spcPct val="132000"/>
              </a:lnSpc>
            </a:pPr>
            <a:r>
              <a:rPr sz="1000" b="1">
                <a:solidFill>
                  <a:srgbClr val="121313"/>
                </a:solidFill>
                <a:latin typeface="Arial"/>
              </a:rPr>
              <a:t>₹320 crore raised in March 2026 </a:t>
            </a:r>
            <a:r>
              <a:rPr sz="1000" b="0">
                <a:solidFill>
                  <a:srgbClr val="44474B"/>
                </a:solidFill>
                <a:latin typeface="Arial"/>
              </a:rPr>
              <a:t>from Germany's state deep-tech fund, two industrial partners and the EU's innovation fund.</a:t>
            </a:r>
          </a:p>
        </p:txBody>
      </p:sp>
      <p:sp>
        <p:nvSpPr>
          <p:cNvPr id="52" name="Rectangle 51"/>
          <p:cNvSpPr/>
          <p:nvPr/>
        </p:nvSpPr>
        <p:spPr>
          <a:xfrm>
            <a:off x="8595360" y="3122676"/>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8796528" y="3044952"/>
            <a:ext cx="3182112" cy="335280"/>
          </a:xfrm>
          <a:prstGeom prst="rect">
            <a:avLst/>
          </a:prstGeom>
          <a:noFill/>
        </p:spPr>
        <p:txBody>
          <a:bodyPr wrap="square" lIns="0" rIns="0" tIns="0" bIns="0" anchor="t">
            <a:spAutoFit/>
          </a:bodyPr>
          <a:lstStyle/>
          <a:p>
            <a:pPr algn="l">
              <a:lnSpc>
                <a:spcPct val="132000"/>
              </a:lnSpc>
            </a:pPr>
            <a:r>
              <a:rPr sz="1000" b="1">
                <a:solidFill>
                  <a:srgbClr val="121313"/>
                </a:solidFill>
                <a:latin typeface="Arial"/>
              </a:rPr>
              <a:t>A ₹26 crore EU grant </a:t>
            </a:r>
            <a:r>
              <a:rPr sz="1000" b="0">
                <a:solidFill>
                  <a:srgbClr val="44474B"/>
                </a:solidFill>
                <a:latin typeface="Arial"/>
              </a:rPr>
              <a:t>for the cylindrical cell programme.</a:t>
            </a:r>
          </a:p>
        </p:txBody>
      </p:sp>
      <p:sp>
        <p:nvSpPr>
          <p:cNvPr id="54" name="Rectangle 53"/>
          <p:cNvSpPr/>
          <p:nvPr/>
        </p:nvSpPr>
        <p:spPr>
          <a:xfrm>
            <a:off x="8595360" y="3613404"/>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8796528" y="3535680"/>
            <a:ext cx="3182112" cy="335280"/>
          </a:xfrm>
          <a:prstGeom prst="rect">
            <a:avLst/>
          </a:prstGeom>
          <a:noFill/>
        </p:spPr>
        <p:txBody>
          <a:bodyPr wrap="square" lIns="0" rIns="0" tIns="0" bIns="0" anchor="t">
            <a:spAutoFit/>
          </a:bodyPr>
          <a:lstStyle/>
          <a:p>
            <a:pPr algn="l">
              <a:lnSpc>
                <a:spcPct val="132000"/>
              </a:lnSpc>
            </a:pPr>
            <a:r>
              <a:rPr sz="1000" b="1">
                <a:solidFill>
                  <a:srgbClr val="121313"/>
                </a:solidFill>
                <a:latin typeface="Arial"/>
              </a:rPr>
              <a:t>No carmaker owns a share. </a:t>
            </a:r>
            <a:r>
              <a:rPr sz="1000" b="0">
                <a:solidFill>
                  <a:srgbClr val="44474B"/>
                </a:solidFill>
                <a:latin typeface="Arial"/>
              </a:rPr>
              <a:t>This is the single biggest structural worry.</a:t>
            </a:r>
          </a:p>
        </p:txBody>
      </p:sp>
      <p:sp>
        <p:nvSpPr>
          <p:cNvPr id="56" name="Rectangle 55"/>
          <p:cNvSpPr/>
          <p:nvPr/>
        </p:nvSpPr>
        <p:spPr>
          <a:xfrm>
            <a:off x="8595360" y="4104132"/>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8796528" y="4026408"/>
            <a:ext cx="3182112" cy="335280"/>
          </a:xfrm>
          <a:prstGeom prst="rect">
            <a:avLst/>
          </a:prstGeom>
          <a:noFill/>
        </p:spPr>
        <p:txBody>
          <a:bodyPr wrap="square" lIns="0" rIns="0" tIns="0" bIns="0" anchor="t">
            <a:spAutoFit/>
          </a:bodyPr>
          <a:lstStyle/>
          <a:p>
            <a:pPr algn="l">
              <a:lnSpc>
                <a:spcPct val="132000"/>
              </a:lnSpc>
            </a:pPr>
            <a:r>
              <a:rPr sz="1000" b="1">
                <a:solidFill>
                  <a:srgbClr val="121313"/>
                </a:solidFill>
                <a:latin typeface="Arial"/>
              </a:rPr>
              <a:t>The founders are the team from CustomCells, </a:t>
            </a:r>
            <a:r>
              <a:rPr sz="1000" b="0">
                <a:solidFill>
                  <a:srgbClr val="44474B"/>
                </a:solidFill>
                <a:latin typeface="Arial"/>
              </a:rPr>
              <a:t>the German specialist that collapsed in 2025.</a:t>
            </a:r>
          </a:p>
        </p:txBody>
      </p:sp>
      <p:sp>
        <p:nvSpPr>
          <p:cNvPr id="58" name="TextBox 57"/>
          <p:cNvSpPr txBox="1"/>
          <p:nvPr/>
        </p:nvSpPr>
        <p:spPr>
          <a:xfrm>
            <a:off x="658368" y="6126480"/>
            <a:ext cx="10874959" cy="310896"/>
          </a:xfrm>
          <a:prstGeom prst="rect">
            <a:avLst/>
          </a:prstGeom>
          <a:noFill/>
        </p:spPr>
        <p:txBody>
          <a:bodyPr wrap="square" lIns="0" rIns="0" tIns="0" bIns="0" anchor="t">
            <a:spAutoFit/>
          </a:bodyPr>
          <a:lstStyle/>
          <a:p>
            <a:pPr algn="l">
              <a:lnSpc>
                <a:spcPct val="134000"/>
              </a:lnSpc>
            </a:pPr>
            <a:r>
              <a:rPr sz="800" b="0">
                <a:solidFill>
                  <a:srgbClr val="9A9DA3"/>
                </a:solidFill>
                <a:latin typeface="Arial"/>
              </a:rPr>
              <a:t>German company register and published accounts - UniverCell's Series B announcement of 4 March 2026 - company website and its NASA-hosted technical presentation - EU grant 101161461.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326319" cy="1005840"/>
          </a:xfrm>
          <a:prstGeom prst="rect">
            <a:avLst/>
          </a:prstGeom>
          <a:noFill/>
        </p:spPr>
        <p:txBody>
          <a:bodyPr wrap="square" lIns="0" rIns="0" tIns="0" bIns="0" anchor="t">
            <a:spAutoFit/>
          </a:bodyPr>
          <a:lstStyle/>
          <a:p>
            <a:pPr algn="l">
              <a:lnSpc>
                <a:spcPct val="104000"/>
              </a:lnSpc>
            </a:pPr>
            <a:r>
              <a:rPr sz="3100" b="1" spc="-22">
                <a:solidFill>
                  <a:srgbClr val="F3F2EF"/>
                </a:solidFill>
                <a:latin typeface="Arial"/>
              </a:rPr>
              <a:t>They advertise 1,500. They make 13.</a:t>
            </a:r>
          </a:p>
        </p:txBody>
      </p:sp>
      <p:sp>
        <p:nvSpPr>
          <p:cNvPr id="4" name="TextBox 3"/>
          <p:cNvSpPr txBox="1"/>
          <p:nvPr/>
        </p:nvSpPr>
        <p:spPr>
          <a:xfrm>
            <a:off x="658368" y="1554480"/>
            <a:ext cx="8595360" cy="457200"/>
          </a:xfrm>
          <a:prstGeom prst="rect">
            <a:avLst/>
          </a:prstGeom>
          <a:noFill/>
        </p:spPr>
        <p:txBody>
          <a:bodyPr wrap="square" lIns="0" rIns="0" tIns="0" bIns="0" anchor="t">
            <a:spAutoFit/>
          </a:bodyPr>
          <a:lstStyle/>
          <a:p>
            <a:pPr algn="l">
              <a:lnSpc>
                <a:spcPct val="136000"/>
              </a:lnSpc>
            </a:pPr>
            <a:r>
              <a:rPr sz="1250" b="0">
                <a:solidFill>
                  <a:srgbClr val="AFB3BB"/>
                </a:solidFill>
                <a:latin typeface="Arial"/>
              </a:rPr>
              <a:t>Both numbers are theirs, and they measure two different things.</a:t>
            </a:r>
          </a:p>
        </p:txBody>
      </p:sp>
      <p:sp>
        <p:nvSpPr>
          <p:cNvPr id="5" name="TextBox 4"/>
          <p:cNvSpPr txBox="1"/>
          <p:nvPr/>
        </p:nvSpPr>
        <p:spPr>
          <a:xfrm>
            <a:off x="658368" y="6464807"/>
            <a:ext cx="914400" cy="182880"/>
          </a:xfrm>
          <a:prstGeom prst="rect">
            <a:avLst/>
          </a:prstGeom>
          <a:noFill/>
        </p:spPr>
        <p:txBody>
          <a:bodyPr wrap="square" lIns="0" rIns="0" tIns="0" bIns="0" anchor="t">
            <a:spAutoFit/>
          </a:bodyPr>
          <a:lstStyle/>
          <a:p>
            <a:pPr algn="l"/>
            <a:r>
              <a:rPr sz="900" b="1">
                <a:solidFill>
                  <a:srgbClr val="6E7176"/>
                </a:solidFill>
                <a:latin typeface="Arial"/>
              </a:rPr>
              <a:t>9 / 16</a:t>
            </a:r>
          </a:p>
        </p:txBody>
      </p:sp>
      <p:sp>
        <p:nvSpPr>
          <p:cNvPr id="6" name="Rectangle 5"/>
          <p:cNvSpPr/>
          <p:nvPr/>
        </p:nvSpPr>
        <p:spPr>
          <a:xfrm>
            <a:off x="1371600"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83411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229662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75914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22165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8417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14668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60920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071719" y="6492240"/>
            <a:ext cx="43508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534234" y="6512814"/>
            <a:ext cx="435082" cy="32004"/>
          </a:xfrm>
          <a:prstGeom prst="rect">
            <a:avLst/>
          </a:prstGeom>
          <a:solidFill>
            <a:srgbClr val="6E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996749" y="6512814"/>
            <a:ext cx="435082" cy="32004"/>
          </a:xfrm>
          <a:prstGeom prst="rect">
            <a:avLst/>
          </a:prstGeom>
          <a:solidFill>
            <a:srgbClr val="6E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459264" y="6512814"/>
            <a:ext cx="435082" cy="32004"/>
          </a:xfrm>
          <a:prstGeom prst="rect">
            <a:avLst/>
          </a:prstGeom>
          <a:solidFill>
            <a:srgbClr val="6E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921779" y="6512814"/>
            <a:ext cx="435082" cy="32004"/>
          </a:xfrm>
          <a:prstGeom prst="rect">
            <a:avLst/>
          </a:prstGeom>
          <a:solidFill>
            <a:srgbClr val="6E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384294" y="6512814"/>
            <a:ext cx="435082" cy="32004"/>
          </a:xfrm>
          <a:prstGeom prst="rect">
            <a:avLst/>
          </a:prstGeom>
          <a:solidFill>
            <a:srgbClr val="6E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846809" y="6512814"/>
            <a:ext cx="435082" cy="32004"/>
          </a:xfrm>
          <a:prstGeom prst="rect">
            <a:avLst/>
          </a:prstGeom>
          <a:solidFill>
            <a:srgbClr val="6E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309324" y="6512814"/>
            <a:ext cx="435082" cy="32004"/>
          </a:xfrm>
          <a:prstGeom prst="rect">
            <a:avLst/>
          </a:prstGeom>
          <a:solidFill>
            <a:srgbClr val="6E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521647" y="6464807"/>
            <a:ext cx="2011680" cy="182880"/>
          </a:xfrm>
          <a:prstGeom prst="rect">
            <a:avLst/>
          </a:prstGeom>
          <a:noFill/>
        </p:spPr>
        <p:txBody>
          <a:bodyPr wrap="square" lIns="0" rIns="0" tIns="0" bIns="0" anchor="t">
            <a:spAutoFit/>
          </a:bodyPr>
          <a:lstStyle/>
          <a:p>
            <a:pPr algn="r"/>
            <a:r>
              <a:rPr sz="900" b="0">
                <a:solidFill>
                  <a:srgbClr val="6E7176"/>
                </a:solidFill>
                <a:latin typeface="Arial"/>
              </a:rPr>
              <a:t>Part three: the company</a:t>
            </a:r>
          </a:p>
        </p:txBody>
      </p:sp>
      <p:sp>
        <p:nvSpPr>
          <p:cNvPr id="23" name="Rounded Rectangle 22"/>
          <p:cNvSpPr/>
          <p:nvPr/>
        </p:nvSpPr>
        <p:spPr>
          <a:xfrm>
            <a:off x="658368" y="2057400"/>
            <a:ext cx="5943600" cy="3703320"/>
          </a:xfrm>
          <a:prstGeom prst="roundRect">
            <a:avLst>
              <a:gd name="adj" fmla="val 5000"/>
            </a:avLst>
          </a:prstGeom>
          <a:solidFill>
            <a:srgbClr val="1C1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32688" y="2240280"/>
            <a:ext cx="5394960" cy="201168"/>
          </a:xfrm>
          <a:prstGeom prst="rect">
            <a:avLst/>
          </a:prstGeom>
          <a:noFill/>
        </p:spPr>
        <p:txBody>
          <a:bodyPr wrap="square" lIns="0" rIns="0" tIns="0" bIns="0" anchor="t">
            <a:spAutoFit/>
          </a:bodyPr>
          <a:lstStyle/>
          <a:p>
            <a:pPr algn="l"/>
            <a:r>
              <a:rPr sz="1100" b="1">
                <a:solidFill>
                  <a:srgbClr val="F3F2EF"/>
                </a:solidFill>
                <a:latin typeface="Arial"/>
              </a:rPr>
              <a:t>What they claim, and what they make, in a year</a:t>
            </a:r>
          </a:p>
        </p:txBody>
      </p:sp>
      <p:sp>
        <p:nvSpPr>
          <p:cNvPr id="25" name="TextBox 24"/>
          <p:cNvSpPr txBox="1"/>
          <p:nvPr/>
        </p:nvSpPr>
        <p:spPr>
          <a:xfrm>
            <a:off x="932688" y="2450592"/>
            <a:ext cx="5394960" cy="182880"/>
          </a:xfrm>
          <a:prstGeom prst="rect">
            <a:avLst/>
          </a:prstGeom>
          <a:noFill/>
        </p:spPr>
        <p:txBody>
          <a:bodyPr wrap="square" lIns="0" rIns="0" tIns="0" bIns="0" anchor="t">
            <a:spAutoFit/>
          </a:bodyPr>
          <a:lstStyle/>
          <a:p>
            <a:pPr algn="l"/>
            <a:r>
              <a:rPr sz="950" b="0">
                <a:solidFill>
                  <a:srgbClr val="AFB3BB"/>
                </a:solidFill>
                <a:latin typeface="Arial"/>
              </a:rPr>
              <a:t>megawatt-hours, drawn to scale, on their own 21.6 Wh per cell</a:t>
            </a:r>
          </a:p>
        </p:txBody>
      </p:sp>
      <p:sp>
        <p:nvSpPr>
          <p:cNvPr id="26" name="TextBox 25"/>
          <p:cNvSpPr txBox="1"/>
          <p:nvPr/>
        </p:nvSpPr>
        <p:spPr>
          <a:xfrm>
            <a:off x="932688" y="2766060"/>
            <a:ext cx="1828800" cy="384048"/>
          </a:xfrm>
          <a:prstGeom prst="rect">
            <a:avLst/>
          </a:prstGeom>
          <a:noFill/>
        </p:spPr>
        <p:txBody>
          <a:bodyPr wrap="square" lIns="0" rIns="0" tIns="0" bIns="0" anchor="ctr">
            <a:spAutoFit/>
          </a:bodyPr>
          <a:lstStyle/>
          <a:p>
            <a:pPr algn="l"/>
            <a:r>
              <a:rPr sz="1050" b="0">
                <a:solidFill>
                  <a:srgbClr val="F3F2EF"/>
                </a:solidFill>
                <a:latin typeface="Arial"/>
              </a:rPr>
              <a:t>What they advertise</a:t>
            </a:r>
          </a:p>
        </p:txBody>
      </p:sp>
      <p:sp>
        <p:nvSpPr>
          <p:cNvPr id="27" name="Rectangle 26"/>
          <p:cNvSpPr/>
          <p:nvPr/>
        </p:nvSpPr>
        <p:spPr>
          <a:xfrm>
            <a:off x="2852928" y="2788920"/>
            <a:ext cx="2606040" cy="310896"/>
          </a:xfrm>
          <a:prstGeom prst="rect">
            <a:avLst/>
          </a:prstGeom>
          <a:solidFill>
            <a:srgbClr val="343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2852928" y="2788920"/>
            <a:ext cx="2606040" cy="310896"/>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513832" y="2766060"/>
            <a:ext cx="868680" cy="384048"/>
          </a:xfrm>
          <a:prstGeom prst="rect">
            <a:avLst/>
          </a:prstGeom>
          <a:noFill/>
        </p:spPr>
        <p:txBody>
          <a:bodyPr wrap="square" lIns="0" rIns="0" tIns="0" bIns="0" anchor="ctr">
            <a:spAutoFit/>
          </a:bodyPr>
          <a:lstStyle/>
          <a:p>
            <a:pPr algn="l"/>
            <a:r>
              <a:rPr sz="1100" b="1">
                <a:solidFill>
                  <a:srgbClr val="F3F2EF"/>
                </a:solidFill>
                <a:latin typeface="Arial"/>
              </a:rPr>
              <a:t>1,500 MWh</a:t>
            </a:r>
          </a:p>
        </p:txBody>
      </p:sp>
      <p:sp>
        <p:nvSpPr>
          <p:cNvPr id="30" name="TextBox 29"/>
          <p:cNvSpPr txBox="1"/>
          <p:nvPr/>
        </p:nvSpPr>
        <p:spPr>
          <a:xfrm>
            <a:off x="932688" y="3378708"/>
            <a:ext cx="1828800" cy="384048"/>
          </a:xfrm>
          <a:prstGeom prst="rect">
            <a:avLst/>
          </a:prstGeom>
          <a:noFill/>
        </p:spPr>
        <p:txBody>
          <a:bodyPr wrap="square" lIns="0" rIns="0" tIns="0" bIns="0" anchor="ctr">
            <a:spAutoFit/>
          </a:bodyPr>
          <a:lstStyle/>
          <a:p>
            <a:pPr algn="l"/>
            <a:r>
              <a:rPr sz="1050" b="0">
                <a:solidFill>
                  <a:srgbClr val="F3F2EF"/>
                </a:solidFill>
                <a:latin typeface="Arial"/>
              </a:rPr>
              <a:t>Their 2027 plan</a:t>
            </a:r>
          </a:p>
        </p:txBody>
      </p:sp>
      <p:sp>
        <p:nvSpPr>
          <p:cNvPr id="31" name="Rectangle 30"/>
          <p:cNvSpPr/>
          <p:nvPr/>
        </p:nvSpPr>
        <p:spPr>
          <a:xfrm>
            <a:off x="2852928" y="3401568"/>
            <a:ext cx="2606040" cy="310896"/>
          </a:xfrm>
          <a:prstGeom prst="rect">
            <a:avLst/>
          </a:prstGeom>
          <a:solidFill>
            <a:srgbClr val="343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2852928" y="3401568"/>
            <a:ext cx="2258568" cy="310896"/>
          </a:xfrm>
          <a:prstGeom prst="rect">
            <a:avLst/>
          </a:prstGeom>
          <a:solidFill>
            <a:srgbClr val="B07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513832" y="3378708"/>
            <a:ext cx="868680" cy="384048"/>
          </a:xfrm>
          <a:prstGeom prst="rect">
            <a:avLst/>
          </a:prstGeom>
          <a:noFill/>
        </p:spPr>
        <p:txBody>
          <a:bodyPr wrap="square" lIns="0" rIns="0" tIns="0" bIns="0" anchor="ctr">
            <a:spAutoFit/>
          </a:bodyPr>
          <a:lstStyle/>
          <a:p>
            <a:pPr algn="l"/>
            <a:r>
              <a:rPr sz="1100" b="1">
                <a:solidFill>
                  <a:srgbClr val="F3F2EF"/>
                </a:solidFill>
                <a:latin typeface="Arial"/>
              </a:rPr>
              <a:t>1,300 MWh</a:t>
            </a:r>
          </a:p>
        </p:txBody>
      </p:sp>
      <p:sp>
        <p:nvSpPr>
          <p:cNvPr id="34" name="TextBox 33"/>
          <p:cNvSpPr txBox="1"/>
          <p:nvPr/>
        </p:nvSpPr>
        <p:spPr>
          <a:xfrm>
            <a:off x="932688" y="3991355"/>
            <a:ext cx="1828800" cy="384048"/>
          </a:xfrm>
          <a:prstGeom prst="rect">
            <a:avLst/>
          </a:prstGeom>
          <a:noFill/>
        </p:spPr>
        <p:txBody>
          <a:bodyPr wrap="square" lIns="0" rIns="0" tIns="0" bIns="0" anchor="ctr">
            <a:spAutoFit/>
          </a:bodyPr>
          <a:lstStyle/>
          <a:p>
            <a:pPr algn="l"/>
            <a:r>
              <a:rPr sz="1050" b="0">
                <a:solidFill>
                  <a:srgbClr val="F3F2EF"/>
                </a:solidFill>
                <a:latin typeface="Arial"/>
              </a:rPr>
              <a:t>What the funding targets</a:t>
            </a:r>
          </a:p>
        </p:txBody>
      </p:sp>
      <p:sp>
        <p:nvSpPr>
          <p:cNvPr id="35" name="Rectangle 34"/>
          <p:cNvSpPr/>
          <p:nvPr/>
        </p:nvSpPr>
        <p:spPr>
          <a:xfrm>
            <a:off x="2852928" y="4014215"/>
            <a:ext cx="2606040" cy="310896"/>
          </a:xfrm>
          <a:prstGeom prst="rect">
            <a:avLst/>
          </a:prstGeom>
          <a:solidFill>
            <a:srgbClr val="343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2852928" y="4014215"/>
            <a:ext cx="1501079" cy="310896"/>
          </a:xfrm>
          <a:prstGeom prst="rect">
            <a:avLst/>
          </a:prstGeom>
          <a:solidFill>
            <a:srgbClr val="2A6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5513832" y="3991355"/>
            <a:ext cx="868680" cy="384048"/>
          </a:xfrm>
          <a:prstGeom prst="rect">
            <a:avLst/>
          </a:prstGeom>
          <a:noFill/>
        </p:spPr>
        <p:txBody>
          <a:bodyPr wrap="square" lIns="0" rIns="0" tIns="0" bIns="0" anchor="ctr">
            <a:spAutoFit/>
          </a:bodyPr>
          <a:lstStyle/>
          <a:p>
            <a:pPr algn="l"/>
            <a:r>
              <a:rPr sz="1100" b="1">
                <a:solidFill>
                  <a:srgbClr val="F3F2EF"/>
                </a:solidFill>
                <a:latin typeface="Arial"/>
              </a:rPr>
              <a:t>864 MWh</a:t>
            </a:r>
          </a:p>
        </p:txBody>
      </p:sp>
      <p:sp>
        <p:nvSpPr>
          <p:cNvPr id="38" name="TextBox 37"/>
          <p:cNvSpPr txBox="1"/>
          <p:nvPr/>
        </p:nvSpPr>
        <p:spPr>
          <a:xfrm>
            <a:off x="932688" y="4604004"/>
            <a:ext cx="1828800" cy="384048"/>
          </a:xfrm>
          <a:prstGeom prst="rect">
            <a:avLst/>
          </a:prstGeom>
          <a:noFill/>
        </p:spPr>
        <p:txBody>
          <a:bodyPr wrap="square" lIns="0" rIns="0" tIns="0" bIns="0" anchor="ctr">
            <a:spAutoFit/>
          </a:bodyPr>
          <a:lstStyle/>
          <a:p>
            <a:pPr algn="l"/>
            <a:r>
              <a:rPr sz="1050" b="0">
                <a:solidFill>
                  <a:srgbClr val="F3F2EF"/>
                </a:solidFill>
                <a:latin typeface="Arial"/>
              </a:rPr>
              <a:t>What the cell line makes</a:t>
            </a:r>
          </a:p>
        </p:txBody>
      </p:sp>
      <p:sp>
        <p:nvSpPr>
          <p:cNvPr id="39" name="Rectangle 38"/>
          <p:cNvSpPr/>
          <p:nvPr/>
        </p:nvSpPr>
        <p:spPr>
          <a:xfrm>
            <a:off x="2852928" y="4626864"/>
            <a:ext cx="2606040" cy="310896"/>
          </a:xfrm>
          <a:prstGeom prst="rect">
            <a:avLst/>
          </a:prstGeom>
          <a:solidFill>
            <a:srgbClr val="343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2852928" y="4626864"/>
            <a:ext cx="36576" cy="310896"/>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5513832" y="4604004"/>
            <a:ext cx="868680" cy="384048"/>
          </a:xfrm>
          <a:prstGeom prst="rect">
            <a:avLst/>
          </a:prstGeom>
          <a:noFill/>
        </p:spPr>
        <p:txBody>
          <a:bodyPr wrap="square" lIns="0" rIns="0" tIns="0" bIns="0" anchor="ctr">
            <a:spAutoFit/>
          </a:bodyPr>
          <a:lstStyle/>
          <a:p>
            <a:pPr algn="l"/>
            <a:r>
              <a:rPr sz="1100" b="1">
                <a:solidFill>
                  <a:srgbClr val="F3F2EF"/>
                </a:solidFill>
                <a:latin typeface="Arial"/>
              </a:rPr>
              <a:t>13 MWh</a:t>
            </a:r>
          </a:p>
        </p:txBody>
      </p:sp>
      <p:sp>
        <p:nvSpPr>
          <p:cNvPr id="42" name="Rounded Rectangle 41"/>
          <p:cNvSpPr/>
          <p:nvPr/>
        </p:nvSpPr>
        <p:spPr>
          <a:xfrm>
            <a:off x="7013448" y="2057400"/>
            <a:ext cx="5193792" cy="1325880"/>
          </a:xfrm>
          <a:prstGeom prst="roundRect">
            <a:avLst>
              <a:gd name="adj" fmla="val 7000"/>
            </a:avLst>
          </a:prstGeom>
          <a:solidFill>
            <a:srgbClr val="3A2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251192" y="2221992"/>
            <a:ext cx="4718304" cy="182880"/>
          </a:xfrm>
          <a:prstGeom prst="rect">
            <a:avLst/>
          </a:prstGeom>
          <a:noFill/>
        </p:spPr>
        <p:txBody>
          <a:bodyPr wrap="square" lIns="0" rIns="0" tIns="0" bIns="0" anchor="t">
            <a:spAutoFit/>
          </a:bodyPr>
          <a:lstStyle/>
          <a:p>
            <a:pPr algn="l"/>
            <a:r>
              <a:rPr sz="1050" b="1">
                <a:solidFill>
                  <a:srgbClr val="FF8D61"/>
                </a:solidFill>
                <a:latin typeface="Arial"/>
              </a:rPr>
              <a:t>The sum, so you can check it</a:t>
            </a:r>
          </a:p>
        </p:txBody>
      </p:sp>
      <p:sp>
        <p:nvSpPr>
          <p:cNvPr id="44" name="TextBox 43"/>
          <p:cNvSpPr txBox="1"/>
          <p:nvPr/>
        </p:nvSpPr>
        <p:spPr>
          <a:xfrm>
            <a:off x="7251192" y="2441448"/>
            <a:ext cx="4718304" cy="813815"/>
          </a:xfrm>
          <a:prstGeom prst="rect">
            <a:avLst/>
          </a:prstGeom>
          <a:noFill/>
        </p:spPr>
        <p:txBody>
          <a:bodyPr wrap="square" lIns="0" rIns="0" tIns="0" bIns="0" anchor="t">
            <a:spAutoFit/>
          </a:bodyPr>
          <a:lstStyle/>
          <a:p>
            <a:pPr algn="l">
              <a:lnSpc>
                <a:spcPct val="134000"/>
              </a:lnSpc>
            </a:pPr>
            <a:r>
              <a:rPr sz="1050" b="0">
                <a:solidFill>
                  <a:srgbClr val="C8CACD"/>
                </a:solidFill>
                <a:latin typeface="Arial"/>
              </a:rPr>
              <a:t>50,000 cells a month x 12 x 21.6 Wh = 13 MWh a year, which is 0.86% of the 1,500 they advertise. Filling 1,500 would take 5.8 million cells a month.</a:t>
            </a:r>
          </a:p>
        </p:txBody>
      </p:sp>
      <p:sp>
        <p:nvSpPr>
          <p:cNvPr id="45" name="Rectangle 44"/>
          <p:cNvSpPr/>
          <p:nvPr/>
        </p:nvSpPr>
        <p:spPr>
          <a:xfrm>
            <a:off x="7013448" y="3664000"/>
            <a:ext cx="73152" cy="73152"/>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214616" y="3584448"/>
            <a:ext cx="4919472" cy="528066"/>
          </a:xfrm>
          <a:prstGeom prst="rect">
            <a:avLst/>
          </a:prstGeom>
          <a:noFill/>
        </p:spPr>
        <p:txBody>
          <a:bodyPr wrap="square" lIns="0" rIns="0" tIns="0" bIns="0" anchor="t">
            <a:spAutoFit/>
          </a:bodyPr>
          <a:lstStyle/>
          <a:p>
            <a:pPr algn="l">
              <a:lnSpc>
                <a:spcPct val="132000"/>
              </a:lnSpc>
            </a:pPr>
            <a:r>
              <a:rPr sz="1050" b="1">
                <a:solidFill>
                  <a:srgbClr val="F3F2EF"/>
                </a:solidFill>
                <a:latin typeface="Arial"/>
              </a:rPr>
              <a:t>So what is the 1,500? </a:t>
            </a:r>
            <a:r>
              <a:rPr sz="1050" b="0">
                <a:solidFill>
                  <a:srgbClr val="C8CACD"/>
                </a:solidFill>
                <a:latin typeface="Arial"/>
              </a:rPr>
              <a:t>It is their electrode coating line, not their cell line. That business is real and already earns money selling coated foil to other firms.</a:t>
            </a:r>
          </a:p>
        </p:txBody>
      </p:sp>
      <p:sp>
        <p:nvSpPr>
          <p:cNvPr id="47" name="Rectangle 46"/>
          <p:cNvSpPr/>
          <p:nvPr/>
        </p:nvSpPr>
        <p:spPr>
          <a:xfrm>
            <a:off x="7013448" y="4374946"/>
            <a:ext cx="73152" cy="73152"/>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7214616" y="4295394"/>
            <a:ext cx="4919472" cy="704088"/>
          </a:xfrm>
          <a:prstGeom prst="rect">
            <a:avLst/>
          </a:prstGeom>
          <a:noFill/>
        </p:spPr>
        <p:txBody>
          <a:bodyPr wrap="square" lIns="0" rIns="0" tIns="0" bIns="0" anchor="t">
            <a:spAutoFit/>
          </a:bodyPr>
          <a:lstStyle/>
          <a:p>
            <a:pPr algn="l">
              <a:lnSpc>
                <a:spcPct val="132000"/>
              </a:lnSpc>
            </a:pPr>
            <a:r>
              <a:rPr sz="1050" b="1">
                <a:solidFill>
                  <a:srgbClr val="F3F2EF"/>
                </a:solidFill>
                <a:latin typeface="Arial"/>
              </a:rPr>
              <a:t>So this is an electrode factory with a small cell line attached, </a:t>
            </a:r>
            <a:r>
              <a:rPr sz="1050" b="0">
                <a:solidFill>
                  <a:srgbClr val="C8CACD"/>
                </a:solidFill>
                <a:latin typeface="Arial"/>
              </a:rPr>
              <a:t>about seven times smaller than CATL's German plant. Their 2027 plan needs roughly 100 times today's output, in eighteen months, on ₹320 crore. Ask them how.</a:t>
            </a:r>
          </a:p>
        </p:txBody>
      </p:sp>
      <p:sp>
        <p:nvSpPr>
          <p:cNvPr id="49" name="TextBox 48"/>
          <p:cNvSpPr txBox="1"/>
          <p:nvPr/>
        </p:nvSpPr>
        <p:spPr>
          <a:xfrm>
            <a:off x="658368" y="6126480"/>
            <a:ext cx="10874959" cy="310896"/>
          </a:xfrm>
          <a:prstGeom prst="rect">
            <a:avLst/>
          </a:prstGeom>
          <a:noFill/>
        </p:spPr>
        <p:txBody>
          <a:bodyPr wrap="square" lIns="0" rIns="0" tIns="0" bIns="0" anchor="t">
            <a:spAutoFit/>
          </a:bodyPr>
          <a:lstStyle/>
          <a:p>
            <a:pPr algn="l">
              <a:lnSpc>
                <a:spcPct val="134000"/>
              </a:lnSpc>
            </a:pPr>
            <a:r>
              <a:rPr sz="800" b="0">
                <a:solidFill>
                  <a:srgbClr val="6E7176"/>
                </a:solidFill>
                <a:latin typeface="Arial"/>
              </a:rPr>
              <a:t>Our calculation, using only figures the company itself has published. Their press release contains both "40 million cells a year" and "1.5 GWh", and those disagree by 1.7 times.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326319" cy="1005840"/>
          </a:xfrm>
          <a:prstGeom prst="rect">
            <a:avLst/>
          </a:prstGeom>
          <a:noFill/>
        </p:spPr>
        <p:txBody>
          <a:bodyPr wrap="square" lIns="0" rIns="0" tIns="0" bIns="0" anchor="t">
            <a:spAutoFit/>
          </a:bodyPr>
          <a:lstStyle/>
          <a:p>
            <a:pPr algn="l">
              <a:lnSpc>
                <a:spcPct val="104000"/>
              </a:lnSpc>
            </a:pPr>
            <a:r>
              <a:rPr sz="3100" b="1" spc="-22">
                <a:solidFill>
                  <a:srgbClr val="121313"/>
                </a:solidFill>
                <a:latin typeface="Arial"/>
              </a:rPr>
              <a:t>A real advantage that runs out in 2028</a:t>
            </a:r>
          </a:p>
        </p:txBody>
      </p:sp>
      <p:sp>
        <p:nvSpPr>
          <p:cNvPr id="4" name="TextBox 3"/>
          <p:cNvSpPr txBox="1"/>
          <p:nvPr/>
        </p:nvSpPr>
        <p:spPr>
          <a:xfrm>
            <a:off x="658368" y="1554480"/>
            <a:ext cx="8595360" cy="457200"/>
          </a:xfrm>
          <a:prstGeom prst="rect">
            <a:avLst/>
          </a:prstGeom>
          <a:noFill/>
        </p:spPr>
        <p:txBody>
          <a:bodyPr wrap="square" lIns="0" rIns="0" tIns="0" bIns="0" anchor="t">
            <a:spAutoFit/>
          </a:bodyPr>
          <a:lstStyle/>
          <a:p>
            <a:pPr algn="l">
              <a:lnSpc>
                <a:spcPct val="136000"/>
              </a:lnSpc>
            </a:pPr>
            <a:r>
              <a:rPr sz="1250" b="0">
                <a:solidFill>
                  <a:srgbClr val="44474B"/>
                </a:solidFill>
                <a:latin typeface="Arial"/>
              </a:rPr>
              <a:t>Electrodes are normally a wet paste, baked dry in a very long oven. Dry coating skips the liquid.</a:t>
            </a:r>
          </a:p>
        </p:txBody>
      </p:sp>
      <p:sp>
        <p:nvSpPr>
          <p:cNvPr id="5" name="TextBox 4"/>
          <p:cNvSpPr txBox="1"/>
          <p:nvPr/>
        </p:nvSpPr>
        <p:spPr>
          <a:xfrm>
            <a:off x="658368" y="6464807"/>
            <a:ext cx="914400" cy="182880"/>
          </a:xfrm>
          <a:prstGeom prst="rect">
            <a:avLst/>
          </a:prstGeom>
          <a:noFill/>
        </p:spPr>
        <p:txBody>
          <a:bodyPr wrap="square" lIns="0" rIns="0" tIns="0" bIns="0" anchor="t">
            <a:spAutoFit/>
          </a:bodyPr>
          <a:lstStyle/>
          <a:p>
            <a:pPr algn="l"/>
            <a:r>
              <a:rPr sz="900" b="1">
                <a:solidFill>
                  <a:srgbClr val="808288"/>
                </a:solidFill>
                <a:latin typeface="Arial"/>
              </a:rPr>
              <a:t>10 / 16</a:t>
            </a:r>
          </a:p>
        </p:txBody>
      </p:sp>
      <p:sp>
        <p:nvSpPr>
          <p:cNvPr id="6" name="Rectangle 5"/>
          <p:cNvSpPr/>
          <p:nvPr/>
        </p:nvSpPr>
        <p:spPr>
          <a:xfrm>
            <a:off x="1371600"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83411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229662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75914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22165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8417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14668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60920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07171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534234" y="6492240"/>
            <a:ext cx="43508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99674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45926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92177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38429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84680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30932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521647" y="6464807"/>
            <a:ext cx="2011680" cy="182880"/>
          </a:xfrm>
          <a:prstGeom prst="rect">
            <a:avLst/>
          </a:prstGeom>
          <a:noFill/>
        </p:spPr>
        <p:txBody>
          <a:bodyPr wrap="square" lIns="0" rIns="0" tIns="0" bIns="0" anchor="t">
            <a:spAutoFit/>
          </a:bodyPr>
          <a:lstStyle/>
          <a:p>
            <a:pPr algn="r"/>
            <a:r>
              <a:rPr sz="900" b="0">
                <a:solidFill>
                  <a:srgbClr val="808288"/>
                </a:solidFill>
                <a:latin typeface="Arial"/>
              </a:rPr>
              <a:t>Part three: the company</a:t>
            </a:r>
          </a:p>
        </p:txBody>
      </p:sp>
      <p:sp>
        <p:nvSpPr>
          <p:cNvPr id="23" name="Rounded Rectangle 22"/>
          <p:cNvSpPr/>
          <p:nvPr/>
        </p:nvSpPr>
        <p:spPr>
          <a:xfrm>
            <a:off x="658368" y="2103120"/>
            <a:ext cx="5943600" cy="37033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96112" y="2286000"/>
            <a:ext cx="5486400" cy="201168"/>
          </a:xfrm>
          <a:prstGeom prst="rect">
            <a:avLst/>
          </a:prstGeom>
          <a:noFill/>
        </p:spPr>
        <p:txBody>
          <a:bodyPr wrap="square" lIns="0" rIns="0" tIns="0" bIns="0" anchor="t">
            <a:spAutoFit/>
          </a:bodyPr>
          <a:lstStyle/>
          <a:p>
            <a:pPr algn="l"/>
            <a:r>
              <a:rPr sz="1100" b="1">
                <a:solidFill>
                  <a:srgbClr val="121313"/>
                </a:solidFill>
                <a:latin typeface="Arial"/>
              </a:rPr>
              <a:t>Who is actually running dry coating today</a:t>
            </a:r>
          </a:p>
        </p:txBody>
      </p:sp>
      <p:sp>
        <p:nvSpPr>
          <p:cNvPr id="25" name="TextBox 24"/>
          <p:cNvSpPr txBox="1"/>
          <p:nvPr/>
        </p:nvSpPr>
        <p:spPr>
          <a:xfrm>
            <a:off x="896112" y="2496312"/>
            <a:ext cx="5486400" cy="182880"/>
          </a:xfrm>
          <a:prstGeom prst="rect">
            <a:avLst/>
          </a:prstGeom>
          <a:noFill/>
        </p:spPr>
        <p:txBody>
          <a:bodyPr wrap="square" lIns="0" rIns="0" tIns="0" bIns="0" anchor="t">
            <a:spAutoFit/>
          </a:bodyPr>
          <a:lstStyle/>
          <a:p>
            <a:pPr algn="l"/>
            <a:r>
              <a:rPr sz="950" b="0">
                <a:solidFill>
                  <a:srgbClr val="808288"/>
                </a:solidFill>
                <a:latin typeface="Arial"/>
              </a:rPr>
              <a:t>ranked by what operates at industrial scale</a:t>
            </a:r>
          </a:p>
        </p:txBody>
      </p:sp>
      <p:sp>
        <p:nvSpPr>
          <p:cNvPr id="26" name="Rounded Rectangle 25"/>
          <p:cNvSpPr/>
          <p:nvPr/>
        </p:nvSpPr>
        <p:spPr>
          <a:xfrm>
            <a:off x="841248" y="2839212"/>
            <a:ext cx="5577840" cy="393192"/>
          </a:xfrm>
          <a:prstGeom prst="roundRect">
            <a:avLst>
              <a:gd name="adj" fmla="val 18000"/>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32688" y="2889504"/>
            <a:ext cx="292608" cy="393192"/>
          </a:xfrm>
          <a:prstGeom prst="rect">
            <a:avLst/>
          </a:prstGeom>
          <a:noFill/>
        </p:spPr>
        <p:txBody>
          <a:bodyPr wrap="square" lIns="0" rIns="0" tIns="0" bIns="0" anchor="ctr">
            <a:spAutoFit/>
          </a:bodyPr>
          <a:lstStyle/>
          <a:p>
            <a:pPr algn="l"/>
            <a:r>
              <a:rPr sz="950" b="1">
                <a:solidFill>
                  <a:srgbClr val="121313"/>
                </a:solidFill>
                <a:latin typeface="Arial"/>
              </a:rPr>
              <a:t>1</a:t>
            </a:r>
          </a:p>
        </p:txBody>
      </p:sp>
      <p:sp>
        <p:nvSpPr>
          <p:cNvPr id="28" name="TextBox 27"/>
          <p:cNvSpPr txBox="1"/>
          <p:nvPr/>
        </p:nvSpPr>
        <p:spPr>
          <a:xfrm>
            <a:off x="1298448" y="2889504"/>
            <a:ext cx="1298448" cy="393192"/>
          </a:xfrm>
          <a:prstGeom prst="rect">
            <a:avLst/>
          </a:prstGeom>
          <a:noFill/>
        </p:spPr>
        <p:txBody>
          <a:bodyPr wrap="square" lIns="0" rIns="0" tIns="0" bIns="0" anchor="ctr">
            <a:spAutoFit/>
          </a:bodyPr>
          <a:lstStyle/>
          <a:p>
            <a:pPr algn="l"/>
            <a:r>
              <a:rPr sz="950" b="0">
                <a:solidFill>
                  <a:srgbClr val="44474B"/>
                </a:solidFill>
                <a:latin typeface="Arial"/>
              </a:rPr>
              <a:t>Tesla</a:t>
            </a:r>
          </a:p>
        </p:txBody>
      </p:sp>
      <p:sp>
        <p:nvSpPr>
          <p:cNvPr id="29" name="TextBox 28"/>
          <p:cNvSpPr txBox="1"/>
          <p:nvPr/>
        </p:nvSpPr>
        <p:spPr>
          <a:xfrm>
            <a:off x="2670048" y="2889504"/>
            <a:ext cx="1709928" cy="393192"/>
          </a:xfrm>
          <a:prstGeom prst="rect">
            <a:avLst/>
          </a:prstGeom>
          <a:noFill/>
        </p:spPr>
        <p:txBody>
          <a:bodyPr wrap="square" lIns="0" rIns="0" tIns="0" bIns="0" anchor="ctr">
            <a:spAutoFit/>
          </a:bodyPr>
          <a:lstStyle/>
          <a:p>
            <a:pPr algn="l"/>
            <a:r>
              <a:rPr sz="950" b="0">
                <a:solidFill>
                  <a:srgbClr val="44474B"/>
                </a:solidFill>
                <a:latin typeface="Arial"/>
              </a:rPr>
              <a:t>Both electrodes, fully dry</a:t>
            </a:r>
          </a:p>
        </p:txBody>
      </p:sp>
      <p:sp>
        <p:nvSpPr>
          <p:cNvPr id="30" name="TextBox 29"/>
          <p:cNvSpPr txBox="1"/>
          <p:nvPr/>
        </p:nvSpPr>
        <p:spPr>
          <a:xfrm>
            <a:off x="4453128" y="2889504"/>
            <a:ext cx="1801367" cy="393192"/>
          </a:xfrm>
          <a:prstGeom prst="rect">
            <a:avLst/>
          </a:prstGeom>
          <a:noFill/>
        </p:spPr>
        <p:txBody>
          <a:bodyPr wrap="square" lIns="0" rIns="0" tIns="0" bIns="0" anchor="ctr">
            <a:spAutoFit/>
          </a:bodyPr>
          <a:lstStyle/>
          <a:p>
            <a:pPr algn="l"/>
            <a:r>
              <a:rPr sz="950" b="0">
                <a:solidFill>
                  <a:srgbClr val="44474B"/>
                </a:solidFill>
                <a:latin typeface="Arial"/>
              </a:rPr>
              <a:t>Mass production in Texas</a:t>
            </a:r>
          </a:p>
        </p:txBody>
      </p:sp>
      <p:sp>
        <p:nvSpPr>
          <p:cNvPr id="31" name="TextBox 30"/>
          <p:cNvSpPr txBox="1"/>
          <p:nvPr/>
        </p:nvSpPr>
        <p:spPr>
          <a:xfrm>
            <a:off x="932688" y="3300984"/>
            <a:ext cx="292608" cy="393192"/>
          </a:xfrm>
          <a:prstGeom prst="rect">
            <a:avLst/>
          </a:prstGeom>
          <a:noFill/>
        </p:spPr>
        <p:txBody>
          <a:bodyPr wrap="square" lIns="0" rIns="0" tIns="0" bIns="0" anchor="ctr">
            <a:spAutoFit/>
          </a:bodyPr>
          <a:lstStyle/>
          <a:p>
            <a:pPr algn="l"/>
            <a:r>
              <a:rPr sz="950" b="1">
                <a:solidFill>
                  <a:srgbClr val="121313"/>
                </a:solidFill>
                <a:latin typeface="Arial"/>
              </a:rPr>
              <a:t>2</a:t>
            </a:r>
          </a:p>
        </p:txBody>
      </p:sp>
      <p:sp>
        <p:nvSpPr>
          <p:cNvPr id="32" name="TextBox 31"/>
          <p:cNvSpPr txBox="1"/>
          <p:nvPr/>
        </p:nvSpPr>
        <p:spPr>
          <a:xfrm>
            <a:off x="1298448" y="3300984"/>
            <a:ext cx="1298448" cy="393192"/>
          </a:xfrm>
          <a:prstGeom prst="rect">
            <a:avLst/>
          </a:prstGeom>
          <a:noFill/>
        </p:spPr>
        <p:txBody>
          <a:bodyPr wrap="square" lIns="0" rIns="0" tIns="0" bIns="0" anchor="ctr">
            <a:spAutoFit/>
          </a:bodyPr>
          <a:lstStyle/>
          <a:p>
            <a:pPr algn="l"/>
            <a:r>
              <a:rPr sz="950" b="0">
                <a:solidFill>
                  <a:srgbClr val="44474B"/>
                </a:solidFill>
                <a:latin typeface="Arial"/>
              </a:rPr>
              <a:t>VW PowerCo</a:t>
            </a:r>
          </a:p>
        </p:txBody>
      </p:sp>
      <p:sp>
        <p:nvSpPr>
          <p:cNvPr id="33" name="TextBox 32"/>
          <p:cNvSpPr txBox="1"/>
          <p:nvPr/>
        </p:nvSpPr>
        <p:spPr>
          <a:xfrm>
            <a:off x="2670048" y="3300984"/>
            <a:ext cx="1709928" cy="393192"/>
          </a:xfrm>
          <a:prstGeom prst="rect">
            <a:avLst/>
          </a:prstGeom>
          <a:noFill/>
        </p:spPr>
        <p:txBody>
          <a:bodyPr wrap="square" lIns="0" rIns="0" tIns="0" bIns="0" anchor="ctr">
            <a:spAutoFit/>
          </a:bodyPr>
          <a:lstStyle/>
          <a:p>
            <a:pPr algn="l"/>
            <a:r>
              <a:rPr sz="950" b="0">
                <a:solidFill>
                  <a:srgbClr val="44474B"/>
                </a:solidFill>
                <a:latin typeface="Arial"/>
              </a:rPr>
              <a:t>Both electrodes</a:t>
            </a:r>
          </a:p>
        </p:txBody>
      </p:sp>
      <p:sp>
        <p:nvSpPr>
          <p:cNvPr id="34" name="TextBox 33"/>
          <p:cNvSpPr txBox="1"/>
          <p:nvPr/>
        </p:nvSpPr>
        <p:spPr>
          <a:xfrm>
            <a:off x="4453128" y="3300984"/>
            <a:ext cx="1801367" cy="393192"/>
          </a:xfrm>
          <a:prstGeom prst="rect">
            <a:avLst/>
          </a:prstGeom>
          <a:noFill/>
        </p:spPr>
        <p:txBody>
          <a:bodyPr wrap="square" lIns="0" rIns="0" tIns="0" bIns="0" anchor="ctr">
            <a:spAutoFit/>
          </a:bodyPr>
          <a:lstStyle/>
          <a:p>
            <a:pPr algn="l"/>
            <a:r>
              <a:rPr sz="950" b="0">
                <a:solidFill>
                  <a:srgbClr val="44474B"/>
                </a:solidFill>
                <a:latin typeface="Arial"/>
              </a:rPr>
              <a:t>Factory built, series use unconfirmed</a:t>
            </a:r>
          </a:p>
        </p:txBody>
      </p:sp>
      <p:sp>
        <p:nvSpPr>
          <p:cNvPr id="35" name="Rounded Rectangle 34"/>
          <p:cNvSpPr/>
          <p:nvPr/>
        </p:nvSpPr>
        <p:spPr>
          <a:xfrm>
            <a:off x="841248" y="3662172"/>
            <a:ext cx="5577840" cy="393192"/>
          </a:xfrm>
          <a:prstGeom prst="roundRect">
            <a:avLst>
              <a:gd name="adj" fmla="val 18000"/>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32688" y="3712464"/>
            <a:ext cx="292608" cy="393192"/>
          </a:xfrm>
          <a:prstGeom prst="rect">
            <a:avLst/>
          </a:prstGeom>
          <a:noFill/>
        </p:spPr>
        <p:txBody>
          <a:bodyPr wrap="square" lIns="0" rIns="0" tIns="0" bIns="0" anchor="ctr">
            <a:spAutoFit/>
          </a:bodyPr>
          <a:lstStyle/>
          <a:p>
            <a:pPr algn="l"/>
            <a:r>
              <a:rPr sz="950" b="1">
                <a:solidFill>
                  <a:srgbClr val="D2541F"/>
                </a:solidFill>
                <a:latin typeface="Arial"/>
              </a:rPr>
              <a:t>3</a:t>
            </a:r>
          </a:p>
        </p:txBody>
      </p:sp>
      <p:sp>
        <p:nvSpPr>
          <p:cNvPr id="37" name="TextBox 36"/>
          <p:cNvSpPr txBox="1"/>
          <p:nvPr/>
        </p:nvSpPr>
        <p:spPr>
          <a:xfrm>
            <a:off x="1298448" y="3712464"/>
            <a:ext cx="1298448" cy="393192"/>
          </a:xfrm>
          <a:prstGeom prst="rect">
            <a:avLst/>
          </a:prstGeom>
          <a:noFill/>
        </p:spPr>
        <p:txBody>
          <a:bodyPr wrap="square" lIns="0" rIns="0" tIns="0" bIns="0" anchor="ctr">
            <a:spAutoFit/>
          </a:bodyPr>
          <a:lstStyle/>
          <a:p>
            <a:pPr algn="l"/>
            <a:r>
              <a:rPr sz="950" b="1">
                <a:solidFill>
                  <a:srgbClr val="D2541F"/>
                </a:solidFill>
                <a:latin typeface="Arial"/>
              </a:rPr>
              <a:t>UniverCell</a:t>
            </a:r>
          </a:p>
        </p:txBody>
      </p:sp>
      <p:sp>
        <p:nvSpPr>
          <p:cNvPr id="38" name="TextBox 37"/>
          <p:cNvSpPr txBox="1"/>
          <p:nvPr/>
        </p:nvSpPr>
        <p:spPr>
          <a:xfrm>
            <a:off x="2670048" y="3712464"/>
            <a:ext cx="1709928" cy="393192"/>
          </a:xfrm>
          <a:prstGeom prst="rect">
            <a:avLst/>
          </a:prstGeom>
          <a:noFill/>
        </p:spPr>
        <p:txBody>
          <a:bodyPr wrap="square" lIns="0" rIns="0" tIns="0" bIns="0" anchor="ctr">
            <a:spAutoFit/>
          </a:bodyPr>
          <a:lstStyle/>
          <a:p>
            <a:pPr algn="l"/>
            <a:r>
              <a:rPr sz="950" b="1">
                <a:solidFill>
                  <a:srgbClr val="D2541F"/>
                </a:solidFill>
                <a:latin typeface="Arial"/>
              </a:rPr>
              <a:t>Both electrodes, in-house</a:t>
            </a:r>
          </a:p>
        </p:txBody>
      </p:sp>
      <p:sp>
        <p:nvSpPr>
          <p:cNvPr id="39" name="TextBox 38"/>
          <p:cNvSpPr txBox="1"/>
          <p:nvPr/>
        </p:nvSpPr>
        <p:spPr>
          <a:xfrm>
            <a:off x="4453128" y="3712464"/>
            <a:ext cx="1801367" cy="393192"/>
          </a:xfrm>
          <a:prstGeom prst="rect">
            <a:avLst/>
          </a:prstGeom>
          <a:noFill/>
        </p:spPr>
        <p:txBody>
          <a:bodyPr wrap="square" lIns="0" rIns="0" tIns="0" bIns="0" anchor="ctr">
            <a:spAutoFit/>
          </a:bodyPr>
          <a:lstStyle/>
          <a:p>
            <a:pPr algn="l"/>
            <a:r>
              <a:rPr sz="950" b="1">
                <a:solidFill>
                  <a:srgbClr val="D2541F"/>
                </a:solidFill>
                <a:latin typeface="Arial"/>
              </a:rPr>
              <a:t>Running, but under one GWh</a:t>
            </a:r>
          </a:p>
        </p:txBody>
      </p:sp>
      <p:sp>
        <p:nvSpPr>
          <p:cNvPr id="40" name="TextBox 39"/>
          <p:cNvSpPr txBox="1"/>
          <p:nvPr/>
        </p:nvSpPr>
        <p:spPr>
          <a:xfrm>
            <a:off x="932688" y="4123944"/>
            <a:ext cx="292608" cy="393192"/>
          </a:xfrm>
          <a:prstGeom prst="rect">
            <a:avLst/>
          </a:prstGeom>
          <a:noFill/>
        </p:spPr>
        <p:txBody>
          <a:bodyPr wrap="square" lIns="0" rIns="0" tIns="0" bIns="0" anchor="ctr">
            <a:spAutoFit/>
          </a:bodyPr>
          <a:lstStyle/>
          <a:p>
            <a:pPr algn="l"/>
            <a:r>
              <a:rPr sz="950" b="1">
                <a:solidFill>
                  <a:srgbClr val="121313"/>
                </a:solidFill>
                <a:latin typeface="Arial"/>
              </a:rPr>
              <a:t>5</a:t>
            </a:r>
          </a:p>
        </p:txBody>
      </p:sp>
      <p:sp>
        <p:nvSpPr>
          <p:cNvPr id="41" name="TextBox 40"/>
          <p:cNvSpPr txBox="1"/>
          <p:nvPr/>
        </p:nvSpPr>
        <p:spPr>
          <a:xfrm>
            <a:off x="1298448" y="4123944"/>
            <a:ext cx="1298448" cy="393192"/>
          </a:xfrm>
          <a:prstGeom prst="rect">
            <a:avLst/>
          </a:prstGeom>
          <a:noFill/>
        </p:spPr>
        <p:txBody>
          <a:bodyPr wrap="square" lIns="0" rIns="0" tIns="0" bIns="0" anchor="ctr">
            <a:spAutoFit/>
          </a:bodyPr>
          <a:lstStyle/>
          <a:p>
            <a:pPr algn="l"/>
            <a:r>
              <a:rPr sz="950" b="0">
                <a:solidFill>
                  <a:srgbClr val="44474B"/>
                </a:solidFill>
                <a:latin typeface="Arial"/>
              </a:rPr>
              <a:t>AM Batteries</a:t>
            </a:r>
          </a:p>
        </p:txBody>
      </p:sp>
      <p:sp>
        <p:nvSpPr>
          <p:cNvPr id="42" name="TextBox 41"/>
          <p:cNvSpPr txBox="1"/>
          <p:nvPr/>
        </p:nvSpPr>
        <p:spPr>
          <a:xfrm>
            <a:off x="2670048" y="4123944"/>
            <a:ext cx="1709928" cy="393192"/>
          </a:xfrm>
          <a:prstGeom prst="rect">
            <a:avLst/>
          </a:prstGeom>
          <a:noFill/>
        </p:spPr>
        <p:txBody>
          <a:bodyPr wrap="square" lIns="0" rIns="0" tIns="0" bIns="0" anchor="ctr">
            <a:spAutoFit/>
          </a:bodyPr>
          <a:lstStyle/>
          <a:p>
            <a:pPr algn="l"/>
            <a:r>
              <a:rPr sz="950" b="0">
                <a:solidFill>
                  <a:srgbClr val="44474B"/>
                </a:solidFill>
                <a:latin typeface="Arial"/>
              </a:rPr>
              <a:t>Sells dry electrodes</a:t>
            </a:r>
          </a:p>
        </p:txBody>
      </p:sp>
      <p:sp>
        <p:nvSpPr>
          <p:cNvPr id="43" name="TextBox 42"/>
          <p:cNvSpPr txBox="1"/>
          <p:nvPr/>
        </p:nvSpPr>
        <p:spPr>
          <a:xfrm>
            <a:off x="4453128" y="4123944"/>
            <a:ext cx="1801367" cy="393192"/>
          </a:xfrm>
          <a:prstGeom prst="rect">
            <a:avLst/>
          </a:prstGeom>
          <a:noFill/>
        </p:spPr>
        <p:txBody>
          <a:bodyPr wrap="square" lIns="0" rIns="0" tIns="0" bIns="0" anchor="ctr">
            <a:spAutoFit/>
          </a:bodyPr>
          <a:lstStyle/>
          <a:p>
            <a:pPr algn="l"/>
            <a:r>
              <a:rPr sz="950" b="0">
                <a:solidFill>
                  <a:srgbClr val="44474B"/>
                </a:solidFill>
                <a:latin typeface="Arial"/>
              </a:rPr>
              <a:t>Pilot, US plant funded</a:t>
            </a:r>
          </a:p>
        </p:txBody>
      </p:sp>
      <p:sp>
        <p:nvSpPr>
          <p:cNvPr id="44" name="Rounded Rectangle 43"/>
          <p:cNvSpPr/>
          <p:nvPr/>
        </p:nvSpPr>
        <p:spPr>
          <a:xfrm>
            <a:off x="841248" y="4485132"/>
            <a:ext cx="5577840" cy="393192"/>
          </a:xfrm>
          <a:prstGeom prst="roundRect">
            <a:avLst>
              <a:gd name="adj" fmla="val 18000"/>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32688" y="4535424"/>
            <a:ext cx="292608" cy="393192"/>
          </a:xfrm>
          <a:prstGeom prst="rect">
            <a:avLst/>
          </a:prstGeom>
          <a:noFill/>
        </p:spPr>
        <p:txBody>
          <a:bodyPr wrap="square" lIns="0" rIns="0" tIns="0" bIns="0" anchor="ctr">
            <a:spAutoFit/>
          </a:bodyPr>
          <a:lstStyle/>
          <a:p>
            <a:pPr algn="l"/>
            <a:r>
              <a:rPr sz="950" b="1">
                <a:solidFill>
                  <a:srgbClr val="121313"/>
                </a:solidFill>
                <a:latin typeface="Arial"/>
              </a:rPr>
              <a:t>6</a:t>
            </a:r>
          </a:p>
        </p:txBody>
      </p:sp>
      <p:sp>
        <p:nvSpPr>
          <p:cNvPr id="46" name="TextBox 45"/>
          <p:cNvSpPr txBox="1"/>
          <p:nvPr/>
        </p:nvSpPr>
        <p:spPr>
          <a:xfrm>
            <a:off x="1298448" y="4535424"/>
            <a:ext cx="1298448" cy="393192"/>
          </a:xfrm>
          <a:prstGeom prst="rect">
            <a:avLst/>
          </a:prstGeom>
          <a:noFill/>
        </p:spPr>
        <p:txBody>
          <a:bodyPr wrap="square" lIns="0" rIns="0" tIns="0" bIns="0" anchor="ctr">
            <a:spAutoFit/>
          </a:bodyPr>
          <a:lstStyle/>
          <a:p>
            <a:pPr algn="l"/>
            <a:r>
              <a:rPr sz="950" b="0">
                <a:solidFill>
                  <a:srgbClr val="44474B"/>
                </a:solidFill>
                <a:latin typeface="Arial"/>
              </a:rPr>
              <a:t>LG Energy</a:t>
            </a:r>
          </a:p>
        </p:txBody>
      </p:sp>
      <p:sp>
        <p:nvSpPr>
          <p:cNvPr id="47" name="TextBox 46"/>
          <p:cNvSpPr txBox="1"/>
          <p:nvPr/>
        </p:nvSpPr>
        <p:spPr>
          <a:xfrm>
            <a:off x="2670048" y="4535424"/>
            <a:ext cx="1709928" cy="393192"/>
          </a:xfrm>
          <a:prstGeom prst="rect">
            <a:avLst/>
          </a:prstGeom>
          <a:noFill/>
        </p:spPr>
        <p:txBody>
          <a:bodyPr wrap="square" lIns="0" rIns="0" tIns="0" bIns="0" anchor="ctr">
            <a:spAutoFit/>
          </a:bodyPr>
          <a:lstStyle/>
          <a:p>
            <a:pPr algn="l"/>
            <a:r>
              <a:rPr sz="950" b="0">
                <a:solidFill>
                  <a:srgbClr val="44474B"/>
                </a:solidFill>
                <a:latin typeface="Arial"/>
              </a:rPr>
              <a:t>Full electrode</a:t>
            </a:r>
          </a:p>
        </p:txBody>
      </p:sp>
      <p:sp>
        <p:nvSpPr>
          <p:cNvPr id="48" name="TextBox 47"/>
          <p:cNvSpPr txBox="1"/>
          <p:nvPr/>
        </p:nvSpPr>
        <p:spPr>
          <a:xfrm>
            <a:off x="4453128" y="4535424"/>
            <a:ext cx="1801367" cy="393192"/>
          </a:xfrm>
          <a:prstGeom prst="rect">
            <a:avLst/>
          </a:prstGeom>
          <a:noFill/>
        </p:spPr>
        <p:txBody>
          <a:bodyPr wrap="square" lIns="0" rIns="0" tIns="0" bIns="0" anchor="ctr">
            <a:spAutoFit/>
          </a:bodyPr>
          <a:lstStyle/>
          <a:p>
            <a:pPr algn="l"/>
            <a:r>
              <a:rPr sz="950" b="0">
                <a:solidFill>
                  <a:srgbClr val="44474B"/>
                </a:solidFill>
                <a:latin typeface="Arial"/>
              </a:rPr>
              <a:t>Pilot done, production in 2028</a:t>
            </a:r>
          </a:p>
        </p:txBody>
      </p:sp>
      <p:sp>
        <p:nvSpPr>
          <p:cNvPr id="49" name="TextBox 48"/>
          <p:cNvSpPr txBox="1"/>
          <p:nvPr/>
        </p:nvSpPr>
        <p:spPr>
          <a:xfrm>
            <a:off x="932688" y="4946904"/>
            <a:ext cx="292608" cy="393192"/>
          </a:xfrm>
          <a:prstGeom prst="rect">
            <a:avLst/>
          </a:prstGeom>
          <a:noFill/>
        </p:spPr>
        <p:txBody>
          <a:bodyPr wrap="square" lIns="0" rIns="0" tIns="0" bIns="0" anchor="ctr">
            <a:spAutoFit/>
          </a:bodyPr>
          <a:lstStyle/>
          <a:p>
            <a:pPr algn="l"/>
            <a:r>
              <a:rPr sz="950" b="1">
                <a:solidFill>
                  <a:srgbClr val="121313"/>
                </a:solidFill>
                <a:latin typeface="Arial"/>
              </a:rPr>
              <a:t>8</a:t>
            </a:r>
          </a:p>
        </p:txBody>
      </p:sp>
      <p:sp>
        <p:nvSpPr>
          <p:cNvPr id="50" name="TextBox 49"/>
          <p:cNvSpPr txBox="1"/>
          <p:nvPr/>
        </p:nvSpPr>
        <p:spPr>
          <a:xfrm>
            <a:off x="1298448" y="4946904"/>
            <a:ext cx="1298448" cy="393192"/>
          </a:xfrm>
          <a:prstGeom prst="rect">
            <a:avLst/>
          </a:prstGeom>
          <a:noFill/>
        </p:spPr>
        <p:txBody>
          <a:bodyPr wrap="square" lIns="0" rIns="0" tIns="0" bIns="0" anchor="ctr">
            <a:spAutoFit/>
          </a:bodyPr>
          <a:lstStyle/>
          <a:p>
            <a:pPr algn="l"/>
            <a:r>
              <a:rPr sz="950" b="0">
                <a:solidFill>
                  <a:srgbClr val="44474B"/>
                </a:solidFill>
                <a:latin typeface="Arial"/>
              </a:rPr>
              <a:t>Durr and LiCAP</a:t>
            </a:r>
          </a:p>
        </p:txBody>
      </p:sp>
      <p:sp>
        <p:nvSpPr>
          <p:cNvPr id="51" name="TextBox 50"/>
          <p:cNvSpPr txBox="1"/>
          <p:nvPr/>
        </p:nvSpPr>
        <p:spPr>
          <a:xfrm>
            <a:off x="2670048" y="4946904"/>
            <a:ext cx="1709928" cy="393192"/>
          </a:xfrm>
          <a:prstGeom prst="rect">
            <a:avLst/>
          </a:prstGeom>
          <a:noFill/>
        </p:spPr>
        <p:txBody>
          <a:bodyPr wrap="square" lIns="0" rIns="0" tIns="0" bIns="0" anchor="ctr">
            <a:spAutoFit/>
          </a:bodyPr>
          <a:lstStyle/>
          <a:p>
            <a:pPr algn="l"/>
            <a:r>
              <a:rPr sz="950" b="0">
                <a:solidFill>
                  <a:srgbClr val="44474B"/>
                </a:solidFill>
                <a:latin typeface="Arial"/>
              </a:rPr>
              <a:t>Equipment and know-how</a:t>
            </a:r>
          </a:p>
        </p:txBody>
      </p:sp>
      <p:sp>
        <p:nvSpPr>
          <p:cNvPr id="52" name="TextBox 51"/>
          <p:cNvSpPr txBox="1"/>
          <p:nvPr/>
        </p:nvSpPr>
        <p:spPr>
          <a:xfrm>
            <a:off x="4453128" y="4946904"/>
            <a:ext cx="1801367" cy="393192"/>
          </a:xfrm>
          <a:prstGeom prst="rect">
            <a:avLst/>
          </a:prstGeom>
          <a:noFill/>
        </p:spPr>
        <p:txBody>
          <a:bodyPr wrap="square" lIns="0" rIns="0" tIns="0" bIns="0" anchor="ctr">
            <a:spAutoFit/>
          </a:bodyPr>
          <a:lstStyle/>
          <a:p>
            <a:pPr algn="l"/>
            <a:r>
              <a:rPr sz="950" b="0">
                <a:solidFill>
                  <a:srgbClr val="44474B"/>
                </a:solidFill>
                <a:latin typeface="Arial"/>
              </a:rPr>
              <a:t>Proven, but lost its pilot site</a:t>
            </a:r>
          </a:p>
        </p:txBody>
      </p:sp>
      <p:sp>
        <p:nvSpPr>
          <p:cNvPr id="53" name="TextBox 52"/>
          <p:cNvSpPr txBox="1"/>
          <p:nvPr/>
        </p:nvSpPr>
        <p:spPr>
          <a:xfrm>
            <a:off x="7013448" y="2103120"/>
            <a:ext cx="2377440" cy="530352"/>
          </a:xfrm>
          <a:prstGeom prst="rect">
            <a:avLst/>
          </a:prstGeom>
          <a:noFill/>
        </p:spPr>
        <p:txBody>
          <a:bodyPr wrap="square" lIns="0" rIns="0" tIns="0" bIns="0" anchor="t">
            <a:spAutoFit/>
          </a:bodyPr>
          <a:lstStyle/>
          <a:p>
            <a:pPr algn="l"/>
            <a:r>
              <a:rPr sz="3000" b="1" spc="-24">
                <a:solidFill>
                  <a:srgbClr val="D2541F"/>
                </a:solidFill>
                <a:latin typeface="Arial"/>
              </a:rPr>
              <a:t>27</a:t>
            </a:r>
            <a:r>
              <a:rPr sz="1300" b="1">
                <a:solidFill>
                  <a:srgbClr val="D2541F"/>
                </a:solidFill>
                <a:latin typeface="Arial"/>
              </a:rPr>
              <a:t>%</a:t>
            </a:r>
          </a:p>
        </p:txBody>
      </p:sp>
      <p:sp>
        <p:nvSpPr>
          <p:cNvPr id="54" name="TextBox 53"/>
          <p:cNvSpPr txBox="1"/>
          <p:nvPr/>
        </p:nvSpPr>
        <p:spPr>
          <a:xfrm>
            <a:off x="7013448" y="2578608"/>
            <a:ext cx="2377440" cy="219456"/>
          </a:xfrm>
          <a:prstGeom prst="rect">
            <a:avLst/>
          </a:prstGeom>
          <a:noFill/>
        </p:spPr>
        <p:txBody>
          <a:bodyPr wrap="square" lIns="0" rIns="0" tIns="0" bIns="0" anchor="t">
            <a:spAutoFit/>
          </a:bodyPr>
          <a:lstStyle/>
          <a:p>
            <a:pPr algn="l"/>
            <a:r>
              <a:rPr sz="1150" b="1">
                <a:solidFill>
                  <a:srgbClr val="121313"/>
                </a:solidFill>
                <a:latin typeface="Arial"/>
              </a:rPr>
              <a:t>less energy per cell</a:t>
            </a:r>
          </a:p>
        </p:txBody>
      </p:sp>
      <p:sp>
        <p:nvSpPr>
          <p:cNvPr id="55" name="TextBox 54"/>
          <p:cNvSpPr txBox="1"/>
          <p:nvPr/>
        </p:nvSpPr>
        <p:spPr>
          <a:xfrm>
            <a:off x="7013448" y="2834639"/>
            <a:ext cx="2377440" cy="521207"/>
          </a:xfrm>
          <a:prstGeom prst="rect">
            <a:avLst/>
          </a:prstGeom>
          <a:noFill/>
        </p:spPr>
        <p:txBody>
          <a:bodyPr wrap="square" lIns="0" rIns="0" tIns="0" bIns="0" anchor="t">
            <a:spAutoFit/>
          </a:bodyPr>
          <a:lstStyle/>
          <a:p>
            <a:pPr algn="l">
              <a:lnSpc>
                <a:spcPct val="144000"/>
              </a:lnSpc>
            </a:pPr>
            <a:r>
              <a:rPr sz="950" b="0">
                <a:solidFill>
                  <a:srgbClr val="44474B"/>
                </a:solidFill>
                <a:latin typeface="Arial"/>
              </a:rPr>
              <a:t>Their own measured number. The 30 to 40% quoted in the press is only the coating step.</a:t>
            </a:r>
          </a:p>
        </p:txBody>
      </p:sp>
      <p:sp>
        <p:nvSpPr>
          <p:cNvPr id="56" name="TextBox 55"/>
          <p:cNvSpPr txBox="1"/>
          <p:nvPr/>
        </p:nvSpPr>
        <p:spPr>
          <a:xfrm>
            <a:off x="9710928" y="2103120"/>
            <a:ext cx="2468880" cy="530352"/>
          </a:xfrm>
          <a:prstGeom prst="rect">
            <a:avLst/>
          </a:prstGeom>
          <a:noFill/>
        </p:spPr>
        <p:txBody>
          <a:bodyPr wrap="square" lIns="0" rIns="0" tIns="0" bIns="0" anchor="t">
            <a:spAutoFit/>
          </a:bodyPr>
          <a:lstStyle/>
          <a:p>
            <a:pPr algn="l"/>
            <a:r>
              <a:rPr sz="3000" b="1" spc="-24">
                <a:solidFill>
                  <a:srgbClr val="2A66B0"/>
                </a:solidFill>
                <a:latin typeface="Arial"/>
              </a:rPr>
              <a:t>17-30</a:t>
            </a:r>
            <a:r>
              <a:rPr sz="1300" b="1">
                <a:solidFill>
                  <a:srgbClr val="2A66B0"/>
                </a:solidFill>
                <a:latin typeface="Arial"/>
              </a:rPr>
              <a:t>%</a:t>
            </a:r>
          </a:p>
        </p:txBody>
      </p:sp>
      <p:sp>
        <p:nvSpPr>
          <p:cNvPr id="57" name="TextBox 56"/>
          <p:cNvSpPr txBox="1"/>
          <p:nvPr/>
        </p:nvSpPr>
        <p:spPr>
          <a:xfrm>
            <a:off x="9710928" y="2578608"/>
            <a:ext cx="2468880" cy="219456"/>
          </a:xfrm>
          <a:prstGeom prst="rect">
            <a:avLst/>
          </a:prstGeom>
          <a:noFill/>
        </p:spPr>
        <p:txBody>
          <a:bodyPr wrap="square" lIns="0" rIns="0" tIns="0" bIns="0" anchor="t">
            <a:spAutoFit/>
          </a:bodyPr>
          <a:lstStyle/>
          <a:p>
            <a:pPr algn="l"/>
            <a:r>
              <a:rPr sz="1150" b="1">
                <a:solidFill>
                  <a:srgbClr val="121313"/>
                </a:solidFill>
                <a:latin typeface="Arial"/>
              </a:rPr>
              <a:t>possible cost saving</a:t>
            </a:r>
          </a:p>
        </p:txBody>
      </p:sp>
      <p:sp>
        <p:nvSpPr>
          <p:cNvPr id="58" name="TextBox 57"/>
          <p:cNvSpPr txBox="1"/>
          <p:nvPr/>
        </p:nvSpPr>
        <p:spPr>
          <a:xfrm>
            <a:off x="9710928" y="2834639"/>
            <a:ext cx="2468880" cy="347472"/>
          </a:xfrm>
          <a:prstGeom prst="rect">
            <a:avLst/>
          </a:prstGeom>
          <a:noFill/>
        </p:spPr>
        <p:txBody>
          <a:bodyPr wrap="square" lIns="0" rIns="0" tIns="0" bIns="0" anchor="t">
            <a:spAutoFit/>
          </a:bodyPr>
          <a:lstStyle/>
          <a:p>
            <a:pPr algn="l">
              <a:lnSpc>
                <a:spcPct val="144000"/>
              </a:lnSpc>
            </a:pPr>
            <a:r>
              <a:rPr sz="950" b="0">
                <a:solidFill>
                  <a:srgbClr val="44474B"/>
                </a:solidFill>
                <a:latin typeface="Arial"/>
              </a:rPr>
              <a:t>Industry estimate, plus a much smaller factory building.</a:t>
            </a:r>
          </a:p>
        </p:txBody>
      </p:sp>
      <p:sp>
        <p:nvSpPr>
          <p:cNvPr id="59" name="Rectangle 58"/>
          <p:cNvSpPr/>
          <p:nvPr/>
        </p:nvSpPr>
        <p:spPr>
          <a:xfrm>
            <a:off x="7013448" y="3846880"/>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7214616" y="3767328"/>
            <a:ext cx="4919472" cy="528066"/>
          </a:xfrm>
          <a:prstGeom prst="rect">
            <a:avLst/>
          </a:prstGeom>
          <a:noFill/>
        </p:spPr>
        <p:txBody>
          <a:bodyPr wrap="square" lIns="0" rIns="0" tIns="0" bIns="0" anchor="t">
            <a:spAutoFit/>
          </a:bodyPr>
          <a:lstStyle/>
          <a:p>
            <a:pPr algn="l">
              <a:lnSpc>
                <a:spcPct val="132000"/>
              </a:lnSpc>
            </a:pPr>
            <a:r>
              <a:rPr sz="1050" b="1">
                <a:solidFill>
                  <a:srgbClr val="121313"/>
                </a:solidFill>
                <a:latin typeface="Arial"/>
              </a:rPr>
              <a:t>The lead is about three years, not ten. </a:t>
            </a:r>
            <a:r>
              <a:rPr sz="1050" b="0">
                <a:solidFill>
                  <a:srgbClr val="44474B"/>
                </a:solidFill>
                <a:latin typeface="Arial"/>
              </a:rPr>
              <a:t>LG starts mass production in 2028, Samsung is testing, and Fraunhofer will license the method to anyone who asks.</a:t>
            </a:r>
          </a:p>
        </p:txBody>
      </p:sp>
      <p:sp>
        <p:nvSpPr>
          <p:cNvPr id="61" name="Rectangle 60"/>
          <p:cNvSpPr/>
          <p:nvPr/>
        </p:nvSpPr>
        <p:spPr>
          <a:xfrm>
            <a:off x="7013448" y="4539538"/>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7214616" y="4459986"/>
            <a:ext cx="4919472" cy="528066"/>
          </a:xfrm>
          <a:prstGeom prst="rect">
            <a:avLst/>
          </a:prstGeom>
          <a:noFill/>
        </p:spPr>
        <p:txBody>
          <a:bodyPr wrap="square" lIns="0" rIns="0" tIns="0" bIns="0" anchor="t">
            <a:spAutoFit/>
          </a:bodyPr>
          <a:lstStyle/>
          <a:p>
            <a:pPr algn="l">
              <a:lnSpc>
                <a:spcPct val="132000"/>
              </a:lnSpc>
            </a:pPr>
            <a:r>
              <a:rPr sz="1050" b="1">
                <a:solidFill>
                  <a:srgbClr val="121313"/>
                </a:solidFill>
                <a:latin typeface="Arial"/>
              </a:rPr>
              <a:t>Be careful with their headline spec. </a:t>
            </a:r>
            <a:r>
              <a:rPr sz="1050" b="0">
                <a:solidFill>
                  <a:srgbClr val="44474B"/>
                </a:solidFill>
                <a:latin typeface="Arial"/>
              </a:rPr>
              <a:t>Their cell claims 330 Wh/kg against a rival's 284, but the entire difference is 12 grams of casing. Energy per cell is actually 2.4% lower.</a:t>
            </a:r>
          </a:p>
        </p:txBody>
      </p:sp>
      <p:sp>
        <p:nvSpPr>
          <p:cNvPr id="63" name="Rectangle 62"/>
          <p:cNvSpPr/>
          <p:nvPr/>
        </p:nvSpPr>
        <p:spPr>
          <a:xfrm>
            <a:off x="7013448" y="5232196"/>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7214616" y="5152644"/>
            <a:ext cx="4919472" cy="528066"/>
          </a:xfrm>
          <a:prstGeom prst="rect">
            <a:avLst/>
          </a:prstGeom>
          <a:noFill/>
        </p:spPr>
        <p:txBody>
          <a:bodyPr wrap="square" lIns="0" rIns="0" tIns="0" bIns="0" anchor="t">
            <a:spAutoFit/>
          </a:bodyPr>
          <a:lstStyle/>
          <a:p>
            <a:pPr algn="l">
              <a:lnSpc>
                <a:spcPct val="132000"/>
              </a:lnSpc>
            </a:pPr>
            <a:r>
              <a:rPr sz="1050" b="1">
                <a:solidFill>
                  <a:srgbClr val="121313"/>
                </a:solidFill>
                <a:latin typeface="Arial"/>
              </a:rPr>
              <a:t>Someone else's problem is our opening. </a:t>
            </a:r>
            <a:r>
              <a:rPr sz="1050" b="0">
                <a:solidFill>
                  <a:srgbClr val="44474B"/>
                </a:solidFill>
                <a:latin typeface="Arial"/>
              </a:rPr>
              <a:t>Durr and LiCAP have a proven European dry-coating system and no test site since Cellforce shut. They are openly seeking a partner.</a:t>
            </a:r>
          </a:p>
        </p:txBody>
      </p:sp>
      <p:sp>
        <p:nvSpPr>
          <p:cNvPr id="65" name="TextBox 64"/>
          <p:cNvSpPr txBox="1"/>
          <p:nvPr/>
        </p:nvSpPr>
        <p:spPr>
          <a:xfrm>
            <a:off x="658368" y="6126480"/>
            <a:ext cx="10874959" cy="310896"/>
          </a:xfrm>
          <a:prstGeom prst="rect">
            <a:avLst/>
          </a:prstGeom>
          <a:noFill/>
        </p:spPr>
        <p:txBody>
          <a:bodyPr wrap="square" lIns="0" rIns="0" tIns="0" bIns="0" anchor="t">
            <a:spAutoFit/>
          </a:bodyPr>
          <a:lstStyle/>
          <a:p>
            <a:pPr algn="l">
              <a:lnSpc>
                <a:spcPct val="134000"/>
              </a:lnSpc>
            </a:pPr>
            <a:r>
              <a:rPr sz="800" b="0">
                <a:solidFill>
                  <a:srgbClr val="9A9DA3"/>
                </a:solidFill>
                <a:latin typeface="Arial"/>
              </a:rPr>
              <a:t>Tesla's Q4 2025 shareholder letter - Dr Stefan Permien at Battery Power Europe, April 2026 - LG and Samsung SDI company guidance - Fraunhofer IWS - Durr public statements,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326319" cy="1005840"/>
          </a:xfrm>
          <a:prstGeom prst="rect">
            <a:avLst/>
          </a:prstGeom>
          <a:noFill/>
        </p:spPr>
        <p:txBody>
          <a:bodyPr wrap="square" lIns="0" rIns="0" tIns="0" bIns="0" anchor="t">
            <a:spAutoFit/>
          </a:bodyPr>
          <a:lstStyle/>
          <a:p>
            <a:pPr algn="l">
              <a:lnSpc>
                <a:spcPct val="104000"/>
              </a:lnSpc>
            </a:pPr>
            <a:r>
              <a:rPr sz="3100" b="1" spc="-22">
                <a:solidFill>
                  <a:srgbClr val="121313"/>
                </a:solidFill>
                <a:latin typeface="Arial"/>
              </a:rPr>
              <a:t>Where the money sits in this industry</a:t>
            </a:r>
          </a:p>
        </p:txBody>
      </p:sp>
      <p:sp>
        <p:nvSpPr>
          <p:cNvPr id="4" name="TextBox 3"/>
          <p:cNvSpPr txBox="1"/>
          <p:nvPr/>
        </p:nvSpPr>
        <p:spPr>
          <a:xfrm>
            <a:off x="658368" y="6464807"/>
            <a:ext cx="914400" cy="182880"/>
          </a:xfrm>
          <a:prstGeom prst="rect">
            <a:avLst/>
          </a:prstGeom>
          <a:noFill/>
        </p:spPr>
        <p:txBody>
          <a:bodyPr wrap="square" lIns="0" rIns="0" tIns="0" bIns="0" anchor="t">
            <a:spAutoFit/>
          </a:bodyPr>
          <a:lstStyle/>
          <a:p>
            <a:pPr algn="l"/>
            <a:r>
              <a:rPr sz="900" b="1">
                <a:solidFill>
                  <a:srgbClr val="808288"/>
                </a:solidFill>
                <a:latin typeface="Arial"/>
              </a:rPr>
              <a:t>11 / 16</a:t>
            </a:r>
          </a:p>
        </p:txBody>
      </p:sp>
      <p:sp>
        <p:nvSpPr>
          <p:cNvPr id="5" name="Rectangle 4"/>
          <p:cNvSpPr/>
          <p:nvPr/>
        </p:nvSpPr>
        <p:spPr>
          <a:xfrm>
            <a:off x="1371600"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83411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9662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275914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22165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8417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14668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60920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07171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53423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996749" y="6492240"/>
            <a:ext cx="43508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45926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92177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38429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4680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30932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521647" y="6464807"/>
            <a:ext cx="2011680" cy="182880"/>
          </a:xfrm>
          <a:prstGeom prst="rect">
            <a:avLst/>
          </a:prstGeom>
          <a:noFill/>
        </p:spPr>
        <p:txBody>
          <a:bodyPr wrap="square" lIns="0" rIns="0" tIns="0" bIns="0" anchor="t">
            <a:spAutoFit/>
          </a:bodyPr>
          <a:lstStyle/>
          <a:p>
            <a:pPr algn="r"/>
            <a:r>
              <a:rPr sz="900" b="0">
                <a:solidFill>
                  <a:srgbClr val="808288"/>
                </a:solidFill>
                <a:latin typeface="Arial"/>
              </a:rPr>
              <a:t>Part four: the structure</a:t>
            </a:r>
          </a:p>
        </p:txBody>
      </p:sp>
      <p:sp>
        <p:nvSpPr>
          <p:cNvPr id="22" name="Rounded Rectangle 21"/>
          <p:cNvSpPr/>
          <p:nvPr/>
        </p:nvSpPr>
        <p:spPr>
          <a:xfrm>
            <a:off x="658368" y="1783080"/>
            <a:ext cx="6400800" cy="40233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96112" y="1965960"/>
            <a:ext cx="5943600" cy="201168"/>
          </a:xfrm>
          <a:prstGeom prst="rect">
            <a:avLst/>
          </a:prstGeom>
          <a:noFill/>
        </p:spPr>
        <p:txBody>
          <a:bodyPr wrap="square" lIns="0" rIns="0" tIns="0" bIns="0" anchor="t">
            <a:spAutoFit/>
          </a:bodyPr>
          <a:lstStyle/>
          <a:p>
            <a:pPr algn="l"/>
            <a:r>
              <a:rPr sz="1100" b="1">
                <a:solidFill>
                  <a:srgbClr val="121313"/>
                </a:solidFill>
                <a:latin typeface="Arial"/>
              </a:rPr>
              <a:t>Where the value is created, from mine to pack</a:t>
            </a:r>
          </a:p>
        </p:txBody>
      </p:sp>
      <p:sp>
        <p:nvSpPr>
          <p:cNvPr id="24" name="TextBox 23"/>
          <p:cNvSpPr txBox="1"/>
          <p:nvPr/>
        </p:nvSpPr>
        <p:spPr>
          <a:xfrm>
            <a:off x="896112" y="2176272"/>
            <a:ext cx="5943600" cy="182880"/>
          </a:xfrm>
          <a:prstGeom prst="rect">
            <a:avLst/>
          </a:prstGeom>
          <a:noFill/>
        </p:spPr>
        <p:txBody>
          <a:bodyPr wrap="square" lIns="0" rIns="0" tIns="0" bIns="0" anchor="t">
            <a:spAutoFit/>
          </a:bodyPr>
          <a:lstStyle/>
          <a:p>
            <a:pPr algn="l"/>
            <a:r>
              <a:rPr sz="950" b="0">
                <a:solidFill>
                  <a:srgbClr val="808288"/>
                </a:solidFill>
                <a:latin typeface="Arial"/>
              </a:rPr>
              <a:t>share of total value added across the chain, our estimate</a:t>
            </a:r>
          </a:p>
        </p:txBody>
      </p:sp>
      <p:sp>
        <p:nvSpPr>
          <p:cNvPr id="25" name="Rounded Rectangle 24"/>
          <p:cNvSpPr/>
          <p:nvPr/>
        </p:nvSpPr>
        <p:spPr>
          <a:xfrm>
            <a:off x="932688" y="2551176"/>
            <a:ext cx="3163824" cy="274320"/>
          </a:xfrm>
          <a:prstGeom prst="roundRect">
            <a:avLst>
              <a:gd name="adj" fmla="val 35000"/>
            </a:avLst>
          </a:prstGeom>
          <a:solidFill>
            <a:srgbClr val="2A6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4151376" y="2551176"/>
            <a:ext cx="1232611" cy="274320"/>
          </a:xfrm>
          <a:prstGeom prst="roundRect">
            <a:avLst>
              <a:gd name="adj" fmla="val 35000"/>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5438851" y="2551176"/>
            <a:ext cx="705916" cy="274320"/>
          </a:xfrm>
          <a:prstGeom prst="roundRect">
            <a:avLst>
              <a:gd name="adj" fmla="val 35000"/>
            </a:avLst>
          </a:prstGeom>
          <a:solidFill>
            <a:srgbClr val="AFB3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6199632" y="2551176"/>
            <a:ext cx="530352" cy="274320"/>
          </a:xfrm>
          <a:prstGeom prst="roundRect">
            <a:avLst>
              <a:gd name="adj" fmla="val 35000"/>
            </a:avLst>
          </a:prstGeom>
          <a:solidFill>
            <a:srgbClr val="078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932688" y="2990088"/>
            <a:ext cx="118872" cy="118872"/>
          </a:xfrm>
          <a:prstGeom prst="rect">
            <a:avLst/>
          </a:prstGeom>
          <a:solidFill>
            <a:srgbClr val="2A6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115568" y="2948940"/>
            <a:ext cx="1280160" cy="182880"/>
          </a:xfrm>
          <a:prstGeom prst="rect">
            <a:avLst/>
          </a:prstGeom>
          <a:noFill/>
        </p:spPr>
        <p:txBody>
          <a:bodyPr wrap="none" lIns="0" rIns="0" tIns="0" bIns="0" anchor="t">
            <a:spAutoFit/>
          </a:bodyPr>
          <a:lstStyle/>
          <a:p>
            <a:pPr algn="l"/>
            <a:r>
              <a:rPr sz="850" b="0">
                <a:solidFill>
                  <a:srgbClr val="808288"/>
                </a:solidFill>
                <a:latin typeface="Arial"/>
              </a:rPr>
              <a:t>Digging and refining</a:t>
            </a:r>
          </a:p>
        </p:txBody>
      </p:sp>
      <p:sp>
        <p:nvSpPr>
          <p:cNvPr id="31" name="TextBox 30"/>
          <p:cNvSpPr txBox="1"/>
          <p:nvPr/>
        </p:nvSpPr>
        <p:spPr>
          <a:xfrm>
            <a:off x="1115568" y="3113532"/>
            <a:ext cx="1280160" cy="182880"/>
          </a:xfrm>
          <a:prstGeom prst="rect">
            <a:avLst/>
          </a:prstGeom>
          <a:noFill/>
        </p:spPr>
        <p:txBody>
          <a:bodyPr wrap="none" lIns="0" rIns="0" tIns="0" bIns="0" anchor="t">
            <a:spAutoFit/>
          </a:bodyPr>
          <a:lstStyle/>
          <a:p>
            <a:pPr algn="l"/>
            <a:r>
              <a:rPr sz="950" b="1">
                <a:solidFill>
                  <a:srgbClr val="44474B"/>
                </a:solidFill>
                <a:latin typeface="Arial"/>
              </a:rPr>
              <a:t>55%</a:t>
            </a:r>
          </a:p>
        </p:txBody>
      </p:sp>
      <p:sp>
        <p:nvSpPr>
          <p:cNvPr id="32" name="Rectangle 31"/>
          <p:cNvSpPr/>
          <p:nvPr/>
        </p:nvSpPr>
        <p:spPr>
          <a:xfrm>
            <a:off x="2414016" y="2990088"/>
            <a:ext cx="118872" cy="11887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2596896" y="2948940"/>
            <a:ext cx="1280160" cy="182880"/>
          </a:xfrm>
          <a:prstGeom prst="rect">
            <a:avLst/>
          </a:prstGeom>
          <a:noFill/>
        </p:spPr>
        <p:txBody>
          <a:bodyPr wrap="none" lIns="0" rIns="0" tIns="0" bIns="0" anchor="t">
            <a:spAutoFit/>
          </a:bodyPr>
          <a:lstStyle/>
          <a:p>
            <a:pPr algn="l"/>
            <a:r>
              <a:rPr sz="850" b="0">
                <a:solidFill>
                  <a:srgbClr val="808288"/>
                </a:solidFill>
                <a:latin typeface="Arial"/>
              </a:rPr>
              <a:t>Electrodes and cells</a:t>
            </a:r>
          </a:p>
        </p:txBody>
      </p:sp>
      <p:sp>
        <p:nvSpPr>
          <p:cNvPr id="34" name="TextBox 33"/>
          <p:cNvSpPr txBox="1"/>
          <p:nvPr/>
        </p:nvSpPr>
        <p:spPr>
          <a:xfrm>
            <a:off x="2596896" y="3113532"/>
            <a:ext cx="1280160" cy="182880"/>
          </a:xfrm>
          <a:prstGeom prst="rect">
            <a:avLst/>
          </a:prstGeom>
          <a:noFill/>
        </p:spPr>
        <p:txBody>
          <a:bodyPr wrap="none" lIns="0" rIns="0" tIns="0" bIns="0" anchor="t">
            <a:spAutoFit/>
          </a:bodyPr>
          <a:lstStyle/>
          <a:p>
            <a:pPr algn="l"/>
            <a:r>
              <a:rPr sz="950" b="1">
                <a:solidFill>
                  <a:srgbClr val="44474B"/>
                </a:solidFill>
                <a:latin typeface="Arial"/>
              </a:rPr>
              <a:t>22%</a:t>
            </a:r>
          </a:p>
        </p:txBody>
      </p:sp>
      <p:sp>
        <p:nvSpPr>
          <p:cNvPr id="35" name="Rectangle 34"/>
          <p:cNvSpPr/>
          <p:nvPr/>
        </p:nvSpPr>
        <p:spPr>
          <a:xfrm>
            <a:off x="3895344" y="2990088"/>
            <a:ext cx="118872" cy="118872"/>
          </a:xfrm>
          <a:prstGeom prst="rect">
            <a:avLst/>
          </a:prstGeom>
          <a:solidFill>
            <a:srgbClr val="AFB3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078224" y="2948940"/>
            <a:ext cx="1280160" cy="182880"/>
          </a:xfrm>
          <a:prstGeom prst="rect">
            <a:avLst/>
          </a:prstGeom>
          <a:noFill/>
        </p:spPr>
        <p:txBody>
          <a:bodyPr wrap="none" lIns="0" rIns="0" tIns="0" bIns="0" anchor="t">
            <a:spAutoFit/>
          </a:bodyPr>
          <a:lstStyle/>
          <a:p>
            <a:pPr algn="l"/>
            <a:r>
              <a:rPr sz="850" b="0">
                <a:solidFill>
                  <a:srgbClr val="808288"/>
                </a:solidFill>
                <a:latin typeface="Arial"/>
              </a:rPr>
              <a:t>Packs</a:t>
            </a:r>
          </a:p>
        </p:txBody>
      </p:sp>
      <p:sp>
        <p:nvSpPr>
          <p:cNvPr id="37" name="TextBox 36"/>
          <p:cNvSpPr txBox="1"/>
          <p:nvPr/>
        </p:nvSpPr>
        <p:spPr>
          <a:xfrm>
            <a:off x="4078224" y="3113532"/>
            <a:ext cx="1280160" cy="182880"/>
          </a:xfrm>
          <a:prstGeom prst="rect">
            <a:avLst/>
          </a:prstGeom>
          <a:noFill/>
        </p:spPr>
        <p:txBody>
          <a:bodyPr wrap="none" lIns="0" rIns="0" tIns="0" bIns="0" anchor="t">
            <a:spAutoFit/>
          </a:bodyPr>
          <a:lstStyle/>
          <a:p>
            <a:pPr algn="l"/>
            <a:r>
              <a:rPr sz="950" b="1">
                <a:solidFill>
                  <a:srgbClr val="44474B"/>
                </a:solidFill>
                <a:latin typeface="Arial"/>
              </a:rPr>
              <a:t>13%</a:t>
            </a:r>
          </a:p>
        </p:txBody>
      </p:sp>
      <p:sp>
        <p:nvSpPr>
          <p:cNvPr id="38" name="Rectangle 37"/>
          <p:cNvSpPr/>
          <p:nvPr/>
        </p:nvSpPr>
        <p:spPr>
          <a:xfrm>
            <a:off x="5376672" y="2990088"/>
            <a:ext cx="118872" cy="118872"/>
          </a:xfrm>
          <a:prstGeom prst="rect">
            <a:avLst/>
          </a:prstGeom>
          <a:solidFill>
            <a:srgbClr val="078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559552" y="2948940"/>
            <a:ext cx="1280160" cy="182880"/>
          </a:xfrm>
          <a:prstGeom prst="rect">
            <a:avLst/>
          </a:prstGeom>
          <a:noFill/>
        </p:spPr>
        <p:txBody>
          <a:bodyPr wrap="none" lIns="0" rIns="0" tIns="0" bIns="0" anchor="t">
            <a:spAutoFit/>
          </a:bodyPr>
          <a:lstStyle/>
          <a:p>
            <a:pPr algn="l"/>
            <a:r>
              <a:rPr sz="850" b="0">
                <a:solidFill>
                  <a:srgbClr val="808288"/>
                </a:solidFill>
                <a:latin typeface="Arial"/>
              </a:rPr>
              <a:t>Systems and recycling</a:t>
            </a:r>
          </a:p>
        </p:txBody>
      </p:sp>
      <p:sp>
        <p:nvSpPr>
          <p:cNvPr id="40" name="TextBox 39"/>
          <p:cNvSpPr txBox="1"/>
          <p:nvPr/>
        </p:nvSpPr>
        <p:spPr>
          <a:xfrm>
            <a:off x="5559552" y="3113532"/>
            <a:ext cx="1280160" cy="182880"/>
          </a:xfrm>
          <a:prstGeom prst="rect">
            <a:avLst/>
          </a:prstGeom>
          <a:noFill/>
        </p:spPr>
        <p:txBody>
          <a:bodyPr wrap="none" lIns="0" rIns="0" tIns="0" bIns="0" anchor="t">
            <a:spAutoFit/>
          </a:bodyPr>
          <a:lstStyle/>
          <a:p>
            <a:pPr algn="l"/>
            <a:r>
              <a:rPr sz="950" b="1">
                <a:solidFill>
                  <a:srgbClr val="44474B"/>
                </a:solidFill>
                <a:latin typeface="Arial"/>
              </a:rPr>
              <a:t>10%</a:t>
            </a:r>
          </a:p>
        </p:txBody>
      </p:sp>
      <p:sp>
        <p:nvSpPr>
          <p:cNvPr id="41" name="TextBox 40"/>
          <p:cNvSpPr txBox="1"/>
          <p:nvPr/>
        </p:nvSpPr>
        <p:spPr>
          <a:xfrm>
            <a:off x="932688" y="3483864"/>
            <a:ext cx="1664207" cy="182880"/>
          </a:xfrm>
          <a:prstGeom prst="rect">
            <a:avLst/>
          </a:prstGeom>
          <a:noFill/>
        </p:spPr>
        <p:txBody>
          <a:bodyPr wrap="square" lIns="0" rIns="0" tIns="0" bIns="0" anchor="t">
            <a:spAutoFit/>
          </a:bodyPr>
          <a:lstStyle/>
          <a:p>
            <a:pPr algn="l"/>
            <a:r>
              <a:rPr sz="900" b="1" spc="110">
                <a:solidFill>
                  <a:srgbClr val="9A9DA3"/>
                </a:solidFill>
                <a:latin typeface="Arial"/>
              </a:rPr>
              <a:t>STEP</a:t>
            </a:r>
          </a:p>
        </p:txBody>
      </p:sp>
      <p:sp>
        <p:nvSpPr>
          <p:cNvPr id="42" name="TextBox 41"/>
          <p:cNvSpPr txBox="1"/>
          <p:nvPr/>
        </p:nvSpPr>
        <p:spPr>
          <a:xfrm>
            <a:off x="2670048" y="3483864"/>
            <a:ext cx="2487168" cy="182880"/>
          </a:xfrm>
          <a:prstGeom prst="rect">
            <a:avLst/>
          </a:prstGeom>
          <a:noFill/>
        </p:spPr>
        <p:txBody>
          <a:bodyPr wrap="square" lIns="0" rIns="0" tIns="0" bIns="0" anchor="t">
            <a:spAutoFit/>
          </a:bodyPr>
          <a:lstStyle/>
          <a:p>
            <a:pPr algn="l"/>
            <a:r>
              <a:rPr sz="900" b="1" spc="110">
                <a:solidFill>
                  <a:srgbClr val="9A9DA3"/>
                </a:solidFill>
                <a:latin typeface="Arial"/>
              </a:rPr>
              <a:t>WHO CONTROLS IT</a:t>
            </a:r>
          </a:p>
        </p:txBody>
      </p:sp>
      <p:sp>
        <p:nvSpPr>
          <p:cNvPr id="43" name="TextBox 42"/>
          <p:cNvSpPr txBox="1"/>
          <p:nvPr/>
        </p:nvSpPr>
        <p:spPr>
          <a:xfrm>
            <a:off x="5230368" y="3483864"/>
            <a:ext cx="1481328" cy="182880"/>
          </a:xfrm>
          <a:prstGeom prst="rect">
            <a:avLst/>
          </a:prstGeom>
          <a:noFill/>
        </p:spPr>
        <p:txBody>
          <a:bodyPr wrap="square" lIns="0" rIns="0" tIns="0" bIns="0" anchor="t">
            <a:spAutoFit/>
          </a:bodyPr>
          <a:lstStyle/>
          <a:p>
            <a:pPr algn="l"/>
            <a:r>
              <a:rPr sz="900" b="1" spc="110">
                <a:solidFill>
                  <a:srgbClr val="9A9DA3"/>
                </a:solidFill>
                <a:latin typeface="Arial"/>
              </a:rPr>
              <a:t>DO THEY PLAY?</a:t>
            </a:r>
          </a:p>
        </p:txBody>
      </p:sp>
      <p:sp>
        <p:nvSpPr>
          <p:cNvPr id="44" name="Rectangle 43"/>
          <p:cNvSpPr/>
          <p:nvPr/>
        </p:nvSpPr>
        <p:spPr>
          <a:xfrm>
            <a:off x="932688" y="3698748"/>
            <a:ext cx="5852160" cy="10972"/>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841248" y="3726180"/>
            <a:ext cx="6035040" cy="356615"/>
          </a:xfrm>
          <a:prstGeom prst="roundRect">
            <a:avLst>
              <a:gd name="adj" fmla="val 18000"/>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932688" y="3776472"/>
            <a:ext cx="1664207" cy="356615"/>
          </a:xfrm>
          <a:prstGeom prst="rect">
            <a:avLst/>
          </a:prstGeom>
          <a:noFill/>
        </p:spPr>
        <p:txBody>
          <a:bodyPr wrap="square" lIns="0" rIns="0" tIns="0" bIns="0" anchor="ctr">
            <a:spAutoFit/>
          </a:bodyPr>
          <a:lstStyle/>
          <a:p>
            <a:pPr algn="l"/>
            <a:r>
              <a:rPr sz="950" b="1">
                <a:solidFill>
                  <a:srgbClr val="121313"/>
                </a:solidFill>
                <a:latin typeface="Arial"/>
              </a:rPr>
              <a:t>Mining</a:t>
            </a:r>
          </a:p>
        </p:txBody>
      </p:sp>
      <p:sp>
        <p:nvSpPr>
          <p:cNvPr id="47" name="TextBox 46"/>
          <p:cNvSpPr txBox="1"/>
          <p:nvPr/>
        </p:nvSpPr>
        <p:spPr>
          <a:xfrm>
            <a:off x="2670048" y="3776472"/>
            <a:ext cx="2487168" cy="356615"/>
          </a:xfrm>
          <a:prstGeom prst="rect">
            <a:avLst/>
          </a:prstGeom>
          <a:noFill/>
        </p:spPr>
        <p:txBody>
          <a:bodyPr wrap="square" lIns="0" rIns="0" tIns="0" bIns="0" anchor="ctr">
            <a:spAutoFit/>
          </a:bodyPr>
          <a:lstStyle/>
          <a:p>
            <a:pPr algn="l"/>
            <a:r>
              <a:rPr sz="950" b="0">
                <a:solidFill>
                  <a:srgbClr val="44474B"/>
                </a:solidFill>
                <a:latin typeface="Arial"/>
              </a:rPr>
              <a:t>Australia, Chile, Indonesia</a:t>
            </a:r>
          </a:p>
        </p:txBody>
      </p:sp>
      <p:sp>
        <p:nvSpPr>
          <p:cNvPr id="48" name="TextBox 47"/>
          <p:cNvSpPr txBox="1"/>
          <p:nvPr/>
        </p:nvSpPr>
        <p:spPr>
          <a:xfrm>
            <a:off x="5230368" y="3776472"/>
            <a:ext cx="1481328" cy="356615"/>
          </a:xfrm>
          <a:prstGeom prst="rect">
            <a:avLst/>
          </a:prstGeom>
          <a:noFill/>
        </p:spPr>
        <p:txBody>
          <a:bodyPr wrap="square" lIns="0" rIns="0" tIns="0" bIns="0" anchor="ctr">
            <a:spAutoFit/>
          </a:bodyPr>
          <a:lstStyle/>
          <a:p>
            <a:pPr algn="l"/>
            <a:r>
              <a:rPr sz="950" b="0">
                <a:solidFill>
                  <a:srgbClr val="44474B"/>
                </a:solidFill>
                <a:latin typeface="Arial"/>
              </a:rPr>
              <a:t>No</a:t>
            </a:r>
          </a:p>
        </p:txBody>
      </p:sp>
      <p:sp>
        <p:nvSpPr>
          <p:cNvPr id="49" name="TextBox 48"/>
          <p:cNvSpPr txBox="1"/>
          <p:nvPr/>
        </p:nvSpPr>
        <p:spPr>
          <a:xfrm>
            <a:off x="932688" y="4151376"/>
            <a:ext cx="1664207" cy="356615"/>
          </a:xfrm>
          <a:prstGeom prst="rect">
            <a:avLst/>
          </a:prstGeom>
          <a:noFill/>
        </p:spPr>
        <p:txBody>
          <a:bodyPr wrap="square" lIns="0" rIns="0" tIns="0" bIns="0" anchor="ctr">
            <a:spAutoFit/>
          </a:bodyPr>
          <a:lstStyle/>
          <a:p>
            <a:pPr algn="l"/>
            <a:r>
              <a:rPr sz="950" b="1">
                <a:solidFill>
                  <a:srgbClr val="121313"/>
                </a:solidFill>
                <a:latin typeface="Arial"/>
              </a:rPr>
              <a:t>Refining</a:t>
            </a:r>
          </a:p>
        </p:txBody>
      </p:sp>
      <p:sp>
        <p:nvSpPr>
          <p:cNvPr id="50" name="TextBox 49"/>
          <p:cNvSpPr txBox="1"/>
          <p:nvPr/>
        </p:nvSpPr>
        <p:spPr>
          <a:xfrm>
            <a:off x="2670048" y="4151376"/>
            <a:ext cx="2487168" cy="356615"/>
          </a:xfrm>
          <a:prstGeom prst="rect">
            <a:avLst/>
          </a:prstGeom>
          <a:noFill/>
        </p:spPr>
        <p:txBody>
          <a:bodyPr wrap="square" lIns="0" rIns="0" tIns="0" bIns="0" anchor="ctr">
            <a:spAutoFit/>
          </a:bodyPr>
          <a:lstStyle/>
          <a:p>
            <a:pPr algn="l"/>
            <a:r>
              <a:rPr sz="950" b="0">
                <a:solidFill>
                  <a:srgbClr val="44474B"/>
                </a:solidFill>
                <a:latin typeface="Arial"/>
              </a:rPr>
              <a:t>China, 74 to 94%</a:t>
            </a:r>
          </a:p>
        </p:txBody>
      </p:sp>
      <p:sp>
        <p:nvSpPr>
          <p:cNvPr id="51" name="TextBox 50"/>
          <p:cNvSpPr txBox="1"/>
          <p:nvPr/>
        </p:nvSpPr>
        <p:spPr>
          <a:xfrm>
            <a:off x="5230368" y="4151376"/>
            <a:ext cx="1481328" cy="356615"/>
          </a:xfrm>
          <a:prstGeom prst="rect">
            <a:avLst/>
          </a:prstGeom>
          <a:noFill/>
        </p:spPr>
        <p:txBody>
          <a:bodyPr wrap="square" lIns="0" rIns="0" tIns="0" bIns="0" anchor="ctr">
            <a:spAutoFit/>
          </a:bodyPr>
          <a:lstStyle/>
          <a:p>
            <a:pPr algn="l"/>
            <a:r>
              <a:rPr sz="950" b="0">
                <a:solidFill>
                  <a:srgbClr val="44474B"/>
                </a:solidFill>
                <a:latin typeface="Arial"/>
              </a:rPr>
              <a:t>No</a:t>
            </a:r>
          </a:p>
        </p:txBody>
      </p:sp>
      <p:sp>
        <p:nvSpPr>
          <p:cNvPr id="52" name="Rounded Rectangle 51"/>
          <p:cNvSpPr/>
          <p:nvPr/>
        </p:nvSpPr>
        <p:spPr>
          <a:xfrm>
            <a:off x="841248" y="4475988"/>
            <a:ext cx="6035040" cy="356615"/>
          </a:xfrm>
          <a:prstGeom prst="roundRect">
            <a:avLst>
              <a:gd name="adj" fmla="val 18000"/>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932688" y="4526280"/>
            <a:ext cx="1664207" cy="356615"/>
          </a:xfrm>
          <a:prstGeom prst="rect">
            <a:avLst/>
          </a:prstGeom>
          <a:noFill/>
        </p:spPr>
        <p:txBody>
          <a:bodyPr wrap="square" lIns="0" rIns="0" tIns="0" bIns="0" anchor="ctr">
            <a:spAutoFit/>
          </a:bodyPr>
          <a:lstStyle/>
          <a:p>
            <a:pPr algn="l"/>
            <a:r>
              <a:rPr sz="950" b="1">
                <a:solidFill>
                  <a:srgbClr val="D2541F"/>
                </a:solidFill>
                <a:latin typeface="Arial"/>
              </a:rPr>
              <a:t>Coating electrodes</a:t>
            </a:r>
          </a:p>
        </p:txBody>
      </p:sp>
      <p:sp>
        <p:nvSpPr>
          <p:cNvPr id="54" name="TextBox 53"/>
          <p:cNvSpPr txBox="1"/>
          <p:nvPr/>
        </p:nvSpPr>
        <p:spPr>
          <a:xfrm>
            <a:off x="2670048" y="4526280"/>
            <a:ext cx="2487168" cy="356615"/>
          </a:xfrm>
          <a:prstGeom prst="rect">
            <a:avLst/>
          </a:prstGeom>
          <a:noFill/>
        </p:spPr>
        <p:txBody>
          <a:bodyPr wrap="square" lIns="0" rIns="0" tIns="0" bIns="0" anchor="ctr">
            <a:spAutoFit/>
          </a:bodyPr>
          <a:lstStyle/>
          <a:p>
            <a:pPr algn="l"/>
            <a:r>
              <a:rPr sz="950" b="1">
                <a:solidFill>
                  <a:srgbClr val="44474B"/>
                </a:solidFill>
                <a:latin typeface="Arial"/>
              </a:rPr>
              <a:t>Fragmented, almost nobody sells it</a:t>
            </a:r>
          </a:p>
        </p:txBody>
      </p:sp>
      <p:sp>
        <p:nvSpPr>
          <p:cNvPr id="55" name="TextBox 54"/>
          <p:cNvSpPr txBox="1"/>
          <p:nvPr/>
        </p:nvSpPr>
        <p:spPr>
          <a:xfrm>
            <a:off x="5230368" y="4526280"/>
            <a:ext cx="1481328" cy="356615"/>
          </a:xfrm>
          <a:prstGeom prst="rect">
            <a:avLst/>
          </a:prstGeom>
          <a:noFill/>
        </p:spPr>
        <p:txBody>
          <a:bodyPr wrap="square" lIns="0" rIns="0" tIns="0" bIns="0" anchor="ctr">
            <a:spAutoFit/>
          </a:bodyPr>
          <a:lstStyle/>
          <a:p>
            <a:pPr algn="l"/>
            <a:r>
              <a:rPr sz="950" b="1">
                <a:solidFill>
                  <a:srgbClr val="44474B"/>
                </a:solidFill>
                <a:latin typeface="Arial"/>
              </a:rPr>
              <a:t>Yes, this is their business</a:t>
            </a:r>
          </a:p>
        </p:txBody>
      </p:sp>
      <p:sp>
        <p:nvSpPr>
          <p:cNvPr id="56" name="TextBox 55"/>
          <p:cNvSpPr txBox="1"/>
          <p:nvPr/>
        </p:nvSpPr>
        <p:spPr>
          <a:xfrm>
            <a:off x="932688" y="4901184"/>
            <a:ext cx="1664207" cy="356615"/>
          </a:xfrm>
          <a:prstGeom prst="rect">
            <a:avLst/>
          </a:prstGeom>
          <a:noFill/>
        </p:spPr>
        <p:txBody>
          <a:bodyPr wrap="square" lIns="0" rIns="0" tIns="0" bIns="0" anchor="ctr">
            <a:spAutoFit/>
          </a:bodyPr>
          <a:lstStyle/>
          <a:p>
            <a:pPr algn="l"/>
            <a:r>
              <a:rPr sz="950" b="1">
                <a:solidFill>
                  <a:srgbClr val="D2541F"/>
                </a:solidFill>
                <a:latin typeface="Arial"/>
              </a:rPr>
              <a:t>Making cells</a:t>
            </a:r>
          </a:p>
        </p:txBody>
      </p:sp>
      <p:sp>
        <p:nvSpPr>
          <p:cNvPr id="57" name="TextBox 56"/>
          <p:cNvSpPr txBox="1"/>
          <p:nvPr/>
        </p:nvSpPr>
        <p:spPr>
          <a:xfrm>
            <a:off x="2670048" y="4901184"/>
            <a:ext cx="2487168" cy="356615"/>
          </a:xfrm>
          <a:prstGeom prst="rect">
            <a:avLst/>
          </a:prstGeom>
          <a:noFill/>
        </p:spPr>
        <p:txBody>
          <a:bodyPr wrap="square" lIns="0" rIns="0" tIns="0" bIns="0" anchor="ctr">
            <a:spAutoFit/>
          </a:bodyPr>
          <a:lstStyle/>
          <a:p>
            <a:pPr algn="l"/>
            <a:r>
              <a:rPr sz="950" b="1">
                <a:solidFill>
                  <a:srgbClr val="44474B"/>
                </a:solidFill>
                <a:latin typeface="Arial"/>
              </a:rPr>
              <a:t>China, over 80%</a:t>
            </a:r>
          </a:p>
        </p:txBody>
      </p:sp>
      <p:sp>
        <p:nvSpPr>
          <p:cNvPr id="58" name="TextBox 57"/>
          <p:cNvSpPr txBox="1"/>
          <p:nvPr/>
        </p:nvSpPr>
        <p:spPr>
          <a:xfrm>
            <a:off x="5230368" y="4901184"/>
            <a:ext cx="1481328" cy="356615"/>
          </a:xfrm>
          <a:prstGeom prst="rect">
            <a:avLst/>
          </a:prstGeom>
          <a:noFill/>
        </p:spPr>
        <p:txBody>
          <a:bodyPr wrap="square" lIns="0" rIns="0" tIns="0" bIns="0" anchor="ctr">
            <a:spAutoFit/>
          </a:bodyPr>
          <a:lstStyle/>
          <a:p>
            <a:pPr algn="l"/>
            <a:r>
              <a:rPr sz="950" b="1">
                <a:solidFill>
                  <a:srgbClr val="44474B"/>
                </a:solidFill>
                <a:latin typeface="Arial"/>
              </a:rPr>
              <a:t>Yes, but only just started</a:t>
            </a:r>
          </a:p>
        </p:txBody>
      </p:sp>
      <p:sp>
        <p:nvSpPr>
          <p:cNvPr id="59" name="Rounded Rectangle 58"/>
          <p:cNvSpPr/>
          <p:nvPr/>
        </p:nvSpPr>
        <p:spPr>
          <a:xfrm>
            <a:off x="841248" y="5225796"/>
            <a:ext cx="6035040" cy="356615"/>
          </a:xfrm>
          <a:prstGeom prst="roundRect">
            <a:avLst>
              <a:gd name="adj" fmla="val 18000"/>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932688" y="5276088"/>
            <a:ext cx="1664207" cy="356615"/>
          </a:xfrm>
          <a:prstGeom prst="rect">
            <a:avLst/>
          </a:prstGeom>
          <a:noFill/>
        </p:spPr>
        <p:txBody>
          <a:bodyPr wrap="square" lIns="0" rIns="0" tIns="0" bIns="0" anchor="ctr">
            <a:spAutoFit/>
          </a:bodyPr>
          <a:lstStyle/>
          <a:p>
            <a:pPr algn="l"/>
            <a:r>
              <a:rPr sz="950" b="1">
                <a:solidFill>
                  <a:srgbClr val="121313"/>
                </a:solidFill>
                <a:latin typeface="Arial"/>
              </a:rPr>
              <a:t>Packs and recycling</a:t>
            </a:r>
          </a:p>
        </p:txBody>
      </p:sp>
      <p:sp>
        <p:nvSpPr>
          <p:cNvPr id="61" name="TextBox 60"/>
          <p:cNvSpPr txBox="1"/>
          <p:nvPr/>
        </p:nvSpPr>
        <p:spPr>
          <a:xfrm>
            <a:off x="2670048" y="5276088"/>
            <a:ext cx="2487168" cy="356615"/>
          </a:xfrm>
          <a:prstGeom prst="rect">
            <a:avLst/>
          </a:prstGeom>
          <a:noFill/>
        </p:spPr>
        <p:txBody>
          <a:bodyPr wrap="square" lIns="0" rIns="0" tIns="0" bIns="0" anchor="ctr">
            <a:spAutoFit/>
          </a:bodyPr>
          <a:lstStyle/>
          <a:p>
            <a:pPr algn="l"/>
            <a:r>
              <a:rPr sz="950" b="0">
                <a:solidFill>
                  <a:srgbClr val="44474B"/>
                </a:solidFill>
                <a:latin typeface="Arial"/>
              </a:rPr>
              <a:t>Regional, low barrier</a:t>
            </a:r>
          </a:p>
        </p:txBody>
      </p:sp>
      <p:sp>
        <p:nvSpPr>
          <p:cNvPr id="62" name="TextBox 61"/>
          <p:cNvSpPr txBox="1"/>
          <p:nvPr/>
        </p:nvSpPr>
        <p:spPr>
          <a:xfrm>
            <a:off x="5230368" y="5276088"/>
            <a:ext cx="1481328" cy="356615"/>
          </a:xfrm>
          <a:prstGeom prst="rect">
            <a:avLst/>
          </a:prstGeom>
          <a:noFill/>
        </p:spPr>
        <p:txBody>
          <a:bodyPr wrap="square" lIns="0" rIns="0" tIns="0" bIns="0" anchor="ctr">
            <a:spAutoFit/>
          </a:bodyPr>
          <a:lstStyle/>
          <a:p>
            <a:pPr algn="l"/>
            <a:r>
              <a:rPr sz="950" b="0">
                <a:solidFill>
                  <a:srgbClr val="44474B"/>
                </a:solidFill>
                <a:latin typeface="Arial"/>
              </a:rPr>
              <a:t>No</a:t>
            </a:r>
          </a:p>
        </p:txBody>
      </p:sp>
      <p:sp>
        <p:nvSpPr>
          <p:cNvPr id="63" name="Rounded Rectangle 62"/>
          <p:cNvSpPr/>
          <p:nvPr/>
        </p:nvSpPr>
        <p:spPr>
          <a:xfrm>
            <a:off x="7196328" y="1783080"/>
            <a:ext cx="4983480" cy="40233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7434072" y="1965960"/>
            <a:ext cx="4526280" cy="201168"/>
          </a:xfrm>
          <a:prstGeom prst="rect">
            <a:avLst/>
          </a:prstGeom>
          <a:noFill/>
        </p:spPr>
        <p:txBody>
          <a:bodyPr wrap="square" lIns="0" rIns="0" tIns="0" bIns="0" anchor="t">
            <a:spAutoFit/>
          </a:bodyPr>
          <a:lstStyle/>
          <a:p>
            <a:pPr algn="l"/>
            <a:r>
              <a:rPr sz="1100" b="1">
                <a:solidFill>
                  <a:srgbClr val="121313"/>
                </a:solidFill>
                <a:latin typeface="Arial"/>
              </a:rPr>
              <a:t>Their four product lines, by growth and by share</a:t>
            </a:r>
          </a:p>
        </p:txBody>
      </p:sp>
      <p:sp>
        <p:nvSpPr>
          <p:cNvPr id="65" name="TextBox 64"/>
          <p:cNvSpPr txBox="1"/>
          <p:nvPr/>
        </p:nvSpPr>
        <p:spPr>
          <a:xfrm>
            <a:off x="7434072" y="2176272"/>
            <a:ext cx="4526280" cy="182880"/>
          </a:xfrm>
          <a:prstGeom prst="rect">
            <a:avLst/>
          </a:prstGeom>
          <a:noFill/>
        </p:spPr>
        <p:txBody>
          <a:bodyPr wrap="square" lIns="0" rIns="0" tIns="0" bIns="0" anchor="t">
            <a:spAutoFit/>
          </a:bodyPr>
          <a:lstStyle/>
          <a:p>
            <a:pPr algn="l"/>
            <a:r>
              <a:rPr sz="950" b="0">
                <a:solidFill>
                  <a:srgbClr val="808288"/>
                </a:solidFill>
                <a:latin typeface="Arial"/>
              </a:rPr>
              <a:t>our read, not company data</a:t>
            </a:r>
          </a:p>
        </p:txBody>
      </p:sp>
      <p:sp>
        <p:nvSpPr>
          <p:cNvPr id="66" name="Rounded Rectangle 65"/>
          <p:cNvSpPr/>
          <p:nvPr/>
        </p:nvSpPr>
        <p:spPr>
          <a:xfrm>
            <a:off x="7516368" y="2624328"/>
            <a:ext cx="4297680" cy="1874519"/>
          </a:xfrm>
          <a:prstGeom prst="roundRect">
            <a:avLst>
              <a:gd name="adj" fmla="val 6000"/>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9665208" y="2624328"/>
            <a:ext cx="10972" cy="1874519"/>
          </a:xfrm>
          <a:prstGeom prst="rect">
            <a:avLst/>
          </a:prstGeom>
          <a:solidFill>
            <a:srgbClr val="F3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7516368" y="3561588"/>
            <a:ext cx="4297680" cy="10972"/>
          </a:xfrm>
          <a:prstGeom prst="rect">
            <a:avLst/>
          </a:prstGeom>
          <a:solidFill>
            <a:srgbClr val="F3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Oval 68"/>
          <p:cNvSpPr/>
          <p:nvPr/>
        </p:nvSpPr>
        <p:spPr>
          <a:xfrm>
            <a:off x="8617305" y="3164738"/>
            <a:ext cx="118872" cy="118872"/>
          </a:xfrm>
          <a:prstGeom prst="ellipse">
            <a:avLst/>
          </a:prstGeom>
          <a:solidFill>
            <a:srgbClr val="808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8800185" y="3132734"/>
            <a:ext cx="1554480" cy="182880"/>
          </a:xfrm>
          <a:prstGeom prst="rect">
            <a:avLst/>
          </a:prstGeom>
          <a:noFill/>
        </p:spPr>
        <p:txBody>
          <a:bodyPr wrap="square" lIns="0" rIns="0" tIns="0" bIns="0" anchor="ctr">
            <a:spAutoFit/>
          </a:bodyPr>
          <a:lstStyle/>
          <a:p>
            <a:pPr algn="l"/>
            <a:r>
              <a:rPr sz="950" b="0">
                <a:solidFill>
                  <a:srgbClr val="44474B"/>
                </a:solidFill>
                <a:latin typeface="Arial"/>
              </a:rPr>
              <a:t>The 21700 cell</a:t>
            </a:r>
          </a:p>
        </p:txBody>
      </p:sp>
      <p:sp>
        <p:nvSpPr>
          <p:cNvPr id="71" name="Oval 70"/>
          <p:cNvSpPr/>
          <p:nvPr/>
        </p:nvSpPr>
        <p:spPr>
          <a:xfrm>
            <a:off x="8015630" y="2789834"/>
            <a:ext cx="118872" cy="118872"/>
          </a:xfrm>
          <a:prstGeom prst="ellipse">
            <a:avLst/>
          </a:prstGeom>
          <a:solidFill>
            <a:srgbClr val="808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8198510" y="2757830"/>
            <a:ext cx="1554480" cy="182880"/>
          </a:xfrm>
          <a:prstGeom prst="rect">
            <a:avLst/>
          </a:prstGeom>
          <a:noFill/>
        </p:spPr>
        <p:txBody>
          <a:bodyPr wrap="square" lIns="0" rIns="0" tIns="0" bIns="0" anchor="ctr">
            <a:spAutoFit/>
          </a:bodyPr>
          <a:lstStyle/>
          <a:p>
            <a:pPr algn="l"/>
            <a:r>
              <a:rPr sz="950" b="0">
                <a:solidFill>
                  <a:srgbClr val="44474B"/>
                </a:solidFill>
                <a:latin typeface="Arial"/>
              </a:rPr>
              <a:t>Sodium-ion</a:t>
            </a:r>
          </a:p>
        </p:txBody>
      </p:sp>
      <p:sp>
        <p:nvSpPr>
          <p:cNvPr id="73" name="Oval 72"/>
          <p:cNvSpPr/>
          <p:nvPr/>
        </p:nvSpPr>
        <p:spPr>
          <a:xfrm>
            <a:off x="10351008" y="3725265"/>
            <a:ext cx="347472" cy="347472"/>
          </a:xfrm>
          <a:prstGeom prst="ellipse">
            <a:avLst/>
          </a:prstGeom>
          <a:solidFill>
            <a:srgbClr val="FF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Oval 73"/>
          <p:cNvSpPr/>
          <p:nvPr/>
        </p:nvSpPr>
        <p:spPr>
          <a:xfrm>
            <a:off x="10447020" y="3821277"/>
            <a:ext cx="155448" cy="155448"/>
          </a:xfrm>
          <a:prstGeom prst="ellipse">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8828532" y="3807561"/>
            <a:ext cx="1554480" cy="182880"/>
          </a:xfrm>
          <a:prstGeom prst="rect">
            <a:avLst/>
          </a:prstGeom>
          <a:noFill/>
        </p:spPr>
        <p:txBody>
          <a:bodyPr wrap="square" lIns="0" rIns="0" tIns="0" bIns="0" anchor="ctr">
            <a:spAutoFit/>
          </a:bodyPr>
          <a:lstStyle/>
          <a:p>
            <a:pPr algn="r"/>
            <a:r>
              <a:rPr sz="950" b="1">
                <a:solidFill>
                  <a:srgbClr val="D2541F"/>
                </a:solidFill>
                <a:latin typeface="Arial"/>
              </a:rPr>
              <a:t>Electrode foil</a:t>
            </a:r>
          </a:p>
        </p:txBody>
      </p:sp>
      <p:sp>
        <p:nvSpPr>
          <p:cNvPr id="76" name="Oval 75"/>
          <p:cNvSpPr/>
          <p:nvPr/>
        </p:nvSpPr>
        <p:spPr>
          <a:xfrm>
            <a:off x="9261957" y="4176979"/>
            <a:ext cx="118872" cy="118872"/>
          </a:xfrm>
          <a:prstGeom prst="ellipse">
            <a:avLst/>
          </a:prstGeom>
          <a:solidFill>
            <a:srgbClr val="808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9444837" y="4144975"/>
            <a:ext cx="1554480" cy="182880"/>
          </a:xfrm>
          <a:prstGeom prst="rect">
            <a:avLst/>
          </a:prstGeom>
          <a:noFill/>
        </p:spPr>
        <p:txBody>
          <a:bodyPr wrap="square" lIns="0" rIns="0" tIns="0" bIns="0" anchor="ctr">
            <a:spAutoFit/>
          </a:bodyPr>
          <a:lstStyle/>
          <a:p>
            <a:pPr algn="l"/>
            <a:r>
              <a:rPr sz="950" b="0">
                <a:solidFill>
                  <a:srgbClr val="44474B"/>
                </a:solidFill>
                <a:latin typeface="Arial"/>
              </a:rPr>
              <a:t>Pouch prototypes</a:t>
            </a:r>
          </a:p>
        </p:txBody>
      </p:sp>
      <p:sp>
        <p:nvSpPr>
          <p:cNvPr id="78" name="TextBox 77"/>
          <p:cNvSpPr txBox="1"/>
          <p:nvPr/>
        </p:nvSpPr>
        <p:spPr>
          <a:xfrm>
            <a:off x="7516368" y="4553712"/>
            <a:ext cx="4297680" cy="182880"/>
          </a:xfrm>
          <a:prstGeom prst="rect">
            <a:avLst/>
          </a:prstGeom>
          <a:noFill/>
        </p:spPr>
        <p:txBody>
          <a:bodyPr wrap="square" lIns="0" rIns="0" tIns="0" bIns="0" anchor="t">
            <a:spAutoFit/>
          </a:bodyPr>
          <a:lstStyle/>
          <a:p>
            <a:pPr algn="ctr"/>
            <a:r>
              <a:rPr sz="800" b="0" spc="90">
                <a:solidFill>
                  <a:srgbClr val="9A9DA3"/>
                </a:solidFill>
                <a:latin typeface="Arial"/>
              </a:rPr>
              <a:t>THEIR SHARE OF THAT NICHE</a:t>
            </a:r>
          </a:p>
        </p:txBody>
      </p:sp>
      <p:sp>
        <p:nvSpPr>
          <p:cNvPr id="79" name="TextBox 78"/>
          <p:cNvSpPr txBox="1"/>
          <p:nvPr/>
        </p:nvSpPr>
        <p:spPr>
          <a:xfrm>
            <a:off x="7498080" y="2386584"/>
            <a:ext cx="4297680" cy="182880"/>
          </a:xfrm>
          <a:prstGeom prst="rect">
            <a:avLst/>
          </a:prstGeom>
          <a:noFill/>
        </p:spPr>
        <p:txBody>
          <a:bodyPr wrap="square" lIns="0" rIns="0" tIns="0" bIns="0" anchor="t">
            <a:spAutoFit/>
          </a:bodyPr>
          <a:lstStyle/>
          <a:p>
            <a:pPr algn="l"/>
            <a:r>
              <a:rPr sz="800" b="0" spc="90">
                <a:solidFill>
                  <a:srgbClr val="9A9DA3"/>
                </a:solidFill>
                <a:latin typeface="Arial"/>
              </a:rPr>
              <a:t>HOW FAST IT IS GROWING</a:t>
            </a:r>
          </a:p>
        </p:txBody>
      </p:sp>
      <p:sp>
        <p:nvSpPr>
          <p:cNvPr id="80" name="Rectangle 79"/>
          <p:cNvSpPr/>
          <p:nvPr/>
        </p:nvSpPr>
        <p:spPr>
          <a:xfrm>
            <a:off x="7470648" y="4905756"/>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7671816" y="4828032"/>
            <a:ext cx="4325112" cy="335280"/>
          </a:xfrm>
          <a:prstGeom prst="rect">
            <a:avLst/>
          </a:prstGeom>
          <a:noFill/>
        </p:spPr>
        <p:txBody>
          <a:bodyPr wrap="square" lIns="0" rIns="0" tIns="0" bIns="0" anchor="t">
            <a:spAutoFit/>
          </a:bodyPr>
          <a:lstStyle/>
          <a:p>
            <a:pPr algn="l">
              <a:lnSpc>
                <a:spcPct val="132000"/>
              </a:lnSpc>
            </a:pPr>
            <a:r>
              <a:rPr sz="1000" b="1">
                <a:solidFill>
                  <a:srgbClr val="121313"/>
                </a:solidFill>
                <a:latin typeface="Arial"/>
              </a:rPr>
              <a:t>Electrode foil pays the bills. </a:t>
            </a:r>
            <a:r>
              <a:rPr sz="1000" b="0">
                <a:solidFill>
                  <a:srgbClr val="44474B"/>
                </a:solidFill>
                <a:latin typeface="Arial"/>
              </a:rPr>
              <a:t>It is the only line with real customers, real volume, and almost no competition in Europe.</a:t>
            </a:r>
          </a:p>
        </p:txBody>
      </p:sp>
      <p:sp>
        <p:nvSpPr>
          <p:cNvPr id="82" name="Rectangle 81"/>
          <p:cNvSpPr/>
          <p:nvPr/>
        </p:nvSpPr>
        <p:spPr>
          <a:xfrm>
            <a:off x="7470648" y="5396484"/>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7671816" y="5318760"/>
            <a:ext cx="4325112" cy="335280"/>
          </a:xfrm>
          <a:prstGeom prst="rect">
            <a:avLst/>
          </a:prstGeom>
          <a:noFill/>
        </p:spPr>
        <p:txBody>
          <a:bodyPr wrap="square" lIns="0" rIns="0" tIns="0" bIns="0" anchor="t">
            <a:spAutoFit/>
          </a:bodyPr>
          <a:lstStyle/>
          <a:p>
            <a:pPr algn="l">
              <a:lnSpc>
                <a:spcPct val="132000"/>
              </a:lnSpc>
            </a:pPr>
            <a:r>
              <a:rPr sz="1000" b="1">
                <a:solidFill>
                  <a:srgbClr val="121313"/>
                </a:solidFill>
                <a:latin typeface="Arial"/>
              </a:rPr>
              <a:t>The cell is the gamble. </a:t>
            </a:r>
            <a:r>
              <a:rPr sz="1000" b="0">
                <a:solidFill>
                  <a:srgbClr val="44474B"/>
                </a:solidFill>
                <a:latin typeface="Arial"/>
              </a:rPr>
              <a:t>Fast-growing market, almost no share, and it is spending the money they just raised.</a:t>
            </a:r>
          </a:p>
        </p:txBody>
      </p:sp>
      <p:sp>
        <p:nvSpPr>
          <p:cNvPr id="84" name="TextBox 83"/>
          <p:cNvSpPr txBox="1"/>
          <p:nvPr/>
        </p:nvSpPr>
        <p:spPr>
          <a:xfrm>
            <a:off x="658368" y="6126480"/>
            <a:ext cx="10874959" cy="310896"/>
          </a:xfrm>
          <a:prstGeom prst="rect">
            <a:avLst/>
          </a:prstGeom>
          <a:noFill/>
        </p:spPr>
        <p:txBody>
          <a:bodyPr wrap="square" lIns="0" rIns="0" tIns="0" bIns="0" anchor="t">
            <a:spAutoFit/>
          </a:bodyPr>
          <a:lstStyle/>
          <a:p>
            <a:pPr algn="l">
              <a:lnSpc>
                <a:spcPct val="134000"/>
              </a:lnSpc>
            </a:pPr>
            <a:r>
              <a:rPr sz="800" b="0">
                <a:solidFill>
                  <a:srgbClr val="9A9DA3"/>
                </a:solidFill>
                <a:latin typeface="Arial"/>
              </a:rPr>
              <a:t>Value split based on Deloitte's work reported by electrive; the split between steps is our estimate. Control shares from the IEA. The four-box view is our assessment, not company 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326319" cy="1005840"/>
          </a:xfrm>
          <a:prstGeom prst="rect">
            <a:avLst/>
          </a:prstGeom>
          <a:noFill/>
        </p:spPr>
        <p:txBody>
          <a:bodyPr wrap="square" lIns="0" rIns="0" tIns="0" bIns="0" anchor="t">
            <a:spAutoFit/>
          </a:bodyPr>
          <a:lstStyle/>
          <a:p>
            <a:pPr algn="l">
              <a:lnSpc>
                <a:spcPct val="104000"/>
              </a:lnSpc>
            </a:pPr>
            <a:r>
              <a:rPr sz="3100" b="1" spc="-22">
                <a:solidFill>
                  <a:srgbClr val="121313"/>
                </a:solidFill>
                <a:latin typeface="Arial"/>
              </a:rPr>
              <a:t>A good niche, right next to a bloodbath</a:t>
            </a:r>
          </a:p>
        </p:txBody>
      </p:sp>
      <p:sp>
        <p:nvSpPr>
          <p:cNvPr id="4" name="TextBox 3"/>
          <p:cNvSpPr txBox="1"/>
          <p:nvPr/>
        </p:nvSpPr>
        <p:spPr>
          <a:xfrm>
            <a:off x="658368" y="1554480"/>
            <a:ext cx="8595360" cy="457200"/>
          </a:xfrm>
          <a:prstGeom prst="rect">
            <a:avLst/>
          </a:prstGeom>
          <a:noFill/>
        </p:spPr>
        <p:txBody>
          <a:bodyPr wrap="square" lIns="0" rIns="0" tIns="0" bIns="0" anchor="t">
            <a:spAutoFit/>
          </a:bodyPr>
          <a:lstStyle/>
          <a:p>
            <a:pPr algn="l">
              <a:lnSpc>
                <a:spcPct val="136000"/>
              </a:lnSpc>
            </a:pPr>
            <a:r>
              <a:rPr sz="1250" b="0">
                <a:solidFill>
                  <a:srgbClr val="44474B"/>
                </a:solidFill>
                <a:latin typeface="Arial"/>
              </a:rPr>
              <a:t>Same industry, two completely different businesses. Lower is better.</a:t>
            </a:r>
          </a:p>
        </p:txBody>
      </p:sp>
      <p:sp>
        <p:nvSpPr>
          <p:cNvPr id="5" name="TextBox 4"/>
          <p:cNvSpPr txBox="1"/>
          <p:nvPr/>
        </p:nvSpPr>
        <p:spPr>
          <a:xfrm>
            <a:off x="658368" y="6464807"/>
            <a:ext cx="914400" cy="182880"/>
          </a:xfrm>
          <a:prstGeom prst="rect">
            <a:avLst/>
          </a:prstGeom>
          <a:noFill/>
        </p:spPr>
        <p:txBody>
          <a:bodyPr wrap="square" lIns="0" rIns="0" tIns="0" bIns="0" anchor="t">
            <a:spAutoFit/>
          </a:bodyPr>
          <a:lstStyle/>
          <a:p>
            <a:pPr algn="l"/>
            <a:r>
              <a:rPr sz="900" b="1">
                <a:solidFill>
                  <a:srgbClr val="808288"/>
                </a:solidFill>
                <a:latin typeface="Arial"/>
              </a:rPr>
              <a:t>12 / 16</a:t>
            </a:r>
          </a:p>
        </p:txBody>
      </p:sp>
      <p:sp>
        <p:nvSpPr>
          <p:cNvPr id="6" name="Rectangle 5"/>
          <p:cNvSpPr/>
          <p:nvPr/>
        </p:nvSpPr>
        <p:spPr>
          <a:xfrm>
            <a:off x="1371600"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83411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229662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75914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22165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8417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14668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60920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07171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53423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99674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459264" y="6492240"/>
            <a:ext cx="43508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92177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38429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84680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30932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521647" y="6464807"/>
            <a:ext cx="2011680" cy="182880"/>
          </a:xfrm>
          <a:prstGeom prst="rect">
            <a:avLst/>
          </a:prstGeom>
          <a:noFill/>
        </p:spPr>
        <p:txBody>
          <a:bodyPr wrap="square" lIns="0" rIns="0" tIns="0" bIns="0" anchor="t">
            <a:spAutoFit/>
          </a:bodyPr>
          <a:lstStyle/>
          <a:p>
            <a:pPr algn="r"/>
            <a:r>
              <a:rPr sz="900" b="0">
                <a:solidFill>
                  <a:srgbClr val="808288"/>
                </a:solidFill>
                <a:latin typeface="Arial"/>
              </a:rPr>
              <a:t>Part four: the structure</a:t>
            </a:r>
          </a:p>
        </p:txBody>
      </p:sp>
      <p:sp>
        <p:nvSpPr>
          <p:cNvPr id="23" name="Rounded Rectangle 22"/>
          <p:cNvSpPr/>
          <p:nvPr/>
        </p:nvSpPr>
        <p:spPr>
          <a:xfrm>
            <a:off x="658368" y="2103120"/>
            <a:ext cx="5760720" cy="37033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96112" y="2286000"/>
            <a:ext cx="5303520" cy="201168"/>
          </a:xfrm>
          <a:prstGeom prst="rect">
            <a:avLst/>
          </a:prstGeom>
          <a:noFill/>
        </p:spPr>
        <p:txBody>
          <a:bodyPr wrap="square" lIns="0" rIns="0" tIns="0" bIns="0" anchor="t">
            <a:spAutoFit/>
          </a:bodyPr>
          <a:lstStyle/>
          <a:p>
            <a:pPr algn="l"/>
            <a:r>
              <a:rPr sz="1100" b="1">
                <a:solidFill>
                  <a:srgbClr val="121313"/>
                </a:solidFill>
                <a:latin typeface="Arial"/>
              </a:rPr>
              <a:t>How hard each pressure bites, in two markets</a:t>
            </a:r>
          </a:p>
        </p:txBody>
      </p:sp>
      <p:sp>
        <p:nvSpPr>
          <p:cNvPr id="25" name="TextBox 24"/>
          <p:cNvSpPr txBox="1"/>
          <p:nvPr/>
        </p:nvSpPr>
        <p:spPr>
          <a:xfrm>
            <a:off x="896112" y="2496312"/>
            <a:ext cx="5303520" cy="182880"/>
          </a:xfrm>
          <a:prstGeom prst="rect">
            <a:avLst/>
          </a:prstGeom>
          <a:noFill/>
        </p:spPr>
        <p:txBody>
          <a:bodyPr wrap="square" lIns="0" rIns="0" tIns="0" bIns="0" anchor="t">
            <a:spAutoFit/>
          </a:bodyPr>
          <a:lstStyle/>
          <a:p>
            <a:pPr algn="l"/>
            <a:r>
              <a:rPr sz="950" b="0">
                <a:solidFill>
                  <a:srgbClr val="808288"/>
                </a:solidFill>
                <a:latin typeface="Arial"/>
              </a:rPr>
              <a:t>scored 1 to 5, where 1 is comfortable</a:t>
            </a:r>
          </a:p>
        </p:txBody>
      </p:sp>
      <p:sp>
        <p:nvSpPr>
          <p:cNvPr id="26" name="Rectangle 25"/>
          <p:cNvSpPr/>
          <p:nvPr/>
        </p:nvSpPr>
        <p:spPr>
          <a:xfrm>
            <a:off x="1389888" y="5138928"/>
            <a:ext cx="4754880" cy="7315"/>
          </a:xfrm>
          <a:prstGeom prst="rect">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5065776"/>
            <a:ext cx="768096" cy="164592"/>
          </a:xfrm>
          <a:prstGeom prst="rect">
            <a:avLst/>
          </a:prstGeom>
          <a:noFill/>
        </p:spPr>
        <p:txBody>
          <a:bodyPr wrap="square" lIns="0" rIns="0" tIns="0" bIns="0" anchor="t">
            <a:spAutoFit/>
          </a:bodyPr>
          <a:lstStyle/>
          <a:p>
            <a:pPr algn="r"/>
            <a:r>
              <a:rPr sz="850" b="0" spc="40">
                <a:solidFill>
                  <a:srgbClr val="9A9DA3"/>
                </a:solidFill>
                <a:latin typeface="Arial"/>
              </a:rPr>
              <a:t>0</a:t>
            </a:r>
          </a:p>
        </p:txBody>
      </p:sp>
      <p:sp>
        <p:nvSpPr>
          <p:cNvPr id="28" name="Rectangle 27"/>
          <p:cNvSpPr/>
          <p:nvPr/>
        </p:nvSpPr>
        <p:spPr>
          <a:xfrm>
            <a:off x="1389888" y="4753917"/>
            <a:ext cx="4754880" cy="7315"/>
          </a:xfrm>
          <a:prstGeom prst="rect">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48640" y="4680765"/>
            <a:ext cx="768096" cy="164592"/>
          </a:xfrm>
          <a:prstGeom prst="rect">
            <a:avLst/>
          </a:prstGeom>
          <a:noFill/>
        </p:spPr>
        <p:txBody>
          <a:bodyPr wrap="square" lIns="0" rIns="0" tIns="0" bIns="0" anchor="t">
            <a:spAutoFit/>
          </a:bodyPr>
          <a:lstStyle/>
          <a:p>
            <a:pPr algn="r"/>
            <a:r>
              <a:rPr sz="850" b="0" spc="40">
                <a:solidFill>
                  <a:srgbClr val="9A9DA3"/>
                </a:solidFill>
                <a:latin typeface="Arial"/>
              </a:rPr>
              <a:t>1</a:t>
            </a:r>
          </a:p>
        </p:txBody>
      </p:sp>
      <p:sp>
        <p:nvSpPr>
          <p:cNvPr id="30" name="Rectangle 29"/>
          <p:cNvSpPr/>
          <p:nvPr/>
        </p:nvSpPr>
        <p:spPr>
          <a:xfrm>
            <a:off x="1389888" y="4368906"/>
            <a:ext cx="4754880" cy="7315"/>
          </a:xfrm>
          <a:prstGeom prst="rect">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8640" y="4295754"/>
            <a:ext cx="768096" cy="164592"/>
          </a:xfrm>
          <a:prstGeom prst="rect">
            <a:avLst/>
          </a:prstGeom>
          <a:noFill/>
        </p:spPr>
        <p:txBody>
          <a:bodyPr wrap="square" lIns="0" rIns="0" tIns="0" bIns="0" anchor="t">
            <a:spAutoFit/>
          </a:bodyPr>
          <a:lstStyle/>
          <a:p>
            <a:pPr algn="r"/>
            <a:r>
              <a:rPr sz="850" b="0" spc="40">
                <a:solidFill>
                  <a:srgbClr val="9A9DA3"/>
                </a:solidFill>
                <a:latin typeface="Arial"/>
              </a:rPr>
              <a:t>2</a:t>
            </a:r>
          </a:p>
        </p:txBody>
      </p:sp>
      <p:sp>
        <p:nvSpPr>
          <p:cNvPr id="32" name="Rectangle 31"/>
          <p:cNvSpPr/>
          <p:nvPr/>
        </p:nvSpPr>
        <p:spPr>
          <a:xfrm>
            <a:off x="1389888" y="3983896"/>
            <a:ext cx="4754880" cy="7315"/>
          </a:xfrm>
          <a:prstGeom prst="rect">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48640" y="3910744"/>
            <a:ext cx="768096" cy="164592"/>
          </a:xfrm>
          <a:prstGeom prst="rect">
            <a:avLst/>
          </a:prstGeom>
          <a:noFill/>
        </p:spPr>
        <p:txBody>
          <a:bodyPr wrap="square" lIns="0" rIns="0" tIns="0" bIns="0" anchor="t">
            <a:spAutoFit/>
          </a:bodyPr>
          <a:lstStyle/>
          <a:p>
            <a:pPr algn="r"/>
            <a:r>
              <a:rPr sz="850" b="0" spc="40">
                <a:solidFill>
                  <a:srgbClr val="9A9DA3"/>
                </a:solidFill>
                <a:latin typeface="Arial"/>
              </a:rPr>
              <a:t>3</a:t>
            </a:r>
          </a:p>
        </p:txBody>
      </p:sp>
      <p:sp>
        <p:nvSpPr>
          <p:cNvPr id="34" name="Rectangle 33"/>
          <p:cNvSpPr/>
          <p:nvPr/>
        </p:nvSpPr>
        <p:spPr>
          <a:xfrm>
            <a:off x="1389888" y="3598885"/>
            <a:ext cx="4754880" cy="7315"/>
          </a:xfrm>
          <a:prstGeom prst="rect">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48640" y="3525733"/>
            <a:ext cx="768096" cy="164592"/>
          </a:xfrm>
          <a:prstGeom prst="rect">
            <a:avLst/>
          </a:prstGeom>
          <a:noFill/>
        </p:spPr>
        <p:txBody>
          <a:bodyPr wrap="square" lIns="0" rIns="0" tIns="0" bIns="0" anchor="t">
            <a:spAutoFit/>
          </a:bodyPr>
          <a:lstStyle/>
          <a:p>
            <a:pPr algn="r"/>
            <a:r>
              <a:rPr sz="850" b="0" spc="40">
                <a:solidFill>
                  <a:srgbClr val="9A9DA3"/>
                </a:solidFill>
                <a:latin typeface="Arial"/>
              </a:rPr>
              <a:t>4</a:t>
            </a:r>
          </a:p>
        </p:txBody>
      </p:sp>
      <p:sp>
        <p:nvSpPr>
          <p:cNvPr id="36" name="Rectangle 35"/>
          <p:cNvSpPr/>
          <p:nvPr/>
        </p:nvSpPr>
        <p:spPr>
          <a:xfrm>
            <a:off x="1389888" y="3213875"/>
            <a:ext cx="4754880" cy="7315"/>
          </a:xfrm>
          <a:prstGeom prst="rect">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548640" y="3140723"/>
            <a:ext cx="768096" cy="164592"/>
          </a:xfrm>
          <a:prstGeom prst="rect">
            <a:avLst/>
          </a:prstGeom>
          <a:noFill/>
        </p:spPr>
        <p:txBody>
          <a:bodyPr wrap="square" lIns="0" rIns="0" tIns="0" bIns="0" anchor="t">
            <a:spAutoFit/>
          </a:bodyPr>
          <a:lstStyle/>
          <a:p>
            <a:pPr algn="r"/>
            <a:r>
              <a:rPr sz="850" b="0" spc="40">
                <a:solidFill>
                  <a:srgbClr val="9A9DA3"/>
                </a:solidFill>
                <a:latin typeface="Arial"/>
              </a:rPr>
              <a:t>5</a:t>
            </a:r>
          </a:p>
        </p:txBody>
      </p:sp>
      <p:sp>
        <p:nvSpPr>
          <p:cNvPr id="38" name="TextBox 37"/>
          <p:cNvSpPr txBox="1"/>
          <p:nvPr/>
        </p:nvSpPr>
        <p:spPr>
          <a:xfrm>
            <a:off x="1389888" y="5202936"/>
            <a:ext cx="950976" cy="182880"/>
          </a:xfrm>
          <a:prstGeom prst="rect">
            <a:avLst/>
          </a:prstGeom>
          <a:noFill/>
        </p:spPr>
        <p:txBody>
          <a:bodyPr wrap="square" lIns="0" rIns="0" tIns="0" bIns="0" anchor="t">
            <a:spAutoFit/>
          </a:bodyPr>
          <a:lstStyle/>
          <a:p>
            <a:pPr algn="ctr"/>
            <a:r>
              <a:rPr sz="900" b="0" spc="40">
                <a:solidFill>
                  <a:srgbClr val="9A9DA3"/>
                </a:solidFill>
                <a:latin typeface="Arial"/>
              </a:rPr>
              <a:t>Suppliers</a:t>
            </a:r>
          </a:p>
        </p:txBody>
      </p:sp>
      <p:sp>
        <p:nvSpPr>
          <p:cNvPr id="39" name="Rectangle 38"/>
          <p:cNvSpPr/>
          <p:nvPr/>
        </p:nvSpPr>
        <p:spPr>
          <a:xfrm>
            <a:off x="1589592" y="3598885"/>
            <a:ext cx="262067" cy="154004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534728" y="3384001"/>
            <a:ext cx="371795" cy="182880"/>
          </a:xfrm>
          <a:prstGeom prst="rect">
            <a:avLst/>
          </a:prstGeom>
          <a:noFill/>
        </p:spPr>
        <p:txBody>
          <a:bodyPr wrap="none" lIns="0" rIns="0" tIns="0" bIns="0" anchor="t">
            <a:spAutoFit/>
          </a:bodyPr>
          <a:lstStyle/>
          <a:p>
            <a:pPr algn="ctr"/>
            <a:r>
              <a:rPr sz="800" b="1">
                <a:solidFill>
                  <a:srgbClr val="D2541F"/>
                </a:solidFill>
                <a:latin typeface="Arial"/>
              </a:rPr>
              <a:t>4</a:t>
            </a:r>
          </a:p>
        </p:txBody>
      </p:sp>
      <p:sp>
        <p:nvSpPr>
          <p:cNvPr id="41" name="Rectangle 40"/>
          <p:cNvSpPr/>
          <p:nvPr/>
        </p:nvSpPr>
        <p:spPr>
          <a:xfrm>
            <a:off x="1879091" y="3598885"/>
            <a:ext cx="262067" cy="1540042"/>
          </a:xfrm>
          <a:prstGeom prst="rect">
            <a:avLst/>
          </a:prstGeom>
          <a:solidFill>
            <a:srgbClr val="2A6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824227" y="3384001"/>
            <a:ext cx="371795" cy="182880"/>
          </a:xfrm>
          <a:prstGeom prst="rect">
            <a:avLst/>
          </a:prstGeom>
          <a:noFill/>
        </p:spPr>
        <p:txBody>
          <a:bodyPr wrap="none" lIns="0" rIns="0" tIns="0" bIns="0" anchor="t">
            <a:spAutoFit/>
          </a:bodyPr>
          <a:lstStyle/>
          <a:p>
            <a:pPr algn="ctr"/>
            <a:r>
              <a:rPr sz="800" b="1">
                <a:solidFill>
                  <a:srgbClr val="2A66B0"/>
                </a:solidFill>
                <a:latin typeface="Arial"/>
              </a:rPr>
              <a:t>4</a:t>
            </a:r>
          </a:p>
        </p:txBody>
      </p:sp>
      <p:sp>
        <p:nvSpPr>
          <p:cNvPr id="43" name="TextBox 42"/>
          <p:cNvSpPr txBox="1"/>
          <p:nvPr/>
        </p:nvSpPr>
        <p:spPr>
          <a:xfrm>
            <a:off x="2340864" y="5202936"/>
            <a:ext cx="950976" cy="182880"/>
          </a:xfrm>
          <a:prstGeom prst="rect">
            <a:avLst/>
          </a:prstGeom>
          <a:noFill/>
        </p:spPr>
        <p:txBody>
          <a:bodyPr wrap="square" lIns="0" rIns="0" tIns="0" bIns="0" anchor="t">
            <a:spAutoFit/>
          </a:bodyPr>
          <a:lstStyle/>
          <a:p>
            <a:pPr algn="ctr"/>
            <a:r>
              <a:rPr sz="900" b="0" spc="40">
                <a:solidFill>
                  <a:srgbClr val="9A9DA3"/>
                </a:solidFill>
                <a:latin typeface="Arial"/>
              </a:rPr>
              <a:t>Rivals</a:t>
            </a:r>
          </a:p>
        </p:txBody>
      </p:sp>
      <p:sp>
        <p:nvSpPr>
          <p:cNvPr id="44" name="Rectangle 43"/>
          <p:cNvSpPr/>
          <p:nvPr/>
        </p:nvSpPr>
        <p:spPr>
          <a:xfrm>
            <a:off x="2540568" y="3983896"/>
            <a:ext cx="262067" cy="1155031"/>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2485704" y="3769012"/>
            <a:ext cx="371795" cy="182880"/>
          </a:xfrm>
          <a:prstGeom prst="rect">
            <a:avLst/>
          </a:prstGeom>
          <a:noFill/>
        </p:spPr>
        <p:txBody>
          <a:bodyPr wrap="none" lIns="0" rIns="0" tIns="0" bIns="0" anchor="t">
            <a:spAutoFit/>
          </a:bodyPr>
          <a:lstStyle/>
          <a:p>
            <a:pPr algn="ctr"/>
            <a:r>
              <a:rPr sz="800" b="1">
                <a:solidFill>
                  <a:srgbClr val="D2541F"/>
                </a:solidFill>
                <a:latin typeface="Arial"/>
              </a:rPr>
              <a:t>3</a:t>
            </a:r>
          </a:p>
        </p:txBody>
      </p:sp>
      <p:sp>
        <p:nvSpPr>
          <p:cNvPr id="46" name="Rectangle 45"/>
          <p:cNvSpPr/>
          <p:nvPr/>
        </p:nvSpPr>
        <p:spPr>
          <a:xfrm>
            <a:off x="2830068" y="3213875"/>
            <a:ext cx="262067" cy="1925052"/>
          </a:xfrm>
          <a:prstGeom prst="rect">
            <a:avLst/>
          </a:prstGeom>
          <a:solidFill>
            <a:srgbClr val="2A6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2775203" y="2998991"/>
            <a:ext cx="371795" cy="182880"/>
          </a:xfrm>
          <a:prstGeom prst="rect">
            <a:avLst/>
          </a:prstGeom>
          <a:noFill/>
        </p:spPr>
        <p:txBody>
          <a:bodyPr wrap="none" lIns="0" rIns="0" tIns="0" bIns="0" anchor="t">
            <a:spAutoFit/>
          </a:bodyPr>
          <a:lstStyle/>
          <a:p>
            <a:pPr algn="ctr"/>
            <a:r>
              <a:rPr sz="800" b="1">
                <a:solidFill>
                  <a:srgbClr val="2A66B0"/>
                </a:solidFill>
                <a:latin typeface="Arial"/>
              </a:rPr>
              <a:t>5</a:t>
            </a:r>
          </a:p>
        </p:txBody>
      </p:sp>
      <p:sp>
        <p:nvSpPr>
          <p:cNvPr id="48" name="TextBox 47"/>
          <p:cNvSpPr txBox="1"/>
          <p:nvPr/>
        </p:nvSpPr>
        <p:spPr>
          <a:xfrm>
            <a:off x="3291840" y="5202936"/>
            <a:ext cx="950976" cy="182880"/>
          </a:xfrm>
          <a:prstGeom prst="rect">
            <a:avLst/>
          </a:prstGeom>
          <a:noFill/>
        </p:spPr>
        <p:txBody>
          <a:bodyPr wrap="square" lIns="0" rIns="0" tIns="0" bIns="0" anchor="t">
            <a:spAutoFit/>
          </a:bodyPr>
          <a:lstStyle/>
          <a:p>
            <a:pPr algn="ctr"/>
            <a:r>
              <a:rPr sz="900" b="0" spc="40">
                <a:solidFill>
                  <a:srgbClr val="9A9DA3"/>
                </a:solidFill>
                <a:latin typeface="Arial"/>
              </a:rPr>
              <a:t>Substitutes</a:t>
            </a:r>
          </a:p>
        </p:txBody>
      </p:sp>
      <p:sp>
        <p:nvSpPr>
          <p:cNvPr id="49" name="Rectangle 48"/>
          <p:cNvSpPr/>
          <p:nvPr/>
        </p:nvSpPr>
        <p:spPr>
          <a:xfrm>
            <a:off x="3491544" y="3983896"/>
            <a:ext cx="262067" cy="1155031"/>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3436680" y="3769012"/>
            <a:ext cx="371795" cy="182880"/>
          </a:xfrm>
          <a:prstGeom prst="rect">
            <a:avLst/>
          </a:prstGeom>
          <a:noFill/>
        </p:spPr>
        <p:txBody>
          <a:bodyPr wrap="none" lIns="0" rIns="0" tIns="0" bIns="0" anchor="t">
            <a:spAutoFit/>
          </a:bodyPr>
          <a:lstStyle/>
          <a:p>
            <a:pPr algn="ctr"/>
            <a:r>
              <a:rPr sz="800" b="1">
                <a:solidFill>
                  <a:srgbClr val="D2541F"/>
                </a:solidFill>
                <a:latin typeface="Arial"/>
              </a:rPr>
              <a:t>3</a:t>
            </a:r>
          </a:p>
        </p:txBody>
      </p:sp>
      <p:sp>
        <p:nvSpPr>
          <p:cNvPr id="51" name="Rectangle 50"/>
          <p:cNvSpPr/>
          <p:nvPr/>
        </p:nvSpPr>
        <p:spPr>
          <a:xfrm>
            <a:off x="3781044" y="3983896"/>
            <a:ext cx="262067" cy="1155031"/>
          </a:xfrm>
          <a:prstGeom prst="rect">
            <a:avLst/>
          </a:prstGeom>
          <a:solidFill>
            <a:srgbClr val="2A6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3726180" y="3769012"/>
            <a:ext cx="371795" cy="182880"/>
          </a:xfrm>
          <a:prstGeom prst="rect">
            <a:avLst/>
          </a:prstGeom>
          <a:noFill/>
        </p:spPr>
        <p:txBody>
          <a:bodyPr wrap="none" lIns="0" rIns="0" tIns="0" bIns="0" anchor="t">
            <a:spAutoFit/>
          </a:bodyPr>
          <a:lstStyle/>
          <a:p>
            <a:pPr algn="ctr"/>
            <a:r>
              <a:rPr sz="800" b="1">
                <a:solidFill>
                  <a:srgbClr val="2A66B0"/>
                </a:solidFill>
                <a:latin typeface="Arial"/>
              </a:rPr>
              <a:t>3</a:t>
            </a:r>
          </a:p>
        </p:txBody>
      </p:sp>
      <p:sp>
        <p:nvSpPr>
          <p:cNvPr id="53" name="TextBox 52"/>
          <p:cNvSpPr txBox="1"/>
          <p:nvPr/>
        </p:nvSpPr>
        <p:spPr>
          <a:xfrm>
            <a:off x="4242816" y="5202936"/>
            <a:ext cx="950976" cy="182880"/>
          </a:xfrm>
          <a:prstGeom prst="rect">
            <a:avLst/>
          </a:prstGeom>
          <a:noFill/>
        </p:spPr>
        <p:txBody>
          <a:bodyPr wrap="square" lIns="0" rIns="0" tIns="0" bIns="0" anchor="t">
            <a:spAutoFit/>
          </a:bodyPr>
          <a:lstStyle/>
          <a:p>
            <a:pPr algn="ctr"/>
            <a:r>
              <a:rPr sz="900" b="0" spc="40">
                <a:solidFill>
                  <a:srgbClr val="9A9DA3"/>
                </a:solidFill>
                <a:latin typeface="Arial"/>
              </a:rPr>
              <a:t>New entrants</a:t>
            </a:r>
          </a:p>
        </p:txBody>
      </p:sp>
      <p:sp>
        <p:nvSpPr>
          <p:cNvPr id="54" name="Rectangle 53"/>
          <p:cNvSpPr/>
          <p:nvPr/>
        </p:nvSpPr>
        <p:spPr>
          <a:xfrm>
            <a:off x="4442520" y="4368906"/>
            <a:ext cx="262067" cy="770021"/>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4387656" y="4154022"/>
            <a:ext cx="371795" cy="182880"/>
          </a:xfrm>
          <a:prstGeom prst="rect">
            <a:avLst/>
          </a:prstGeom>
          <a:noFill/>
        </p:spPr>
        <p:txBody>
          <a:bodyPr wrap="none" lIns="0" rIns="0" tIns="0" bIns="0" anchor="t">
            <a:spAutoFit/>
          </a:bodyPr>
          <a:lstStyle/>
          <a:p>
            <a:pPr algn="ctr"/>
            <a:r>
              <a:rPr sz="800" b="1">
                <a:solidFill>
                  <a:srgbClr val="D2541F"/>
                </a:solidFill>
                <a:latin typeface="Arial"/>
              </a:rPr>
              <a:t>2</a:t>
            </a:r>
          </a:p>
        </p:txBody>
      </p:sp>
      <p:sp>
        <p:nvSpPr>
          <p:cNvPr id="56" name="Rectangle 55"/>
          <p:cNvSpPr/>
          <p:nvPr/>
        </p:nvSpPr>
        <p:spPr>
          <a:xfrm>
            <a:off x="4732020" y="3598885"/>
            <a:ext cx="262067" cy="1540042"/>
          </a:xfrm>
          <a:prstGeom prst="rect">
            <a:avLst/>
          </a:prstGeom>
          <a:solidFill>
            <a:srgbClr val="2A6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4677156" y="3384001"/>
            <a:ext cx="371795" cy="182880"/>
          </a:xfrm>
          <a:prstGeom prst="rect">
            <a:avLst/>
          </a:prstGeom>
          <a:noFill/>
        </p:spPr>
        <p:txBody>
          <a:bodyPr wrap="none" lIns="0" rIns="0" tIns="0" bIns="0" anchor="t">
            <a:spAutoFit/>
          </a:bodyPr>
          <a:lstStyle/>
          <a:p>
            <a:pPr algn="ctr"/>
            <a:r>
              <a:rPr sz="800" b="1">
                <a:solidFill>
                  <a:srgbClr val="2A66B0"/>
                </a:solidFill>
                <a:latin typeface="Arial"/>
              </a:rPr>
              <a:t>4</a:t>
            </a:r>
          </a:p>
        </p:txBody>
      </p:sp>
      <p:sp>
        <p:nvSpPr>
          <p:cNvPr id="58" name="TextBox 57"/>
          <p:cNvSpPr txBox="1"/>
          <p:nvPr/>
        </p:nvSpPr>
        <p:spPr>
          <a:xfrm>
            <a:off x="5193792" y="5202936"/>
            <a:ext cx="950976" cy="182880"/>
          </a:xfrm>
          <a:prstGeom prst="rect">
            <a:avLst/>
          </a:prstGeom>
          <a:noFill/>
        </p:spPr>
        <p:txBody>
          <a:bodyPr wrap="square" lIns="0" rIns="0" tIns="0" bIns="0" anchor="t">
            <a:spAutoFit/>
          </a:bodyPr>
          <a:lstStyle/>
          <a:p>
            <a:pPr algn="ctr"/>
            <a:r>
              <a:rPr sz="900" b="0" spc="40">
                <a:solidFill>
                  <a:srgbClr val="9A9DA3"/>
                </a:solidFill>
                <a:latin typeface="Arial"/>
              </a:rPr>
              <a:t>Buyers</a:t>
            </a:r>
          </a:p>
        </p:txBody>
      </p:sp>
      <p:sp>
        <p:nvSpPr>
          <p:cNvPr id="59" name="Rectangle 58"/>
          <p:cNvSpPr/>
          <p:nvPr/>
        </p:nvSpPr>
        <p:spPr>
          <a:xfrm>
            <a:off x="5393496" y="4368906"/>
            <a:ext cx="262067" cy="770021"/>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5338632" y="4154022"/>
            <a:ext cx="371795" cy="182880"/>
          </a:xfrm>
          <a:prstGeom prst="rect">
            <a:avLst/>
          </a:prstGeom>
          <a:noFill/>
        </p:spPr>
        <p:txBody>
          <a:bodyPr wrap="none" lIns="0" rIns="0" tIns="0" bIns="0" anchor="t">
            <a:spAutoFit/>
          </a:bodyPr>
          <a:lstStyle/>
          <a:p>
            <a:pPr algn="ctr"/>
            <a:r>
              <a:rPr sz="800" b="1">
                <a:solidFill>
                  <a:srgbClr val="D2541F"/>
                </a:solidFill>
                <a:latin typeface="Arial"/>
              </a:rPr>
              <a:t>2</a:t>
            </a:r>
          </a:p>
        </p:txBody>
      </p:sp>
      <p:sp>
        <p:nvSpPr>
          <p:cNvPr id="61" name="Rectangle 60"/>
          <p:cNvSpPr/>
          <p:nvPr/>
        </p:nvSpPr>
        <p:spPr>
          <a:xfrm>
            <a:off x="5682996" y="3213875"/>
            <a:ext cx="262067" cy="1925052"/>
          </a:xfrm>
          <a:prstGeom prst="rect">
            <a:avLst/>
          </a:prstGeom>
          <a:solidFill>
            <a:srgbClr val="2A6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5628132" y="2998991"/>
            <a:ext cx="371795" cy="182880"/>
          </a:xfrm>
          <a:prstGeom prst="rect">
            <a:avLst/>
          </a:prstGeom>
          <a:noFill/>
        </p:spPr>
        <p:txBody>
          <a:bodyPr wrap="none" lIns="0" rIns="0" tIns="0" bIns="0" anchor="t">
            <a:spAutoFit/>
          </a:bodyPr>
          <a:lstStyle/>
          <a:p>
            <a:pPr algn="ctr"/>
            <a:r>
              <a:rPr sz="800" b="1">
                <a:solidFill>
                  <a:srgbClr val="2A66B0"/>
                </a:solidFill>
                <a:latin typeface="Arial"/>
              </a:rPr>
              <a:t>5</a:t>
            </a:r>
          </a:p>
        </p:txBody>
      </p:sp>
      <p:sp>
        <p:nvSpPr>
          <p:cNvPr id="63" name="Rectangle 62"/>
          <p:cNvSpPr/>
          <p:nvPr/>
        </p:nvSpPr>
        <p:spPr>
          <a:xfrm>
            <a:off x="1389888" y="5138928"/>
            <a:ext cx="4754880" cy="914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ounded Rectangle 63"/>
          <p:cNvSpPr/>
          <p:nvPr/>
        </p:nvSpPr>
        <p:spPr>
          <a:xfrm>
            <a:off x="1389888" y="5454396"/>
            <a:ext cx="128016" cy="128016"/>
          </a:xfrm>
          <a:prstGeom prst="roundRect">
            <a:avLst>
              <a:gd name="adj" fmla="val 30000"/>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1591056" y="5413248"/>
            <a:ext cx="2377440" cy="201168"/>
          </a:xfrm>
          <a:prstGeom prst="rect">
            <a:avLst/>
          </a:prstGeom>
          <a:noFill/>
        </p:spPr>
        <p:txBody>
          <a:bodyPr wrap="none" lIns="0" rIns="0" tIns="0" bIns="0" anchor="t">
            <a:spAutoFit/>
          </a:bodyPr>
          <a:lstStyle/>
          <a:p>
            <a:pPr algn="l"/>
            <a:r>
              <a:rPr sz="900" b="0">
                <a:solidFill>
                  <a:srgbClr val="808288"/>
                </a:solidFill>
                <a:latin typeface="Arial"/>
              </a:rPr>
              <a:t>This niche, average 2.8</a:t>
            </a:r>
          </a:p>
        </p:txBody>
      </p:sp>
      <p:sp>
        <p:nvSpPr>
          <p:cNvPr id="66" name="Rounded Rectangle 65"/>
          <p:cNvSpPr/>
          <p:nvPr/>
        </p:nvSpPr>
        <p:spPr>
          <a:xfrm>
            <a:off x="4041648" y="5454396"/>
            <a:ext cx="128016" cy="128016"/>
          </a:xfrm>
          <a:prstGeom prst="roundRect">
            <a:avLst>
              <a:gd name="adj" fmla="val 30000"/>
            </a:avLst>
          </a:prstGeom>
          <a:solidFill>
            <a:srgbClr val="2A6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4242816" y="5413248"/>
            <a:ext cx="2377440" cy="201168"/>
          </a:xfrm>
          <a:prstGeom prst="rect">
            <a:avLst/>
          </a:prstGeom>
          <a:noFill/>
        </p:spPr>
        <p:txBody>
          <a:bodyPr wrap="none" lIns="0" rIns="0" tIns="0" bIns="0" anchor="t">
            <a:spAutoFit/>
          </a:bodyPr>
          <a:lstStyle/>
          <a:p>
            <a:pPr algn="l"/>
            <a:r>
              <a:rPr sz="900" b="0">
                <a:solidFill>
                  <a:srgbClr val="808288"/>
                </a:solidFill>
                <a:latin typeface="Arial"/>
              </a:rPr>
              <a:t>Mass-market car cells, average 4.2</a:t>
            </a:r>
          </a:p>
        </p:txBody>
      </p:sp>
      <p:sp>
        <p:nvSpPr>
          <p:cNvPr id="68" name="Rectangle 67"/>
          <p:cNvSpPr/>
          <p:nvPr/>
        </p:nvSpPr>
        <p:spPr>
          <a:xfrm>
            <a:off x="6830568" y="2182672"/>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7031736" y="2103120"/>
            <a:ext cx="5148072" cy="528066"/>
          </a:xfrm>
          <a:prstGeom prst="rect">
            <a:avLst/>
          </a:prstGeom>
          <a:noFill/>
        </p:spPr>
        <p:txBody>
          <a:bodyPr wrap="square" lIns="0" rIns="0" tIns="0" bIns="0" anchor="t">
            <a:spAutoFit/>
          </a:bodyPr>
          <a:lstStyle/>
          <a:p>
            <a:pPr algn="l">
              <a:lnSpc>
                <a:spcPct val="132000"/>
              </a:lnSpc>
            </a:pPr>
            <a:r>
              <a:rPr sz="1050" b="1">
                <a:solidFill>
                  <a:srgbClr val="121313"/>
                </a:solidFill>
                <a:latin typeface="Arial"/>
              </a:rPr>
              <a:t>Suppliers are the one real problem, and it is the same in both. </a:t>
            </a:r>
            <a:r>
              <a:rPr sz="1050" b="0">
                <a:solidFill>
                  <a:srgbClr val="44474B"/>
                </a:solidFill>
                <a:latin typeface="Arial"/>
              </a:rPr>
              <a:t>China holds 85% of cathode and over 90% of anode material, under licence rules. Their sodium-ion work is the only visible hedge.</a:t>
            </a:r>
          </a:p>
        </p:txBody>
      </p:sp>
      <p:sp>
        <p:nvSpPr>
          <p:cNvPr id="70" name="Rectangle 69"/>
          <p:cNvSpPr/>
          <p:nvPr/>
        </p:nvSpPr>
        <p:spPr>
          <a:xfrm>
            <a:off x="6830568" y="2875330"/>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7031736" y="2795778"/>
            <a:ext cx="5148072" cy="528066"/>
          </a:xfrm>
          <a:prstGeom prst="rect">
            <a:avLst/>
          </a:prstGeom>
          <a:noFill/>
        </p:spPr>
        <p:txBody>
          <a:bodyPr wrap="square" lIns="0" rIns="0" tIns="0" bIns="0" anchor="t">
            <a:spAutoFit/>
          </a:bodyPr>
          <a:lstStyle/>
          <a:p>
            <a:pPr algn="l">
              <a:lnSpc>
                <a:spcPct val="132000"/>
              </a:lnSpc>
            </a:pPr>
            <a:r>
              <a:rPr sz="1050" b="1">
                <a:solidFill>
                  <a:srgbClr val="121313"/>
                </a:solidFill>
                <a:latin typeface="Arial"/>
              </a:rPr>
              <a:t>Competition eased because the competitors died, </a:t>
            </a:r>
            <a:r>
              <a:rPr sz="1050" b="0">
                <a:solidFill>
                  <a:srgbClr val="44474B"/>
                </a:solidFill>
                <a:latin typeface="Arial"/>
              </a:rPr>
              <a:t>not because of anything they did. The real rival is Molicel of Taiwan, not CATL: same size, same cell, same customers.</a:t>
            </a:r>
          </a:p>
        </p:txBody>
      </p:sp>
      <p:sp>
        <p:nvSpPr>
          <p:cNvPr id="72" name="Rectangle 71"/>
          <p:cNvSpPr/>
          <p:nvPr/>
        </p:nvSpPr>
        <p:spPr>
          <a:xfrm>
            <a:off x="6830568" y="3567988"/>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7031736" y="3488436"/>
            <a:ext cx="5148072" cy="528066"/>
          </a:xfrm>
          <a:prstGeom prst="rect">
            <a:avLst/>
          </a:prstGeom>
          <a:noFill/>
        </p:spPr>
        <p:txBody>
          <a:bodyPr wrap="square" lIns="0" rIns="0" tIns="0" bIns="0" anchor="t">
            <a:spAutoFit/>
          </a:bodyPr>
          <a:lstStyle/>
          <a:p>
            <a:pPr algn="l">
              <a:lnSpc>
                <a:spcPct val="132000"/>
              </a:lnSpc>
            </a:pPr>
            <a:r>
              <a:rPr sz="1050" b="1">
                <a:solidFill>
                  <a:srgbClr val="121313"/>
                </a:solidFill>
                <a:latin typeface="Arial"/>
              </a:rPr>
              <a:t>Customers have little power, and that is the whole point. </a:t>
            </a:r>
            <a:r>
              <a:rPr sz="1050" b="0">
                <a:solidFill>
                  <a:srgbClr val="44474B"/>
                </a:solidFill>
                <a:latin typeface="Arial"/>
              </a:rPr>
              <a:t>Once a cell is approved into a satellite or a surgical tool, changing supplier means starting approval again.</a:t>
            </a:r>
          </a:p>
        </p:txBody>
      </p:sp>
      <p:sp>
        <p:nvSpPr>
          <p:cNvPr id="74" name="Rectangle 73"/>
          <p:cNvSpPr/>
          <p:nvPr/>
        </p:nvSpPr>
        <p:spPr>
          <a:xfrm>
            <a:off x="6830568" y="4260646"/>
            <a:ext cx="7315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7031736" y="4181094"/>
            <a:ext cx="5148072" cy="352044"/>
          </a:xfrm>
          <a:prstGeom prst="rect">
            <a:avLst/>
          </a:prstGeom>
          <a:noFill/>
        </p:spPr>
        <p:txBody>
          <a:bodyPr wrap="square" lIns="0" rIns="0" tIns="0" bIns="0" anchor="t">
            <a:spAutoFit/>
          </a:bodyPr>
          <a:lstStyle/>
          <a:p>
            <a:pPr algn="l">
              <a:lnSpc>
                <a:spcPct val="132000"/>
              </a:lnSpc>
            </a:pPr>
            <a:r>
              <a:rPr sz="1050" b="1">
                <a:solidFill>
                  <a:srgbClr val="121313"/>
                </a:solidFill>
                <a:latin typeface="Arial"/>
              </a:rPr>
              <a:t>Getting in is hard. </a:t>
            </a:r>
            <a:r>
              <a:rPr sz="1050" b="0">
                <a:solidFill>
                  <a:srgbClr val="44474B"/>
                </a:solidFill>
                <a:latin typeface="Arial"/>
              </a:rPr>
              <a:t>Money, know-how and years of customer approval, against a track record that now frightens investors away.</a:t>
            </a:r>
          </a:p>
        </p:txBody>
      </p:sp>
      <p:sp>
        <p:nvSpPr>
          <p:cNvPr id="76" name="Rounded Rectangle 75"/>
          <p:cNvSpPr/>
          <p:nvPr/>
        </p:nvSpPr>
        <p:spPr>
          <a:xfrm>
            <a:off x="6830568" y="5047488"/>
            <a:ext cx="5367528" cy="822960"/>
          </a:xfrm>
          <a:prstGeom prst="roundRect">
            <a:avLst>
              <a:gd name="adj" fmla="val 7000"/>
            </a:avLst>
          </a:prstGeom>
          <a:solidFill>
            <a:srgbClr val="FF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7068312" y="5212079"/>
            <a:ext cx="4892040" cy="182880"/>
          </a:xfrm>
          <a:prstGeom prst="rect">
            <a:avLst/>
          </a:prstGeom>
          <a:noFill/>
        </p:spPr>
        <p:txBody>
          <a:bodyPr wrap="square" lIns="0" rIns="0" tIns="0" bIns="0" anchor="t">
            <a:spAutoFit/>
          </a:bodyPr>
          <a:lstStyle/>
          <a:p>
            <a:pPr algn="l"/>
            <a:r>
              <a:rPr sz="1050" b="1">
                <a:solidFill>
                  <a:srgbClr val="D2541F"/>
                </a:solidFill>
                <a:latin typeface="Arial"/>
              </a:rPr>
              <a:t>The catch</a:t>
            </a:r>
          </a:p>
        </p:txBody>
      </p:sp>
      <p:sp>
        <p:nvSpPr>
          <p:cNvPr id="78" name="TextBox 77"/>
          <p:cNvSpPr txBox="1"/>
          <p:nvPr/>
        </p:nvSpPr>
        <p:spPr>
          <a:xfrm>
            <a:off x="7068312" y="5431536"/>
            <a:ext cx="4892040" cy="310896"/>
          </a:xfrm>
          <a:prstGeom prst="rect">
            <a:avLst/>
          </a:prstGeom>
          <a:noFill/>
        </p:spPr>
        <p:txBody>
          <a:bodyPr wrap="square" lIns="0" rIns="0" tIns="0" bIns="0" anchor="t">
            <a:spAutoFit/>
          </a:bodyPr>
          <a:lstStyle/>
          <a:p>
            <a:pPr algn="l">
              <a:lnSpc>
                <a:spcPct val="134000"/>
              </a:lnSpc>
            </a:pPr>
            <a:r>
              <a:rPr sz="1050" b="0">
                <a:solidFill>
                  <a:srgbClr val="44474B"/>
                </a:solidFill>
                <a:latin typeface="Arial"/>
              </a:rPr>
              <a:t>This only holds while they stay out of cars and out of power tools, where they would meet EVE Energy: one Malaysian plant, 680 million cells a year, seventeen times their entire target.</a:t>
            </a:r>
          </a:p>
        </p:txBody>
      </p:sp>
      <p:sp>
        <p:nvSpPr>
          <p:cNvPr id="79" name="TextBox 78"/>
          <p:cNvSpPr txBox="1"/>
          <p:nvPr/>
        </p:nvSpPr>
        <p:spPr>
          <a:xfrm>
            <a:off x="658368" y="6126480"/>
            <a:ext cx="10874959" cy="310896"/>
          </a:xfrm>
          <a:prstGeom prst="rect">
            <a:avLst/>
          </a:prstGeom>
          <a:noFill/>
        </p:spPr>
        <p:txBody>
          <a:bodyPr wrap="square" lIns="0" rIns="0" tIns="0" bIns="0" anchor="t">
            <a:spAutoFit/>
          </a:bodyPr>
          <a:lstStyle/>
          <a:p>
            <a:pPr algn="l">
              <a:lnSpc>
                <a:spcPct val="134000"/>
              </a:lnSpc>
            </a:pPr>
            <a:r>
              <a:rPr sz="800" b="0">
                <a:solidFill>
                  <a:srgbClr val="9A9DA3"/>
                </a:solidFill>
                <a:latin typeface="Arial"/>
              </a:rPr>
              <a:t>Our scoring, against the evidence set out in the full report. The scores are judgements; the facts underneath them are sourced. EVE Energy's Malaysian capacity, February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326319" cy="1005840"/>
          </a:xfrm>
          <a:prstGeom prst="rect">
            <a:avLst/>
          </a:prstGeom>
          <a:noFill/>
        </p:spPr>
        <p:txBody>
          <a:bodyPr wrap="square" lIns="0" rIns="0" tIns="0" bIns="0" anchor="t">
            <a:spAutoFit/>
          </a:bodyPr>
          <a:lstStyle/>
          <a:p>
            <a:pPr algn="l">
              <a:lnSpc>
                <a:spcPct val="104000"/>
              </a:lnSpc>
            </a:pPr>
            <a:r>
              <a:rPr sz="3100" b="1" spc="-22">
                <a:solidFill>
                  <a:srgbClr val="121313"/>
                </a:solidFill>
                <a:latin typeface="Arial"/>
              </a:rPr>
              <a:t>The honest balance sheet</a:t>
            </a:r>
          </a:p>
        </p:txBody>
      </p:sp>
      <p:sp>
        <p:nvSpPr>
          <p:cNvPr id="4" name="TextBox 3"/>
          <p:cNvSpPr txBox="1"/>
          <p:nvPr/>
        </p:nvSpPr>
        <p:spPr>
          <a:xfrm>
            <a:off x="658368" y="6464807"/>
            <a:ext cx="914400" cy="182880"/>
          </a:xfrm>
          <a:prstGeom prst="rect">
            <a:avLst/>
          </a:prstGeom>
          <a:noFill/>
        </p:spPr>
        <p:txBody>
          <a:bodyPr wrap="square" lIns="0" rIns="0" tIns="0" bIns="0" anchor="t">
            <a:spAutoFit/>
          </a:bodyPr>
          <a:lstStyle/>
          <a:p>
            <a:pPr algn="l"/>
            <a:r>
              <a:rPr sz="900" b="1">
                <a:solidFill>
                  <a:srgbClr val="808288"/>
                </a:solidFill>
                <a:latin typeface="Arial"/>
              </a:rPr>
              <a:t>13 / 16</a:t>
            </a:r>
          </a:p>
        </p:txBody>
      </p:sp>
      <p:sp>
        <p:nvSpPr>
          <p:cNvPr id="5" name="Rectangle 4"/>
          <p:cNvSpPr/>
          <p:nvPr/>
        </p:nvSpPr>
        <p:spPr>
          <a:xfrm>
            <a:off x="1371600"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83411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9662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275914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22165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8417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14668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60920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07171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53423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99674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45926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921779" y="6492240"/>
            <a:ext cx="43508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38429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4680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30932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521647" y="6464807"/>
            <a:ext cx="2011680" cy="182880"/>
          </a:xfrm>
          <a:prstGeom prst="rect">
            <a:avLst/>
          </a:prstGeom>
          <a:noFill/>
        </p:spPr>
        <p:txBody>
          <a:bodyPr wrap="square" lIns="0" rIns="0" tIns="0" bIns="0" anchor="t">
            <a:spAutoFit/>
          </a:bodyPr>
          <a:lstStyle/>
          <a:p>
            <a:pPr algn="r"/>
            <a:r>
              <a:rPr sz="900" b="0">
                <a:solidFill>
                  <a:srgbClr val="808288"/>
                </a:solidFill>
                <a:latin typeface="Arial"/>
              </a:rPr>
              <a:t>Part four: the structure</a:t>
            </a:r>
          </a:p>
        </p:txBody>
      </p:sp>
      <p:sp>
        <p:nvSpPr>
          <p:cNvPr id="22" name="Rounded Rectangle 21"/>
          <p:cNvSpPr/>
          <p:nvPr/>
        </p:nvSpPr>
        <p:spPr>
          <a:xfrm>
            <a:off x="658368" y="1783080"/>
            <a:ext cx="5394960" cy="2029968"/>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96112" y="1965960"/>
            <a:ext cx="4937760" cy="201168"/>
          </a:xfrm>
          <a:prstGeom prst="rect">
            <a:avLst/>
          </a:prstGeom>
          <a:noFill/>
        </p:spPr>
        <p:txBody>
          <a:bodyPr wrap="square" lIns="0" rIns="0" tIns="0" bIns="0" anchor="t">
            <a:spAutoFit/>
          </a:bodyPr>
          <a:lstStyle/>
          <a:p>
            <a:pPr algn="l"/>
            <a:r>
              <a:rPr sz="1100" b="1">
                <a:solidFill>
                  <a:srgbClr val="07836A"/>
                </a:solidFill>
                <a:latin typeface="Arial"/>
              </a:rPr>
              <a:t>What is genuinely good</a:t>
            </a:r>
          </a:p>
        </p:txBody>
      </p:sp>
      <p:sp>
        <p:nvSpPr>
          <p:cNvPr id="24" name="Rectangle 23"/>
          <p:cNvSpPr/>
          <p:nvPr/>
        </p:nvSpPr>
        <p:spPr>
          <a:xfrm>
            <a:off x="896112" y="2352751"/>
            <a:ext cx="73152" cy="73152"/>
          </a:xfrm>
          <a:prstGeom prst="rect">
            <a:avLst/>
          </a:prstGeom>
          <a:solidFill>
            <a:srgbClr val="078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97280" y="2276856"/>
            <a:ext cx="4736592" cy="159258"/>
          </a:xfrm>
          <a:prstGeom prst="rect">
            <a:avLst/>
          </a:prstGeom>
          <a:noFill/>
        </p:spPr>
        <p:txBody>
          <a:bodyPr wrap="square" lIns="0" rIns="0" tIns="0" bIns="0" anchor="t">
            <a:spAutoFit/>
          </a:bodyPr>
          <a:lstStyle/>
          <a:p>
            <a:pPr algn="l">
              <a:lnSpc>
                <a:spcPct val="132000"/>
              </a:lnSpc>
            </a:pPr>
            <a:r>
              <a:rPr sz="950" b="0">
                <a:solidFill>
                  <a:srgbClr val="44474B"/>
                </a:solidFill>
                <a:latin typeface="Arial"/>
              </a:rPr>
              <a:t>Dry coating actually running and selling, one of only three in the world.</a:t>
            </a:r>
          </a:p>
        </p:txBody>
      </p:sp>
      <p:sp>
        <p:nvSpPr>
          <p:cNvPr id="26" name="Rectangle 25"/>
          <p:cNvSpPr/>
          <p:nvPr/>
        </p:nvSpPr>
        <p:spPr>
          <a:xfrm>
            <a:off x="896112" y="2630881"/>
            <a:ext cx="73152" cy="73152"/>
          </a:xfrm>
          <a:prstGeom prst="rect">
            <a:avLst/>
          </a:prstGeom>
          <a:solidFill>
            <a:srgbClr val="078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97280" y="2554986"/>
            <a:ext cx="4736592" cy="159258"/>
          </a:xfrm>
          <a:prstGeom prst="rect">
            <a:avLst/>
          </a:prstGeom>
          <a:noFill/>
        </p:spPr>
        <p:txBody>
          <a:bodyPr wrap="square" lIns="0" rIns="0" tIns="0" bIns="0" anchor="t">
            <a:spAutoFit/>
          </a:bodyPr>
          <a:lstStyle/>
          <a:p>
            <a:pPr algn="l">
              <a:lnSpc>
                <a:spcPct val="132000"/>
              </a:lnSpc>
            </a:pPr>
            <a:r>
              <a:rPr sz="950" b="0">
                <a:solidFill>
                  <a:srgbClr val="44474B"/>
                </a:solidFill>
                <a:latin typeface="Arial"/>
              </a:rPr>
              <a:t>They make their own anode and cathode, with 1,000 proven recipes.</a:t>
            </a:r>
          </a:p>
        </p:txBody>
      </p:sp>
      <p:sp>
        <p:nvSpPr>
          <p:cNvPr id="28" name="Rectangle 27"/>
          <p:cNvSpPr/>
          <p:nvPr/>
        </p:nvSpPr>
        <p:spPr>
          <a:xfrm>
            <a:off x="896112" y="2909011"/>
            <a:ext cx="73152" cy="73152"/>
          </a:xfrm>
          <a:prstGeom prst="rect">
            <a:avLst/>
          </a:prstGeom>
          <a:solidFill>
            <a:srgbClr val="078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97280" y="2833116"/>
            <a:ext cx="4736592" cy="159258"/>
          </a:xfrm>
          <a:prstGeom prst="rect">
            <a:avLst/>
          </a:prstGeom>
          <a:noFill/>
        </p:spPr>
        <p:txBody>
          <a:bodyPr wrap="square" lIns="0" rIns="0" tIns="0" bIns="0" anchor="t">
            <a:spAutoFit/>
          </a:bodyPr>
          <a:lstStyle/>
          <a:p>
            <a:pPr algn="l">
              <a:lnSpc>
                <a:spcPct val="132000"/>
              </a:lnSpc>
            </a:pPr>
            <a:r>
              <a:rPr sz="950" b="0">
                <a:solidFill>
                  <a:srgbClr val="44474B"/>
                </a:solidFill>
                <a:latin typeface="Arial"/>
              </a:rPr>
              <a:t>A competitive cell on paper: 6 Ah, fast charge, over 750 cycles.</a:t>
            </a:r>
          </a:p>
        </p:txBody>
      </p:sp>
      <p:sp>
        <p:nvSpPr>
          <p:cNvPr id="30" name="Rectangle 29"/>
          <p:cNvSpPr/>
          <p:nvPr/>
        </p:nvSpPr>
        <p:spPr>
          <a:xfrm>
            <a:off x="896112" y="3187141"/>
            <a:ext cx="73152" cy="73152"/>
          </a:xfrm>
          <a:prstGeom prst="rect">
            <a:avLst/>
          </a:prstGeom>
          <a:solidFill>
            <a:srgbClr val="078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97280" y="3111246"/>
            <a:ext cx="4736592" cy="159258"/>
          </a:xfrm>
          <a:prstGeom prst="rect">
            <a:avLst/>
          </a:prstGeom>
          <a:noFill/>
        </p:spPr>
        <p:txBody>
          <a:bodyPr wrap="square" lIns="0" rIns="0" tIns="0" bIns="0" anchor="t">
            <a:spAutoFit/>
          </a:bodyPr>
          <a:lstStyle/>
          <a:p>
            <a:pPr algn="l">
              <a:lnSpc>
                <a:spcPct val="132000"/>
              </a:lnSpc>
            </a:pPr>
            <a:r>
              <a:rPr sz="950" b="0">
                <a:solidFill>
                  <a:srgbClr val="44474B"/>
                </a:solidFill>
                <a:latin typeface="Arial"/>
              </a:rPr>
              <a:t>Deliberately smaller than the size at which every European rival died.</a:t>
            </a:r>
          </a:p>
        </p:txBody>
      </p:sp>
      <p:sp>
        <p:nvSpPr>
          <p:cNvPr id="32" name="Rounded Rectangle 31"/>
          <p:cNvSpPr/>
          <p:nvPr/>
        </p:nvSpPr>
        <p:spPr>
          <a:xfrm>
            <a:off x="6400800" y="1783080"/>
            <a:ext cx="5394960" cy="2029968"/>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638544" y="1965960"/>
            <a:ext cx="4937760" cy="201168"/>
          </a:xfrm>
          <a:prstGeom prst="rect">
            <a:avLst/>
          </a:prstGeom>
          <a:noFill/>
        </p:spPr>
        <p:txBody>
          <a:bodyPr wrap="square" lIns="0" rIns="0" tIns="0" bIns="0" anchor="t">
            <a:spAutoFit/>
          </a:bodyPr>
          <a:lstStyle/>
          <a:p>
            <a:pPr algn="l"/>
            <a:r>
              <a:rPr sz="1100" b="1">
                <a:solidFill>
                  <a:srgbClr val="C4362C"/>
                </a:solidFill>
                <a:latin typeface="Arial"/>
              </a:rPr>
              <a:t>What is genuinely weak</a:t>
            </a:r>
          </a:p>
        </p:txBody>
      </p:sp>
      <p:sp>
        <p:nvSpPr>
          <p:cNvPr id="34" name="Rectangle 33"/>
          <p:cNvSpPr/>
          <p:nvPr/>
        </p:nvSpPr>
        <p:spPr>
          <a:xfrm>
            <a:off x="6638544" y="2352751"/>
            <a:ext cx="73152" cy="73152"/>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839712" y="2276856"/>
            <a:ext cx="4736592" cy="318516"/>
          </a:xfrm>
          <a:prstGeom prst="rect">
            <a:avLst/>
          </a:prstGeom>
          <a:noFill/>
        </p:spPr>
        <p:txBody>
          <a:bodyPr wrap="square" lIns="0" rIns="0" tIns="0" bIns="0" anchor="t">
            <a:spAutoFit/>
          </a:bodyPr>
          <a:lstStyle/>
          <a:p>
            <a:pPr algn="l">
              <a:lnSpc>
                <a:spcPct val="132000"/>
              </a:lnSpc>
            </a:pPr>
            <a:r>
              <a:rPr sz="950" b="0">
                <a:solidFill>
                  <a:srgbClr val="44474B"/>
                </a:solidFill>
                <a:latin typeface="Arial"/>
              </a:rPr>
              <a:t>Cell output is under 1% of advertised capacity, and the plan needs 100x growth in eighteen months.</a:t>
            </a:r>
          </a:p>
        </p:txBody>
      </p:sp>
      <p:sp>
        <p:nvSpPr>
          <p:cNvPr id="36" name="Rectangle 35"/>
          <p:cNvSpPr/>
          <p:nvPr/>
        </p:nvSpPr>
        <p:spPr>
          <a:xfrm>
            <a:off x="6638544" y="2790139"/>
            <a:ext cx="73152" cy="73152"/>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839712" y="2714244"/>
            <a:ext cx="4736592" cy="318516"/>
          </a:xfrm>
          <a:prstGeom prst="rect">
            <a:avLst/>
          </a:prstGeom>
          <a:noFill/>
        </p:spPr>
        <p:txBody>
          <a:bodyPr wrap="square" lIns="0" rIns="0" tIns="0" bIns="0" anchor="t">
            <a:spAutoFit/>
          </a:bodyPr>
          <a:lstStyle/>
          <a:p>
            <a:pPr algn="l">
              <a:lnSpc>
                <a:spcPct val="132000"/>
              </a:lnSpc>
            </a:pPr>
            <a:r>
              <a:rPr sz="950" b="0">
                <a:solidFill>
                  <a:srgbClr val="44474B"/>
                </a:solidFill>
                <a:latin typeface="Arial"/>
              </a:rPr>
              <a:t>No quality certificate is published anywhere, which matters because medical and space customers require them.</a:t>
            </a:r>
          </a:p>
        </p:txBody>
      </p:sp>
      <p:sp>
        <p:nvSpPr>
          <p:cNvPr id="38" name="Rectangle 37"/>
          <p:cNvSpPr/>
          <p:nvPr/>
        </p:nvSpPr>
        <p:spPr>
          <a:xfrm>
            <a:off x="6638544" y="3227527"/>
            <a:ext cx="73152" cy="73152"/>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839712" y="3151632"/>
            <a:ext cx="4736592" cy="159258"/>
          </a:xfrm>
          <a:prstGeom prst="rect">
            <a:avLst/>
          </a:prstGeom>
          <a:noFill/>
        </p:spPr>
        <p:txBody>
          <a:bodyPr wrap="square" lIns="0" rIns="0" tIns="0" bIns="0" anchor="t">
            <a:spAutoFit/>
          </a:bodyPr>
          <a:lstStyle/>
          <a:p>
            <a:pPr algn="l">
              <a:lnSpc>
                <a:spcPct val="132000"/>
              </a:lnSpc>
            </a:pPr>
            <a:r>
              <a:rPr sz="950" b="0">
                <a:solidFill>
                  <a:srgbClr val="44474B"/>
                </a:solidFill>
                <a:latin typeface="Arial"/>
              </a:rPr>
              <a:t>Not one customer is named publicly. One pending patent.</a:t>
            </a:r>
          </a:p>
        </p:txBody>
      </p:sp>
      <p:sp>
        <p:nvSpPr>
          <p:cNvPr id="40" name="Rectangle 39"/>
          <p:cNvSpPr/>
          <p:nvPr/>
        </p:nvSpPr>
        <p:spPr>
          <a:xfrm>
            <a:off x="6638544" y="3505657"/>
            <a:ext cx="73152" cy="73152"/>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839712" y="3429762"/>
            <a:ext cx="4736592" cy="159258"/>
          </a:xfrm>
          <a:prstGeom prst="rect">
            <a:avLst/>
          </a:prstGeom>
          <a:noFill/>
        </p:spPr>
        <p:txBody>
          <a:bodyPr wrap="square" lIns="0" rIns="0" tIns="0" bIns="0" anchor="t">
            <a:spAutoFit/>
          </a:bodyPr>
          <a:lstStyle/>
          <a:p>
            <a:pPr algn="l">
              <a:lnSpc>
                <a:spcPct val="132000"/>
              </a:lnSpc>
            </a:pPr>
            <a:r>
              <a:rPr sz="950" b="0">
                <a:solidFill>
                  <a:srgbClr val="44474B"/>
                </a:solidFill>
                <a:latin typeface="Arial"/>
              </a:rPr>
              <a:t>₹320 crore is thin for this plan, with no cushion.</a:t>
            </a:r>
          </a:p>
        </p:txBody>
      </p:sp>
      <p:sp>
        <p:nvSpPr>
          <p:cNvPr id="42" name="Rounded Rectangle 41"/>
          <p:cNvSpPr/>
          <p:nvPr/>
        </p:nvSpPr>
        <p:spPr>
          <a:xfrm>
            <a:off x="658368" y="3931920"/>
            <a:ext cx="5394960" cy="2029968"/>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96112" y="4114800"/>
            <a:ext cx="4937760" cy="201168"/>
          </a:xfrm>
          <a:prstGeom prst="rect">
            <a:avLst/>
          </a:prstGeom>
          <a:noFill/>
        </p:spPr>
        <p:txBody>
          <a:bodyPr wrap="square" lIns="0" rIns="0" tIns="0" bIns="0" anchor="t">
            <a:spAutoFit/>
          </a:bodyPr>
          <a:lstStyle/>
          <a:p>
            <a:pPr algn="l"/>
            <a:r>
              <a:rPr sz="1100" b="1">
                <a:solidFill>
                  <a:srgbClr val="2A66B0"/>
                </a:solidFill>
                <a:latin typeface="Arial"/>
              </a:rPr>
              <a:t>What is open to them</a:t>
            </a:r>
          </a:p>
        </p:txBody>
      </p:sp>
      <p:sp>
        <p:nvSpPr>
          <p:cNvPr id="44" name="Rectangle 43"/>
          <p:cNvSpPr/>
          <p:nvPr/>
        </p:nvSpPr>
        <p:spPr>
          <a:xfrm>
            <a:off x="896112" y="4501591"/>
            <a:ext cx="73152" cy="73152"/>
          </a:xfrm>
          <a:prstGeom prst="rect">
            <a:avLst/>
          </a:prstGeom>
          <a:solidFill>
            <a:srgbClr val="2A6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097280" y="4425696"/>
            <a:ext cx="4736592" cy="159258"/>
          </a:xfrm>
          <a:prstGeom prst="rect">
            <a:avLst/>
          </a:prstGeom>
          <a:noFill/>
        </p:spPr>
        <p:txBody>
          <a:bodyPr wrap="square" lIns="0" rIns="0" tIns="0" bIns="0" anchor="t">
            <a:spAutoFit/>
          </a:bodyPr>
          <a:lstStyle/>
          <a:p>
            <a:pPr algn="l">
              <a:lnSpc>
                <a:spcPct val="132000"/>
              </a:lnSpc>
            </a:pPr>
            <a:r>
              <a:rPr sz="950" b="0">
                <a:solidFill>
                  <a:srgbClr val="44474B"/>
                </a:solidFill>
                <a:latin typeface="Arial"/>
              </a:rPr>
              <a:t>Their whole European competitor set vanished in eighteen months.</a:t>
            </a:r>
          </a:p>
        </p:txBody>
      </p:sp>
      <p:sp>
        <p:nvSpPr>
          <p:cNvPr id="46" name="Rectangle 45"/>
          <p:cNvSpPr/>
          <p:nvPr/>
        </p:nvSpPr>
        <p:spPr>
          <a:xfrm>
            <a:off x="896112" y="4779721"/>
            <a:ext cx="73152" cy="73152"/>
          </a:xfrm>
          <a:prstGeom prst="rect">
            <a:avLst/>
          </a:prstGeom>
          <a:solidFill>
            <a:srgbClr val="2A6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097280" y="4703826"/>
            <a:ext cx="4736592" cy="318516"/>
          </a:xfrm>
          <a:prstGeom prst="rect">
            <a:avLst/>
          </a:prstGeom>
          <a:noFill/>
        </p:spPr>
        <p:txBody>
          <a:bodyPr wrap="square" lIns="0" rIns="0" tIns="0" bIns="0" anchor="t">
            <a:spAutoFit/>
          </a:bodyPr>
          <a:lstStyle/>
          <a:p>
            <a:pPr algn="l">
              <a:lnSpc>
                <a:spcPct val="132000"/>
              </a:lnSpc>
            </a:pPr>
            <a:r>
              <a:rPr sz="950" b="0">
                <a:solidFill>
                  <a:srgbClr val="44474B"/>
                </a:solidFill>
                <a:latin typeface="Arial"/>
              </a:rPr>
              <a:t>Almost nobody in Europe sells electrodes, and new EU rules make a European, carbon-declared electrode a selling point.</a:t>
            </a:r>
          </a:p>
        </p:txBody>
      </p:sp>
      <p:sp>
        <p:nvSpPr>
          <p:cNvPr id="48" name="Rectangle 47"/>
          <p:cNvSpPr/>
          <p:nvPr/>
        </p:nvSpPr>
        <p:spPr>
          <a:xfrm>
            <a:off x="896112" y="5217109"/>
            <a:ext cx="73152" cy="73152"/>
          </a:xfrm>
          <a:prstGeom prst="rect">
            <a:avLst/>
          </a:prstGeom>
          <a:solidFill>
            <a:srgbClr val="2A6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97280" y="5141214"/>
            <a:ext cx="4736592" cy="159258"/>
          </a:xfrm>
          <a:prstGeom prst="rect">
            <a:avLst/>
          </a:prstGeom>
          <a:noFill/>
        </p:spPr>
        <p:txBody>
          <a:bodyPr wrap="square" lIns="0" rIns="0" tIns="0" bIns="0" anchor="t">
            <a:spAutoFit/>
          </a:bodyPr>
          <a:lstStyle/>
          <a:p>
            <a:pPr algn="l">
              <a:lnSpc>
                <a:spcPct val="132000"/>
              </a:lnSpc>
            </a:pPr>
            <a:r>
              <a:rPr sz="950" b="0">
                <a:solidFill>
                  <a:srgbClr val="44474B"/>
                </a:solidFill>
                <a:latin typeface="Arial"/>
              </a:rPr>
              <a:t>Defence and space budgets are rising and shut Chinese suppliers out.</a:t>
            </a:r>
          </a:p>
        </p:txBody>
      </p:sp>
      <p:sp>
        <p:nvSpPr>
          <p:cNvPr id="50" name="Rounded Rectangle 49"/>
          <p:cNvSpPr/>
          <p:nvPr/>
        </p:nvSpPr>
        <p:spPr>
          <a:xfrm>
            <a:off x="6400800" y="3931920"/>
            <a:ext cx="5394960" cy="2029968"/>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6638544" y="4114800"/>
            <a:ext cx="4937760" cy="201168"/>
          </a:xfrm>
          <a:prstGeom prst="rect">
            <a:avLst/>
          </a:prstGeom>
          <a:noFill/>
        </p:spPr>
        <p:txBody>
          <a:bodyPr wrap="square" lIns="0" rIns="0" tIns="0" bIns="0" anchor="t">
            <a:spAutoFit/>
          </a:bodyPr>
          <a:lstStyle/>
          <a:p>
            <a:pPr algn="l"/>
            <a:r>
              <a:rPr sz="1100" b="1">
                <a:solidFill>
                  <a:srgbClr val="B07C12"/>
                </a:solidFill>
                <a:latin typeface="Arial"/>
              </a:rPr>
              <a:t>What could go wrong</a:t>
            </a:r>
          </a:p>
        </p:txBody>
      </p:sp>
      <p:sp>
        <p:nvSpPr>
          <p:cNvPr id="52" name="Rectangle 51"/>
          <p:cNvSpPr/>
          <p:nvPr/>
        </p:nvSpPr>
        <p:spPr>
          <a:xfrm>
            <a:off x="6638544" y="4501591"/>
            <a:ext cx="73152" cy="73152"/>
          </a:xfrm>
          <a:prstGeom prst="rect">
            <a:avLst/>
          </a:prstGeom>
          <a:solidFill>
            <a:srgbClr val="B07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6839712" y="4425696"/>
            <a:ext cx="4736592" cy="318516"/>
          </a:xfrm>
          <a:prstGeom prst="rect">
            <a:avLst/>
          </a:prstGeom>
          <a:noFill/>
        </p:spPr>
        <p:txBody>
          <a:bodyPr wrap="square" lIns="0" rIns="0" tIns="0" bIns="0" anchor="t">
            <a:spAutoFit/>
          </a:bodyPr>
          <a:lstStyle/>
          <a:p>
            <a:pPr algn="l">
              <a:lnSpc>
                <a:spcPct val="132000"/>
              </a:lnSpc>
            </a:pPr>
            <a:r>
              <a:rPr sz="950" b="0">
                <a:solidFill>
                  <a:srgbClr val="44474B"/>
                </a:solidFill>
                <a:latin typeface="Arial"/>
              </a:rPr>
              <a:t>No carmaker or anchor customer owns a share. Everyone who tried that has failed.</a:t>
            </a:r>
          </a:p>
        </p:txBody>
      </p:sp>
      <p:sp>
        <p:nvSpPr>
          <p:cNvPr id="54" name="Rectangle 53"/>
          <p:cNvSpPr/>
          <p:nvPr/>
        </p:nvSpPr>
        <p:spPr>
          <a:xfrm>
            <a:off x="6638544" y="4938979"/>
            <a:ext cx="73152" cy="73152"/>
          </a:xfrm>
          <a:prstGeom prst="rect">
            <a:avLst/>
          </a:prstGeom>
          <a:solidFill>
            <a:srgbClr val="B07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839712" y="4863084"/>
            <a:ext cx="4736592" cy="159258"/>
          </a:xfrm>
          <a:prstGeom prst="rect">
            <a:avLst/>
          </a:prstGeom>
          <a:noFill/>
        </p:spPr>
        <p:txBody>
          <a:bodyPr wrap="square" lIns="0" rIns="0" tIns="0" bIns="0" anchor="t">
            <a:spAutoFit/>
          </a:bodyPr>
          <a:lstStyle/>
          <a:p>
            <a:pPr algn="l">
              <a:lnSpc>
                <a:spcPct val="132000"/>
              </a:lnSpc>
            </a:pPr>
            <a:r>
              <a:rPr sz="950" b="0">
                <a:solidFill>
                  <a:srgbClr val="44474B"/>
                </a:solidFill>
                <a:latin typeface="Arial"/>
              </a:rPr>
              <a:t>CustomCells died when one customer did not pay.</a:t>
            </a:r>
          </a:p>
        </p:txBody>
      </p:sp>
      <p:sp>
        <p:nvSpPr>
          <p:cNvPr id="56" name="Rectangle 55"/>
          <p:cNvSpPr/>
          <p:nvPr/>
        </p:nvSpPr>
        <p:spPr>
          <a:xfrm>
            <a:off x="6638544" y="5217109"/>
            <a:ext cx="73152" cy="73152"/>
          </a:xfrm>
          <a:prstGeom prst="rect">
            <a:avLst/>
          </a:prstGeom>
          <a:solidFill>
            <a:srgbClr val="B07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6839712" y="5141214"/>
            <a:ext cx="4736592" cy="159258"/>
          </a:xfrm>
          <a:prstGeom prst="rect">
            <a:avLst/>
          </a:prstGeom>
          <a:noFill/>
        </p:spPr>
        <p:txBody>
          <a:bodyPr wrap="square" lIns="0" rIns="0" tIns="0" bIns="0" anchor="t">
            <a:spAutoFit/>
          </a:bodyPr>
          <a:lstStyle/>
          <a:p>
            <a:pPr algn="l">
              <a:lnSpc>
                <a:spcPct val="132000"/>
              </a:lnSpc>
            </a:pPr>
            <a:r>
              <a:rPr sz="950" b="0">
                <a:solidFill>
                  <a:srgbClr val="44474B"/>
                </a:solidFill>
                <a:latin typeface="Arial"/>
              </a:rPr>
              <a:t>LG reaches mass production in 2028 and the technology lead closes.</a:t>
            </a:r>
          </a:p>
        </p:txBody>
      </p:sp>
      <p:sp>
        <p:nvSpPr>
          <p:cNvPr id="58" name="Rectangle 57"/>
          <p:cNvSpPr/>
          <p:nvPr/>
        </p:nvSpPr>
        <p:spPr>
          <a:xfrm>
            <a:off x="6638544" y="5495239"/>
            <a:ext cx="73152" cy="73152"/>
          </a:xfrm>
          <a:prstGeom prst="rect">
            <a:avLst/>
          </a:prstGeom>
          <a:solidFill>
            <a:srgbClr val="B07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839712" y="5419344"/>
            <a:ext cx="4736592" cy="318516"/>
          </a:xfrm>
          <a:prstGeom prst="rect">
            <a:avLst/>
          </a:prstGeom>
          <a:noFill/>
        </p:spPr>
        <p:txBody>
          <a:bodyPr wrap="square" lIns="0" rIns="0" tIns="0" bIns="0" anchor="t">
            <a:spAutoFit/>
          </a:bodyPr>
          <a:lstStyle/>
          <a:p>
            <a:pPr algn="l">
              <a:lnSpc>
                <a:spcPct val="132000"/>
              </a:lnSpc>
            </a:pPr>
            <a:r>
              <a:rPr sz="950" b="0">
                <a:solidFill>
                  <a:srgbClr val="44474B"/>
                </a:solidFill>
                <a:latin typeface="Arial"/>
              </a:rPr>
              <a:t>They do not qualify for Europe's ₹16,000 crore battery fund: it needs a plant seven times their size.</a:t>
            </a:r>
          </a:p>
        </p:txBody>
      </p:sp>
      <p:sp>
        <p:nvSpPr>
          <p:cNvPr id="60" name="TextBox 59"/>
          <p:cNvSpPr txBox="1"/>
          <p:nvPr/>
        </p:nvSpPr>
        <p:spPr>
          <a:xfrm>
            <a:off x="658368" y="6126480"/>
            <a:ext cx="10874959" cy="310896"/>
          </a:xfrm>
          <a:prstGeom prst="rect">
            <a:avLst/>
          </a:prstGeom>
          <a:noFill/>
        </p:spPr>
        <p:txBody>
          <a:bodyPr wrap="square" lIns="0" rIns="0" tIns="0" bIns="0" anchor="t">
            <a:spAutoFit/>
          </a:bodyPr>
          <a:lstStyle/>
          <a:p>
            <a:pPr algn="l">
              <a:lnSpc>
                <a:spcPct val="134000"/>
              </a:lnSpc>
            </a:pPr>
            <a:r>
              <a:rPr sz="800" b="0">
                <a:solidFill>
                  <a:srgbClr val="9A9DA3"/>
                </a:solidFill>
                <a:latin typeface="Arial"/>
              </a:rPr>
              <a:t>Every line traces to the full report. "No certificate is published" means we searched the website, every product page, the technical presentation and the funding announcement.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326319" cy="1005840"/>
          </a:xfrm>
          <a:prstGeom prst="rect">
            <a:avLst/>
          </a:prstGeom>
          <a:noFill/>
        </p:spPr>
        <p:txBody>
          <a:bodyPr wrap="square" lIns="0" rIns="0" tIns="0" bIns="0" anchor="t">
            <a:spAutoFit/>
          </a:bodyPr>
          <a:lstStyle/>
          <a:p>
            <a:pPr algn="l">
              <a:lnSpc>
                <a:spcPct val="104000"/>
              </a:lnSpc>
            </a:pPr>
            <a:r>
              <a:rPr sz="3100" b="1" spc="-22">
                <a:solidFill>
                  <a:srgbClr val="121313"/>
                </a:solidFill>
                <a:latin typeface="Arial"/>
              </a:rPr>
              <a:t>In this industry the rulebook is the moat</a:t>
            </a:r>
          </a:p>
        </p:txBody>
      </p:sp>
      <p:sp>
        <p:nvSpPr>
          <p:cNvPr id="4" name="TextBox 3"/>
          <p:cNvSpPr txBox="1"/>
          <p:nvPr/>
        </p:nvSpPr>
        <p:spPr>
          <a:xfrm>
            <a:off x="658368" y="6464807"/>
            <a:ext cx="914400" cy="182880"/>
          </a:xfrm>
          <a:prstGeom prst="rect">
            <a:avLst/>
          </a:prstGeom>
          <a:noFill/>
        </p:spPr>
        <p:txBody>
          <a:bodyPr wrap="square" lIns="0" rIns="0" tIns="0" bIns="0" anchor="t">
            <a:spAutoFit/>
          </a:bodyPr>
          <a:lstStyle/>
          <a:p>
            <a:pPr algn="l"/>
            <a:r>
              <a:rPr sz="900" b="1">
                <a:solidFill>
                  <a:srgbClr val="808288"/>
                </a:solidFill>
                <a:latin typeface="Arial"/>
              </a:rPr>
              <a:t>14 / 16</a:t>
            </a:r>
          </a:p>
        </p:txBody>
      </p:sp>
      <p:sp>
        <p:nvSpPr>
          <p:cNvPr id="5" name="Rectangle 4"/>
          <p:cNvSpPr/>
          <p:nvPr/>
        </p:nvSpPr>
        <p:spPr>
          <a:xfrm>
            <a:off x="1371600"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83411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9662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275914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22165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8417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14668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60920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07171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53423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99674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45926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92177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384294" y="6492240"/>
            <a:ext cx="43508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46809"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30932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521647" y="6464807"/>
            <a:ext cx="2011680" cy="182880"/>
          </a:xfrm>
          <a:prstGeom prst="rect">
            <a:avLst/>
          </a:prstGeom>
          <a:noFill/>
        </p:spPr>
        <p:txBody>
          <a:bodyPr wrap="square" lIns="0" rIns="0" tIns="0" bIns="0" anchor="t">
            <a:spAutoFit/>
          </a:bodyPr>
          <a:lstStyle/>
          <a:p>
            <a:pPr algn="r"/>
            <a:r>
              <a:rPr sz="900" b="0">
                <a:solidFill>
                  <a:srgbClr val="808288"/>
                </a:solidFill>
                <a:latin typeface="Arial"/>
              </a:rPr>
              <a:t>Part four: the structure</a:t>
            </a:r>
          </a:p>
        </p:txBody>
      </p:sp>
      <p:sp>
        <p:nvSpPr>
          <p:cNvPr id="22" name="Rounded Rectangle 21"/>
          <p:cNvSpPr/>
          <p:nvPr/>
        </p:nvSpPr>
        <p:spPr>
          <a:xfrm>
            <a:off x="658368" y="1783080"/>
            <a:ext cx="5943600" cy="40233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96112" y="1965960"/>
            <a:ext cx="5486400" cy="201168"/>
          </a:xfrm>
          <a:prstGeom prst="rect">
            <a:avLst/>
          </a:prstGeom>
          <a:noFill/>
        </p:spPr>
        <p:txBody>
          <a:bodyPr wrap="square" lIns="0" rIns="0" tIns="0" bIns="0" anchor="t">
            <a:spAutoFit/>
          </a:bodyPr>
          <a:lstStyle/>
          <a:p>
            <a:pPr algn="l"/>
            <a:r>
              <a:rPr sz="1100" b="1">
                <a:solidFill>
                  <a:srgbClr val="121313"/>
                </a:solidFill>
                <a:latin typeface="Arial"/>
              </a:rPr>
              <a:t>What comes into force, and when</a:t>
            </a:r>
          </a:p>
        </p:txBody>
      </p:sp>
      <p:sp>
        <p:nvSpPr>
          <p:cNvPr id="24" name="TextBox 23"/>
          <p:cNvSpPr txBox="1"/>
          <p:nvPr/>
        </p:nvSpPr>
        <p:spPr>
          <a:xfrm>
            <a:off x="896112" y="2176272"/>
            <a:ext cx="5486400" cy="182880"/>
          </a:xfrm>
          <a:prstGeom prst="rect">
            <a:avLst/>
          </a:prstGeom>
          <a:noFill/>
        </p:spPr>
        <p:txBody>
          <a:bodyPr wrap="square" lIns="0" rIns="0" tIns="0" bIns="0" anchor="t">
            <a:spAutoFit/>
          </a:bodyPr>
          <a:lstStyle/>
          <a:p>
            <a:pPr algn="l"/>
            <a:r>
              <a:rPr sz="950" b="0">
                <a:solidFill>
                  <a:srgbClr val="808288"/>
                </a:solidFill>
                <a:latin typeface="Arial"/>
              </a:rPr>
              <a:t>rules binding anyone selling a battery into Europe</a:t>
            </a:r>
          </a:p>
        </p:txBody>
      </p:sp>
      <p:sp>
        <p:nvSpPr>
          <p:cNvPr id="25" name="Rounded Rectangle 24"/>
          <p:cNvSpPr/>
          <p:nvPr/>
        </p:nvSpPr>
        <p:spPr>
          <a:xfrm>
            <a:off x="841248" y="2519172"/>
            <a:ext cx="5577840" cy="411479"/>
          </a:xfrm>
          <a:prstGeom prst="roundRect">
            <a:avLst>
              <a:gd name="adj" fmla="val 18000"/>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32688" y="2569464"/>
            <a:ext cx="1069848" cy="411479"/>
          </a:xfrm>
          <a:prstGeom prst="rect">
            <a:avLst/>
          </a:prstGeom>
          <a:noFill/>
        </p:spPr>
        <p:txBody>
          <a:bodyPr wrap="square" lIns="0" rIns="0" tIns="0" bIns="0" anchor="ctr">
            <a:spAutoFit/>
          </a:bodyPr>
          <a:lstStyle/>
          <a:p>
            <a:pPr algn="l"/>
            <a:r>
              <a:rPr sz="950" b="1">
                <a:solidFill>
                  <a:srgbClr val="D2541F"/>
                </a:solidFill>
                <a:latin typeface="Arial"/>
              </a:rPr>
              <a:t>10 Nov 2026</a:t>
            </a:r>
          </a:p>
        </p:txBody>
      </p:sp>
      <p:sp>
        <p:nvSpPr>
          <p:cNvPr id="27" name="TextBox 26"/>
          <p:cNvSpPr txBox="1"/>
          <p:nvPr/>
        </p:nvSpPr>
        <p:spPr>
          <a:xfrm>
            <a:off x="2075688" y="2569464"/>
            <a:ext cx="2944368" cy="411479"/>
          </a:xfrm>
          <a:prstGeom prst="rect">
            <a:avLst/>
          </a:prstGeom>
          <a:noFill/>
        </p:spPr>
        <p:txBody>
          <a:bodyPr wrap="square" lIns="0" rIns="0" tIns="0" bIns="0" anchor="ctr">
            <a:spAutoFit/>
          </a:bodyPr>
          <a:lstStyle/>
          <a:p>
            <a:pPr algn="l"/>
            <a:r>
              <a:rPr sz="950" b="1">
                <a:solidFill>
                  <a:srgbClr val="D2541F"/>
                </a:solidFill>
                <a:latin typeface="Arial"/>
              </a:rPr>
              <a:t>China's export licence pause runs out</a:t>
            </a:r>
          </a:p>
        </p:txBody>
      </p:sp>
      <p:sp>
        <p:nvSpPr>
          <p:cNvPr id="28" name="TextBox 27"/>
          <p:cNvSpPr txBox="1"/>
          <p:nvPr/>
        </p:nvSpPr>
        <p:spPr>
          <a:xfrm>
            <a:off x="5093208" y="2569464"/>
            <a:ext cx="1161288" cy="411479"/>
          </a:xfrm>
          <a:prstGeom prst="rect">
            <a:avLst/>
          </a:prstGeom>
          <a:noFill/>
        </p:spPr>
        <p:txBody>
          <a:bodyPr wrap="square" lIns="0" rIns="0" tIns="0" bIns="0" anchor="ctr">
            <a:spAutoFit/>
          </a:bodyPr>
          <a:lstStyle/>
          <a:p>
            <a:pPr algn="l"/>
            <a:r>
              <a:rPr sz="950" b="1">
                <a:solidFill>
                  <a:srgbClr val="D2541F"/>
                </a:solidFill>
                <a:latin typeface="Arial"/>
              </a:rPr>
              <a:t>watch this</a:t>
            </a:r>
          </a:p>
        </p:txBody>
      </p:sp>
      <p:sp>
        <p:nvSpPr>
          <p:cNvPr id="29" name="TextBox 28"/>
          <p:cNvSpPr txBox="1"/>
          <p:nvPr/>
        </p:nvSpPr>
        <p:spPr>
          <a:xfrm>
            <a:off x="932688" y="2999232"/>
            <a:ext cx="1069848" cy="411479"/>
          </a:xfrm>
          <a:prstGeom prst="rect">
            <a:avLst/>
          </a:prstGeom>
          <a:noFill/>
        </p:spPr>
        <p:txBody>
          <a:bodyPr wrap="square" lIns="0" rIns="0" tIns="0" bIns="0" anchor="ctr">
            <a:spAutoFit/>
          </a:bodyPr>
          <a:lstStyle/>
          <a:p>
            <a:pPr algn="l"/>
            <a:r>
              <a:rPr sz="950" b="1">
                <a:solidFill>
                  <a:srgbClr val="121313"/>
                </a:solidFill>
                <a:latin typeface="Arial"/>
              </a:rPr>
              <a:t>Feb 2026</a:t>
            </a:r>
          </a:p>
        </p:txBody>
      </p:sp>
      <p:sp>
        <p:nvSpPr>
          <p:cNvPr id="30" name="TextBox 29"/>
          <p:cNvSpPr txBox="1"/>
          <p:nvPr/>
        </p:nvSpPr>
        <p:spPr>
          <a:xfrm>
            <a:off x="2075688" y="2999232"/>
            <a:ext cx="2944368" cy="411479"/>
          </a:xfrm>
          <a:prstGeom prst="rect">
            <a:avLst/>
          </a:prstGeom>
          <a:noFill/>
        </p:spPr>
        <p:txBody>
          <a:bodyPr wrap="square" lIns="0" rIns="0" tIns="0" bIns="0" anchor="ctr">
            <a:spAutoFit/>
          </a:bodyPr>
          <a:lstStyle/>
          <a:p>
            <a:pPr algn="l"/>
            <a:r>
              <a:rPr sz="950" b="0">
                <a:solidFill>
                  <a:srgbClr val="44474B"/>
                </a:solidFill>
                <a:latin typeface="Arial"/>
              </a:rPr>
              <a:t>EU carbon footprint declaration for industrial batteries</a:t>
            </a:r>
          </a:p>
        </p:txBody>
      </p:sp>
      <p:sp>
        <p:nvSpPr>
          <p:cNvPr id="31" name="TextBox 30"/>
          <p:cNvSpPr txBox="1"/>
          <p:nvPr/>
        </p:nvSpPr>
        <p:spPr>
          <a:xfrm>
            <a:off x="5093208" y="2999232"/>
            <a:ext cx="1161288" cy="411479"/>
          </a:xfrm>
          <a:prstGeom prst="rect">
            <a:avLst/>
          </a:prstGeom>
          <a:noFill/>
        </p:spPr>
        <p:txBody>
          <a:bodyPr wrap="square" lIns="0" rIns="0" tIns="0" bIns="0" anchor="ctr">
            <a:spAutoFit/>
          </a:bodyPr>
          <a:lstStyle/>
          <a:p>
            <a:pPr algn="l"/>
            <a:r>
              <a:rPr sz="950" b="0">
                <a:solidFill>
                  <a:srgbClr val="44474B"/>
                </a:solidFill>
                <a:latin typeface="Arial"/>
              </a:rPr>
              <a:t>already in force</a:t>
            </a:r>
          </a:p>
        </p:txBody>
      </p:sp>
      <p:sp>
        <p:nvSpPr>
          <p:cNvPr id="32" name="Rounded Rectangle 31"/>
          <p:cNvSpPr/>
          <p:nvPr/>
        </p:nvSpPr>
        <p:spPr>
          <a:xfrm>
            <a:off x="841248" y="3378708"/>
            <a:ext cx="5577840" cy="411479"/>
          </a:xfrm>
          <a:prstGeom prst="roundRect">
            <a:avLst>
              <a:gd name="adj" fmla="val 18000"/>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32688" y="3429000"/>
            <a:ext cx="1069848" cy="411479"/>
          </a:xfrm>
          <a:prstGeom prst="rect">
            <a:avLst/>
          </a:prstGeom>
          <a:noFill/>
        </p:spPr>
        <p:txBody>
          <a:bodyPr wrap="square" lIns="0" rIns="0" tIns="0" bIns="0" anchor="ctr">
            <a:spAutoFit/>
          </a:bodyPr>
          <a:lstStyle/>
          <a:p>
            <a:pPr algn="l"/>
            <a:r>
              <a:rPr sz="950" b="1">
                <a:solidFill>
                  <a:srgbClr val="D2541F"/>
                </a:solidFill>
                <a:latin typeface="Arial"/>
              </a:rPr>
              <a:t>Feb 2027</a:t>
            </a:r>
          </a:p>
        </p:txBody>
      </p:sp>
      <p:sp>
        <p:nvSpPr>
          <p:cNvPr id="34" name="TextBox 33"/>
          <p:cNvSpPr txBox="1"/>
          <p:nvPr/>
        </p:nvSpPr>
        <p:spPr>
          <a:xfrm>
            <a:off x="2075688" y="3429000"/>
            <a:ext cx="2944368" cy="411479"/>
          </a:xfrm>
          <a:prstGeom prst="rect">
            <a:avLst/>
          </a:prstGeom>
          <a:noFill/>
        </p:spPr>
        <p:txBody>
          <a:bodyPr wrap="square" lIns="0" rIns="0" tIns="0" bIns="0" anchor="ctr">
            <a:spAutoFit/>
          </a:bodyPr>
          <a:lstStyle/>
          <a:p>
            <a:pPr algn="l"/>
            <a:r>
              <a:rPr sz="950" b="1">
                <a:solidFill>
                  <a:srgbClr val="D2541F"/>
                </a:solidFill>
                <a:latin typeface="Arial"/>
              </a:rPr>
              <a:t>Every battery sold in the EU needs a digital passport</a:t>
            </a:r>
          </a:p>
        </p:txBody>
      </p:sp>
      <p:sp>
        <p:nvSpPr>
          <p:cNvPr id="35" name="TextBox 34"/>
          <p:cNvSpPr txBox="1"/>
          <p:nvPr/>
        </p:nvSpPr>
        <p:spPr>
          <a:xfrm>
            <a:off x="5093208" y="3429000"/>
            <a:ext cx="1161288" cy="411479"/>
          </a:xfrm>
          <a:prstGeom prst="rect">
            <a:avLst/>
          </a:prstGeom>
          <a:noFill/>
        </p:spPr>
        <p:txBody>
          <a:bodyPr wrap="square" lIns="0" rIns="0" tIns="0" bIns="0" anchor="ctr">
            <a:spAutoFit/>
          </a:bodyPr>
          <a:lstStyle/>
          <a:p>
            <a:pPr algn="l"/>
            <a:r>
              <a:rPr sz="950" b="1">
                <a:solidFill>
                  <a:srgbClr val="D2541F"/>
                </a:solidFill>
                <a:latin typeface="Arial"/>
              </a:rPr>
              <a:t>a data project</a:t>
            </a:r>
          </a:p>
        </p:txBody>
      </p:sp>
      <p:sp>
        <p:nvSpPr>
          <p:cNvPr id="36" name="TextBox 35"/>
          <p:cNvSpPr txBox="1"/>
          <p:nvPr/>
        </p:nvSpPr>
        <p:spPr>
          <a:xfrm>
            <a:off x="932688" y="3858768"/>
            <a:ext cx="1069848" cy="411479"/>
          </a:xfrm>
          <a:prstGeom prst="rect">
            <a:avLst/>
          </a:prstGeom>
          <a:noFill/>
        </p:spPr>
        <p:txBody>
          <a:bodyPr wrap="square" lIns="0" rIns="0" tIns="0" bIns="0" anchor="ctr">
            <a:spAutoFit/>
          </a:bodyPr>
          <a:lstStyle/>
          <a:p>
            <a:pPr algn="l"/>
            <a:r>
              <a:rPr sz="950" b="1">
                <a:solidFill>
                  <a:srgbClr val="121313"/>
                </a:solidFill>
                <a:latin typeface="Arial"/>
              </a:rPr>
              <a:t>Aug 2027</a:t>
            </a:r>
          </a:p>
        </p:txBody>
      </p:sp>
      <p:sp>
        <p:nvSpPr>
          <p:cNvPr id="37" name="TextBox 36"/>
          <p:cNvSpPr txBox="1"/>
          <p:nvPr/>
        </p:nvSpPr>
        <p:spPr>
          <a:xfrm>
            <a:off x="2075688" y="3858768"/>
            <a:ext cx="2944368" cy="411479"/>
          </a:xfrm>
          <a:prstGeom prst="rect">
            <a:avLst/>
          </a:prstGeom>
          <a:noFill/>
        </p:spPr>
        <p:txBody>
          <a:bodyPr wrap="square" lIns="0" rIns="0" tIns="0" bIns="0" anchor="ctr">
            <a:spAutoFit/>
          </a:bodyPr>
          <a:lstStyle/>
          <a:p>
            <a:pPr algn="l"/>
            <a:r>
              <a:rPr sz="950" b="0">
                <a:solidFill>
                  <a:srgbClr val="44474B"/>
                </a:solidFill>
                <a:latin typeface="Arial"/>
              </a:rPr>
              <a:t>Supply chain checks for larger firms</a:t>
            </a:r>
          </a:p>
        </p:txBody>
      </p:sp>
      <p:sp>
        <p:nvSpPr>
          <p:cNvPr id="38" name="TextBox 37"/>
          <p:cNvSpPr txBox="1"/>
          <p:nvPr/>
        </p:nvSpPr>
        <p:spPr>
          <a:xfrm>
            <a:off x="5093208" y="3858768"/>
            <a:ext cx="1161288" cy="411479"/>
          </a:xfrm>
          <a:prstGeom prst="rect">
            <a:avLst/>
          </a:prstGeom>
          <a:noFill/>
        </p:spPr>
        <p:txBody>
          <a:bodyPr wrap="square" lIns="0" rIns="0" tIns="0" bIns="0" anchor="ctr">
            <a:spAutoFit/>
          </a:bodyPr>
          <a:lstStyle/>
          <a:p>
            <a:pPr algn="l"/>
            <a:r>
              <a:rPr sz="950" b="0">
                <a:solidFill>
                  <a:srgbClr val="44474B"/>
                </a:solidFill>
                <a:latin typeface="Arial"/>
              </a:rPr>
              <a:t>importers hit hardest</a:t>
            </a:r>
          </a:p>
        </p:txBody>
      </p:sp>
      <p:sp>
        <p:nvSpPr>
          <p:cNvPr id="39" name="Rounded Rectangle 38"/>
          <p:cNvSpPr/>
          <p:nvPr/>
        </p:nvSpPr>
        <p:spPr>
          <a:xfrm>
            <a:off x="932688" y="4224528"/>
            <a:ext cx="5394960" cy="960120"/>
          </a:xfrm>
          <a:prstGeom prst="roundRect">
            <a:avLst>
              <a:gd name="adj" fmla="val 7000"/>
            </a:avLst>
          </a:prstGeom>
          <a:solidFill>
            <a:srgbClr val="FF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170432" y="4389120"/>
            <a:ext cx="4919472" cy="182880"/>
          </a:xfrm>
          <a:prstGeom prst="rect">
            <a:avLst/>
          </a:prstGeom>
          <a:noFill/>
        </p:spPr>
        <p:txBody>
          <a:bodyPr wrap="square" lIns="0" rIns="0" tIns="0" bIns="0" anchor="t">
            <a:spAutoFit/>
          </a:bodyPr>
          <a:lstStyle/>
          <a:p>
            <a:pPr algn="l"/>
            <a:r>
              <a:rPr sz="1050" b="1">
                <a:solidFill>
                  <a:srgbClr val="D2541F"/>
                </a:solidFill>
                <a:latin typeface="Arial"/>
              </a:rPr>
              <a:t>The part that matters for us</a:t>
            </a:r>
          </a:p>
        </p:txBody>
      </p:sp>
      <p:sp>
        <p:nvSpPr>
          <p:cNvPr id="41" name="TextBox 40"/>
          <p:cNvSpPr txBox="1"/>
          <p:nvPr/>
        </p:nvSpPr>
        <p:spPr>
          <a:xfrm>
            <a:off x="1170432" y="4608576"/>
            <a:ext cx="4919472" cy="448056"/>
          </a:xfrm>
          <a:prstGeom prst="rect">
            <a:avLst/>
          </a:prstGeom>
          <a:noFill/>
        </p:spPr>
        <p:txBody>
          <a:bodyPr wrap="square" lIns="0" rIns="0" tIns="0" bIns="0" anchor="t">
            <a:spAutoFit/>
          </a:bodyPr>
          <a:lstStyle/>
          <a:p>
            <a:pPr algn="l">
              <a:lnSpc>
                <a:spcPct val="134000"/>
              </a:lnSpc>
            </a:pPr>
            <a:r>
              <a:rPr sz="1050" b="0">
                <a:solidFill>
                  <a:srgbClr val="44474B"/>
                </a:solidFill>
                <a:latin typeface="Arial"/>
              </a:rPr>
              <a:t>These rules bind anyone selling into Europe, wherever the battery was made. For an Asian exporter that is a cost. For a European maker it is a sales argument.</a:t>
            </a:r>
          </a:p>
        </p:txBody>
      </p:sp>
      <p:sp>
        <p:nvSpPr>
          <p:cNvPr id="42" name="TextBox 41"/>
          <p:cNvSpPr txBox="1"/>
          <p:nvPr/>
        </p:nvSpPr>
        <p:spPr>
          <a:xfrm>
            <a:off x="7013448" y="1783080"/>
            <a:ext cx="5120640" cy="201168"/>
          </a:xfrm>
          <a:prstGeom prst="rect">
            <a:avLst/>
          </a:prstGeom>
          <a:noFill/>
        </p:spPr>
        <p:txBody>
          <a:bodyPr wrap="square" lIns="0" rIns="0" tIns="0" bIns="0" anchor="t">
            <a:spAutoFit/>
          </a:bodyPr>
          <a:lstStyle/>
          <a:p>
            <a:pPr algn="l"/>
            <a:r>
              <a:rPr sz="1100" b="1">
                <a:solidFill>
                  <a:srgbClr val="121313"/>
                </a:solidFill>
                <a:latin typeface="Arial"/>
              </a:rPr>
              <a:t>The wider picture, in plain terms</a:t>
            </a:r>
          </a:p>
        </p:txBody>
      </p:sp>
      <p:sp>
        <p:nvSpPr>
          <p:cNvPr id="43" name="Rounded Rectangle 42"/>
          <p:cNvSpPr/>
          <p:nvPr/>
        </p:nvSpPr>
        <p:spPr>
          <a:xfrm>
            <a:off x="7013448" y="2121408"/>
            <a:ext cx="837946" cy="192024"/>
          </a:xfrm>
          <a:prstGeom prst="roundRect">
            <a:avLst>
              <a:gd name="adj" fmla="val 40000"/>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7104888" y="2139696"/>
            <a:ext cx="655066" cy="155448"/>
          </a:xfrm>
          <a:prstGeom prst="rect">
            <a:avLst/>
          </a:prstGeom>
          <a:noFill/>
        </p:spPr>
        <p:txBody>
          <a:bodyPr wrap="none" lIns="0" rIns="0" tIns="0" bIns="0" anchor="t">
            <a:spAutoFit/>
          </a:bodyPr>
          <a:lstStyle/>
          <a:p>
            <a:pPr algn="l"/>
            <a:r>
              <a:rPr sz="850" b="1">
                <a:solidFill>
                  <a:srgbClr val="07836A"/>
                </a:solidFill>
                <a:latin typeface="Arial"/>
              </a:rPr>
              <a:t>helps them</a:t>
            </a:r>
          </a:p>
        </p:txBody>
      </p:sp>
      <p:sp>
        <p:nvSpPr>
          <p:cNvPr id="45" name="TextBox 44"/>
          <p:cNvSpPr txBox="1"/>
          <p:nvPr/>
        </p:nvSpPr>
        <p:spPr>
          <a:xfrm>
            <a:off x="8052562" y="2103120"/>
            <a:ext cx="4081525" cy="350520"/>
          </a:xfrm>
          <a:prstGeom prst="rect">
            <a:avLst/>
          </a:prstGeom>
          <a:noFill/>
        </p:spPr>
        <p:txBody>
          <a:bodyPr wrap="square" lIns="0" rIns="0" tIns="0" bIns="0" anchor="t">
            <a:spAutoFit/>
          </a:bodyPr>
          <a:lstStyle/>
          <a:p>
            <a:pPr algn="l">
              <a:lnSpc>
                <a:spcPct val="138000"/>
              </a:lnSpc>
            </a:pPr>
            <a:r>
              <a:rPr sz="1000" b="0">
                <a:solidFill>
                  <a:srgbClr val="44474B"/>
                </a:solidFill>
                <a:latin typeface="Arial"/>
              </a:rPr>
              <a:t>Europe's new ₹16 lakh crore defence fund requires 65% European content, and it is live now.</a:t>
            </a:r>
          </a:p>
        </p:txBody>
      </p:sp>
      <p:sp>
        <p:nvSpPr>
          <p:cNvPr id="46" name="Rounded Rectangle 45"/>
          <p:cNvSpPr/>
          <p:nvPr/>
        </p:nvSpPr>
        <p:spPr>
          <a:xfrm>
            <a:off x="7013448" y="2627375"/>
            <a:ext cx="837946" cy="192024"/>
          </a:xfrm>
          <a:prstGeom prst="roundRect">
            <a:avLst>
              <a:gd name="adj" fmla="val 40000"/>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7104888" y="2645664"/>
            <a:ext cx="655066" cy="155448"/>
          </a:xfrm>
          <a:prstGeom prst="rect">
            <a:avLst/>
          </a:prstGeom>
          <a:noFill/>
        </p:spPr>
        <p:txBody>
          <a:bodyPr wrap="none" lIns="0" rIns="0" tIns="0" bIns="0" anchor="t">
            <a:spAutoFit/>
          </a:bodyPr>
          <a:lstStyle/>
          <a:p>
            <a:pPr algn="l"/>
            <a:r>
              <a:rPr sz="850" b="1">
                <a:solidFill>
                  <a:srgbClr val="C4362C"/>
                </a:solidFill>
                <a:latin typeface="Arial"/>
              </a:rPr>
              <a:t>hurts them</a:t>
            </a:r>
          </a:p>
        </p:txBody>
      </p:sp>
      <p:sp>
        <p:nvSpPr>
          <p:cNvPr id="48" name="TextBox 47"/>
          <p:cNvSpPr txBox="1"/>
          <p:nvPr/>
        </p:nvSpPr>
        <p:spPr>
          <a:xfrm>
            <a:off x="8052562" y="2609087"/>
            <a:ext cx="4081525" cy="350520"/>
          </a:xfrm>
          <a:prstGeom prst="rect">
            <a:avLst/>
          </a:prstGeom>
          <a:noFill/>
        </p:spPr>
        <p:txBody>
          <a:bodyPr wrap="square" lIns="0" rIns="0" tIns="0" bIns="0" anchor="t">
            <a:spAutoFit/>
          </a:bodyPr>
          <a:lstStyle/>
          <a:p>
            <a:pPr algn="l">
              <a:lnSpc>
                <a:spcPct val="138000"/>
              </a:lnSpc>
            </a:pPr>
            <a:r>
              <a:rPr sz="1000" b="0">
                <a:solidFill>
                  <a:srgbClr val="44474B"/>
                </a:solidFill>
                <a:latin typeface="Arial"/>
              </a:rPr>
              <a:t>European packs cost 56% more than Chinese ones, and German electricity is among the dearest.</a:t>
            </a:r>
          </a:p>
        </p:txBody>
      </p:sp>
      <p:sp>
        <p:nvSpPr>
          <p:cNvPr id="49" name="Rounded Rectangle 48"/>
          <p:cNvSpPr/>
          <p:nvPr/>
        </p:nvSpPr>
        <p:spPr>
          <a:xfrm>
            <a:off x="7013448" y="3133343"/>
            <a:ext cx="837946" cy="192024"/>
          </a:xfrm>
          <a:prstGeom prst="roundRect">
            <a:avLst>
              <a:gd name="adj" fmla="val 40000"/>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7104888" y="3151631"/>
            <a:ext cx="655066" cy="155448"/>
          </a:xfrm>
          <a:prstGeom prst="rect">
            <a:avLst/>
          </a:prstGeom>
          <a:noFill/>
        </p:spPr>
        <p:txBody>
          <a:bodyPr wrap="none" lIns="0" rIns="0" tIns="0" bIns="0" anchor="t">
            <a:spAutoFit/>
          </a:bodyPr>
          <a:lstStyle/>
          <a:p>
            <a:pPr algn="l"/>
            <a:r>
              <a:rPr sz="850" b="1">
                <a:solidFill>
                  <a:srgbClr val="07836A"/>
                </a:solidFill>
                <a:latin typeface="Arial"/>
              </a:rPr>
              <a:t>helps them</a:t>
            </a:r>
          </a:p>
        </p:txBody>
      </p:sp>
      <p:sp>
        <p:nvSpPr>
          <p:cNvPr id="51" name="TextBox 50"/>
          <p:cNvSpPr txBox="1"/>
          <p:nvPr/>
        </p:nvSpPr>
        <p:spPr>
          <a:xfrm>
            <a:off x="8052562" y="3115055"/>
            <a:ext cx="4081525" cy="350520"/>
          </a:xfrm>
          <a:prstGeom prst="rect">
            <a:avLst/>
          </a:prstGeom>
          <a:noFill/>
        </p:spPr>
        <p:txBody>
          <a:bodyPr wrap="square" lIns="0" rIns="0" tIns="0" bIns="0" anchor="t">
            <a:spAutoFit/>
          </a:bodyPr>
          <a:lstStyle/>
          <a:p>
            <a:pPr algn="l">
              <a:lnSpc>
                <a:spcPct val="138000"/>
              </a:lnSpc>
            </a:pPr>
            <a:r>
              <a:rPr sz="1000" b="0">
                <a:solidFill>
                  <a:srgbClr val="44474B"/>
                </a:solidFill>
                <a:latin typeface="Arial"/>
              </a:rPr>
              <a:t>Medical, space and defence buyers care about where a cell comes from more than what it costs.</a:t>
            </a:r>
          </a:p>
        </p:txBody>
      </p:sp>
      <p:sp>
        <p:nvSpPr>
          <p:cNvPr id="52" name="Rounded Rectangle 51"/>
          <p:cNvSpPr/>
          <p:nvPr/>
        </p:nvSpPr>
        <p:spPr>
          <a:xfrm>
            <a:off x="7013448" y="3639311"/>
            <a:ext cx="537845" cy="192024"/>
          </a:xfrm>
          <a:prstGeom prst="roundRect">
            <a:avLst>
              <a:gd name="adj" fmla="val 40000"/>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7104888" y="3657599"/>
            <a:ext cx="354965" cy="155448"/>
          </a:xfrm>
          <a:prstGeom prst="rect">
            <a:avLst/>
          </a:prstGeom>
          <a:noFill/>
        </p:spPr>
        <p:txBody>
          <a:bodyPr wrap="none" lIns="0" rIns="0" tIns="0" bIns="0" anchor="t">
            <a:spAutoFit/>
          </a:bodyPr>
          <a:lstStyle/>
          <a:p>
            <a:pPr algn="l"/>
            <a:r>
              <a:rPr sz="850" b="1">
                <a:solidFill>
                  <a:srgbClr val="B07C12"/>
                </a:solidFill>
                <a:latin typeface="Arial"/>
              </a:rPr>
              <a:t>mixed</a:t>
            </a:r>
          </a:p>
        </p:txBody>
      </p:sp>
      <p:sp>
        <p:nvSpPr>
          <p:cNvPr id="54" name="TextBox 53"/>
          <p:cNvSpPr txBox="1"/>
          <p:nvPr/>
        </p:nvSpPr>
        <p:spPr>
          <a:xfrm>
            <a:off x="7752461" y="3621023"/>
            <a:ext cx="4381627" cy="350520"/>
          </a:xfrm>
          <a:prstGeom prst="rect">
            <a:avLst/>
          </a:prstGeom>
          <a:noFill/>
        </p:spPr>
        <p:txBody>
          <a:bodyPr wrap="square" lIns="0" rIns="0" tIns="0" bIns="0" anchor="t">
            <a:spAutoFit/>
          </a:bodyPr>
          <a:lstStyle/>
          <a:p>
            <a:pPr algn="l">
              <a:lnSpc>
                <a:spcPct val="138000"/>
              </a:lnSpc>
            </a:pPr>
            <a:r>
              <a:rPr sz="1000" b="0">
                <a:solidFill>
                  <a:srgbClr val="44474B"/>
                </a:solidFill>
                <a:latin typeface="Arial"/>
              </a:rPr>
              <a:t>Dry coating is a real lead that closes around 2028. Sodium-ion is both their hedge and a threat.</a:t>
            </a:r>
          </a:p>
        </p:txBody>
      </p:sp>
      <p:sp>
        <p:nvSpPr>
          <p:cNvPr id="55" name="Rounded Rectangle 54"/>
          <p:cNvSpPr/>
          <p:nvPr/>
        </p:nvSpPr>
        <p:spPr>
          <a:xfrm>
            <a:off x="7013448" y="4145279"/>
            <a:ext cx="837946" cy="192024"/>
          </a:xfrm>
          <a:prstGeom prst="roundRect">
            <a:avLst>
              <a:gd name="adj" fmla="val 40000"/>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7104888" y="4163567"/>
            <a:ext cx="655066" cy="155448"/>
          </a:xfrm>
          <a:prstGeom prst="rect">
            <a:avLst/>
          </a:prstGeom>
          <a:noFill/>
        </p:spPr>
        <p:txBody>
          <a:bodyPr wrap="none" lIns="0" rIns="0" tIns="0" bIns="0" anchor="t">
            <a:spAutoFit/>
          </a:bodyPr>
          <a:lstStyle/>
          <a:p>
            <a:pPr algn="l"/>
            <a:r>
              <a:rPr sz="850" b="1">
                <a:solidFill>
                  <a:srgbClr val="07836A"/>
                </a:solidFill>
                <a:latin typeface="Arial"/>
              </a:rPr>
              <a:t>helps them</a:t>
            </a:r>
          </a:p>
        </p:txBody>
      </p:sp>
      <p:sp>
        <p:nvSpPr>
          <p:cNvPr id="57" name="TextBox 56"/>
          <p:cNvSpPr txBox="1"/>
          <p:nvPr/>
        </p:nvSpPr>
        <p:spPr>
          <a:xfrm>
            <a:off x="8052562" y="4126991"/>
            <a:ext cx="4081525" cy="350520"/>
          </a:xfrm>
          <a:prstGeom prst="rect">
            <a:avLst/>
          </a:prstGeom>
          <a:noFill/>
        </p:spPr>
        <p:txBody>
          <a:bodyPr wrap="square" lIns="0" rIns="0" tIns="0" bIns="0" anchor="t">
            <a:spAutoFit/>
          </a:bodyPr>
          <a:lstStyle/>
          <a:p>
            <a:pPr algn="l">
              <a:lnSpc>
                <a:spcPct val="138000"/>
              </a:lnSpc>
            </a:pPr>
            <a:r>
              <a:rPr sz="1000" b="0">
                <a:solidFill>
                  <a:srgbClr val="44474B"/>
                </a:solidFill>
                <a:latin typeface="Arial"/>
              </a:rPr>
              <a:t>Solvent-free coating on a wind-powered grid gives them a genuinely low carbon number.</a:t>
            </a:r>
          </a:p>
        </p:txBody>
      </p:sp>
      <p:sp>
        <p:nvSpPr>
          <p:cNvPr id="58" name="Rounded Rectangle 57"/>
          <p:cNvSpPr/>
          <p:nvPr/>
        </p:nvSpPr>
        <p:spPr>
          <a:xfrm>
            <a:off x="7013448" y="4651247"/>
            <a:ext cx="537845" cy="192024"/>
          </a:xfrm>
          <a:prstGeom prst="roundRect">
            <a:avLst>
              <a:gd name="adj" fmla="val 40000"/>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7104888" y="4669536"/>
            <a:ext cx="354965" cy="155448"/>
          </a:xfrm>
          <a:prstGeom prst="rect">
            <a:avLst/>
          </a:prstGeom>
          <a:noFill/>
        </p:spPr>
        <p:txBody>
          <a:bodyPr wrap="none" lIns="0" rIns="0" tIns="0" bIns="0" anchor="t">
            <a:spAutoFit/>
          </a:bodyPr>
          <a:lstStyle/>
          <a:p>
            <a:pPr algn="l"/>
            <a:r>
              <a:rPr sz="850" b="1">
                <a:solidFill>
                  <a:srgbClr val="B07C12"/>
                </a:solidFill>
                <a:latin typeface="Arial"/>
              </a:rPr>
              <a:t>mixed</a:t>
            </a:r>
          </a:p>
        </p:txBody>
      </p:sp>
      <p:sp>
        <p:nvSpPr>
          <p:cNvPr id="60" name="TextBox 59"/>
          <p:cNvSpPr txBox="1"/>
          <p:nvPr/>
        </p:nvSpPr>
        <p:spPr>
          <a:xfrm>
            <a:off x="7752461" y="4632960"/>
            <a:ext cx="4381627" cy="350520"/>
          </a:xfrm>
          <a:prstGeom prst="rect">
            <a:avLst/>
          </a:prstGeom>
          <a:noFill/>
        </p:spPr>
        <p:txBody>
          <a:bodyPr wrap="square" lIns="0" rIns="0" tIns="0" bIns="0" anchor="t">
            <a:spAutoFit/>
          </a:bodyPr>
          <a:lstStyle/>
          <a:p>
            <a:pPr algn="l">
              <a:lnSpc>
                <a:spcPct val="138000"/>
              </a:lnSpc>
            </a:pPr>
            <a:r>
              <a:rPr sz="1000" b="0">
                <a:solidFill>
                  <a:srgbClr val="44474B"/>
                </a:solidFill>
                <a:latin typeface="Arial"/>
              </a:rPr>
              <a:t>Europe's battery subsidy fund targets exactly the large-scale strategy that already failed.</a:t>
            </a:r>
          </a:p>
        </p:txBody>
      </p:sp>
      <p:sp>
        <p:nvSpPr>
          <p:cNvPr id="61" name="TextBox 60"/>
          <p:cNvSpPr txBox="1"/>
          <p:nvPr/>
        </p:nvSpPr>
        <p:spPr>
          <a:xfrm>
            <a:off x="658368" y="6126480"/>
            <a:ext cx="10874959" cy="310896"/>
          </a:xfrm>
          <a:prstGeom prst="rect">
            <a:avLst/>
          </a:prstGeom>
          <a:noFill/>
        </p:spPr>
        <p:txBody>
          <a:bodyPr wrap="square" lIns="0" rIns="0" tIns="0" bIns="0" anchor="t">
            <a:spAutoFit/>
          </a:bodyPr>
          <a:lstStyle/>
          <a:p>
            <a:pPr algn="l">
              <a:lnSpc>
                <a:spcPct val="134000"/>
              </a:lnSpc>
            </a:pPr>
            <a:r>
              <a:rPr sz="800" b="0">
                <a:solidFill>
                  <a:srgbClr val="9A9DA3"/>
                </a:solidFill>
                <a:latin typeface="Arial"/>
              </a:rPr>
              <a:t>EU Battery Regulation 2023/1542 and its 2025 amendment - Critical Raw Materials Act - European Commission's Battery Booster call text, which requires a 10 GWh minimum - China's MOFCOM notices.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326319" cy="1005840"/>
          </a:xfrm>
          <a:prstGeom prst="rect">
            <a:avLst/>
          </a:prstGeom>
          <a:noFill/>
        </p:spPr>
        <p:txBody>
          <a:bodyPr wrap="square" lIns="0" rIns="0" tIns="0" bIns="0" anchor="t">
            <a:spAutoFit/>
          </a:bodyPr>
          <a:lstStyle/>
          <a:p>
            <a:pPr algn="l">
              <a:lnSpc>
                <a:spcPct val="104000"/>
              </a:lnSpc>
            </a:pPr>
            <a:r>
              <a:rPr sz="3100" b="1" spc="-22">
                <a:solidFill>
                  <a:srgbClr val="121313"/>
                </a:solidFill>
                <a:latin typeface="Arial"/>
              </a:rPr>
              <a:t>Four things we could actually do with this</a:t>
            </a:r>
          </a:p>
        </p:txBody>
      </p:sp>
      <p:sp>
        <p:nvSpPr>
          <p:cNvPr id="4" name="TextBox 3"/>
          <p:cNvSpPr txBox="1"/>
          <p:nvPr/>
        </p:nvSpPr>
        <p:spPr>
          <a:xfrm>
            <a:off x="658368" y="6464807"/>
            <a:ext cx="914400" cy="182880"/>
          </a:xfrm>
          <a:prstGeom prst="rect">
            <a:avLst/>
          </a:prstGeom>
          <a:noFill/>
        </p:spPr>
        <p:txBody>
          <a:bodyPr wrap="square" lIns="0" rIns="0" tIns="0" bIns="0" anchor="t">
            <a:spAutoFit/>
          </a:bodyPr>
          <a:lstStyle/>
          <a:p>
            <a:pPr algn="l"/>
            <a:r>
              <a:rPr sz="900" b="1">
                <a:solidFill>
                  <a:srgbClr val="808288"/>
                </a:solidFill>
                <a:latin typeface="Arial"/>
              </a:rPr>
              <a:t>15 / 16</a:t>
            </a:r>
          </a:p>
        </p:txBody>
      </p:sp>
      <p:sp>
        <p:nvSpPr>
          <p:cNvPr id="5" name="Rectangle 4"/>
          <p:cNvSpPr/>
          <p:nvPr/>
        </p:nvSpPr>
        <p:spPr>
          <a:xfrm>
            <a:off x="1371600"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83411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9662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275914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22165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8417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14668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60920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07171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53423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99674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45926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92177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38429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46809" y="6492240"/>
            <a:ext cx="43508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309324" y="6512814"/>
            <a:ext cx="435082" cy="3200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521647" y="6464807"/>
            <a:ext cx="2011680" cy="182880"/>
          </a:xfrm>
          <a:prstGeom prst="rect">
            <a:avLst/>
          </a:prstGeom>
          <a:noFill/>
        </p:spPr>
        <p:txBody>
          <a:bodyPr wrap="square" lIns="0" rIns="0" tIns="0" bIns="0" anchor="t">
            <a:spAutoFit/>
          </a:bodyPr>
          <a:lstStyle/>
          <a:p>
            <a:pPr algn="r"/>
            <a:r>
              <a:rPr sz="900" b="0">
                <a:solidFill>
                  <a:srgbClr val="808288"/>
                </a:solidFill>
                <a:latin typeface="Arial"/>
              </a:rPr>
              <a:t>Part five: what we do</a:t>
            </a:r>
          </a:p>
        </p:txBody>
      </p:sp>
      <p:sp>
        <p:nvSpPr>
          <p:cNvPr id="22" name="Rounded Rectangle 21"/>
          <p:cNvSpPr/>
          <p:nvPr/>
        </p:nvSpPr>
        <p:spPr>
          <a:xfrm>
            <a:off x="658368" y="1783080"/>
            <a:ext cx="5029200" cy="40233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96112" y="1965960"/>
            <a:ext cx="4572000" cy="201168"/>
          </a:xfrm>
          <a:prstGeom prst="rect">
            <a:avLst/>
          </a:prstGeom>
          <a:noFill/>
        </p:spPr>
        <p:txBody>
          <a:bodyPr wrap="square" lIns="0" rIns="0" tIns="0" bIns="0" anchor="t">
            <a:spAutoFit/>
          </a:bodyPr>
          <a:lstStyle/>
          <a:p>
            <a:pPr algn="l"/>
            <a:r>
              <a:rPr sz="1100" b="1">
                <a:solidFill>
                  <a:srgbClr val="121313"/>
                </a:solidFill>
                <a:latin typeface="Arial"/>
              </a:rPr>
              <a:t>What India spends on imported lithium-ion batteries</a:t>
            </a:r>
          </a:p>
        </p:txBody>
      </p:sp>
      <p:sp>
        <p:nvSpPr>
          <p:cNvPr id="24" name="TextBox 23"/>
          <p:cNvSpPr txBox="1"/>
          <p:nvPr/>
        </p:nvSpPr>
        <p:spPr>
          <a:xfrm>
            <a:off x="896112" y="2176272"/>
            <a:ext cx="4572000" cy="182880"/>
          </a:xfrm>
          <a:prstGeom prst="rect">
            <a:avLst/>
          </a:prstGeom>
          <a:noFill/>
        </p:spPr>
        <p:txBody>
          <a:bodyPr wrap="square" lIns="0" rIns="0" tIns="0" bIns="0" anchor="t">
            <a:spAutoFit/>
          </a:bodyPr>
          <a:lstStyle/>
          <a:p>
            <a:pPr algn="l"/>
            <a:r>
              <a:rPr sz="950" b="0">
                <a:solidFill>
                  <a:srgbClr val="808288"/>
                </a:solidFill>
                <a:latin typeface="Arial"/>
              </a:rPr>
              <a:t>₹ crore, code 850760: cells, modules and packs</a:t>
            </a:r>
          </a:p>
        </p:txBody>
      </p:sp>
      <p:sp>
        <p:nvSpPr>
          <p:cNvPr id="25" name="Rectangle 24"/>
          <p:cNvSpPr/>
          <p:nvPr/>
        </p:nvSpPr>
        <p:spPr>
          <a:xfrm>
            <a:off x="1435607" y="3922776"/>
            <a:ext cx="3931920" cy="7315"/>
          </a:xfrm>
          <a:prstGeom prst="rect">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94359" y="3849624"/>
            <a:ext cx="768096" cy="164592"/>
          </a:xfrm>
          <a:prstGeom prst="rect">
            <a:avLst/>
          </a:prstGeom>
          <a:noFill/>
        </p:spPr>
        <p:txBody>
          <a:bodyPr wrap="square" lIns="0" rIns="0" tIns="0" bIns="0" anchor="t">
            <a:spAutoFit/>
          </a:bodyPr>
          <a:lstStyle/>
          <a:p>
            <a:pPr algn="r"/>
            <a:r>
              <a:rPr sz="850" b="0" spc="40">
                <a:solidFill>
                  <a:srgbClr val="9A9DA3"/>
                </a:solidFill>
                <a:latin typeface="Arial"/>
              </a:rPr>
              <a:t>₹0k</a:t>
            </a:r>
          </a:p>
        </p:txBody>
      </p:sp>
      <p:sp>
        <p:nvSpPr>
          <p:cNvPr id="27" name="Rectangle 26"/>
          <p:cNvSpPr/>
          <p:nvPr/>
        </p:nvSpPr>
        <p:spPr>
          <a:xfrm>
            <a:off x="1435607" y="3391387"/>
            <a:ext cx="3931920" cy="7315"/>
          </a:xfrm>
          <a:prstGeom prst="rect">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94359" y="3318235"/>
            <a:ext cx="768096" cy="164592"/>
          </a:xfrm>
          <a:prstGeom prst="rect">
            <a:avLst/>
          </a:prstGeom>
          <a:noFill/>
        </p:spPr>
        <p:txBody>
          <a:bodyPr wrap="square" lIns="0" rIns="0" tIns="0" bIns="0" anchor="t">
            <a:spAutoFit/>
          </a:bodyPr>
          <a:lstStyle/>
          <a:p>
            <a:pPr algn="r"/>
            <a:r>
              <a:rPr sz="850" b="0" spc="40">
                <a:solidFill>
                  <a:srgbClr val="9A9DA3"/>
                </a:solidFill>
                <a:latin typeface="Arial"/>
              </a:rPr>
              <a:t>₹20k</a:t>
            </a:r>
          </a:p>
        </p:txBody>
      </p:sp>
      <p:sp>
        <p:nvSpPr>
          <p:cNvPr id="29" name="Rectangle 28"/>
          <p:cNvSpPr/>
          <p:nvPr/>
        </p:nvSpPr>
        <p:spPr>
          <a:xfrm>
            <a:off x="1435607" y="2859999"/>
            <a:ext cx="3931920" cy="7315"/>
          </a:xfrm>
          <a:prstGeom prst="rect">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94359" y="2786847"/>
            <a:ext cx="768096" cy="164592"/>
          </a:xfrm>
          <a:prstGeom prst="rect">
            <a:avLst/>
          </a:prstGeom>
          <a:noFill/>
        </p:spPr>
        <p:txBody>
          <a:bodyPr wrap="square" lIns="0" rIns="0" tIns="0" bIns="0" anchor="t">
            <a:spAutoFit/>
          </a:bodyPr>
          <a:lstStyle/>
          <a:p>
            <a:pPr algn="r"/>
            <a:r>
              <a:rPr sz="850" b="0" spc="40">
                <a:solidFill>
                  <a:srgbClr val="9A9DA3"/>
                </a:solidFill>
                <a:latin typeface="Arial"/>
              </a:rPr>
              <a:t>₹40k</a:t>
            </a:r>
          </a:p>
        </p:txBody>
      </p:sp>
      <p:sp>
        <p:nvSpPr>
          <p:cNvPr id="31" name="TextBox 30"/>
          <p:cNvSpPr txBox="1"/>
          <p:nvPr/>
        </p:nvSpPr>
        <p:spPr>
          <a:xfrm>
            <a:off x="1435607" y="3986784"/>
            <a:ext cx="786384" cy="182880"/>
          </a:xfrm>
          <a:prstGeom prst="rect">
            <a:avLst/>
          </a:prstGeom>
          <a:noFill/>
        </p:spPr>
        <p:txBody>
          <a:bodyPr wrap="square" lIns="0" rIns="0" tIns="0" bIns="0" anchor="t">
            <a:spAutoFit/>
          </a:bodyPr>
          <a:lstStyle/>
          <a:p>
            <a:pPr algn="ctr"/>
            <a:r>
              <a:rPr sz="900" b="0" spc="40">
                <a:solidFill>
                  <a:srgbClr val="9A9DA3"/>
                </a:solidFill>
                <a:latin typeface="Arial"/>
              </a:rPr>
              <a:t>FY19</a:t>
            </a:r>
          </a:p>
        </p:txBody>
      </p:sp>
      <p:sp>
        <p:nvSpPr>
          <p:cNvPr id="32" name="Rectangle 31"/>
          <p:cNvSpPr/>
          <p:nvPr/>
        </p:nvSpPr>
        <p:spPr>
          <a:xfrm>
            <a:off x="1600748" y="3612578"/>
            <a:ext cx="456102" cy="310197"/>
          </a:xfrm>
          <a:prstGeom prst="rect">
            <a:avLst/>
          </a:prstGeom>
          <a:solidFill>
            <a:srgbClr val="078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545884" y="3397694"/>
            <a:ext cx="565830" cy="182880"/>
          </a:xfrm>
          <a:prstGeom prst="rect">
            <a:avLst/>
          </a:prstGeom>
          <a:noFill/>
        </p:spPr>
        <p:txBody>
          <a:bodyPr wrap="none" lIns="0" rIns="0" tIns="0" bIns="0" anchor="t">
            <a:spAutoFit/>
          </a:bodyPr>
          <a:lstStyle/>
          <a:p>
            <a:pPr algn="ctr"/>
            <a:r>
              <a:rPr sz="800" b="1">
                <a:solidFill>
                  <a:srgbClr val="07836A"/>
                </a:solidFill>
                <a:latin typeface="Arial"/>
              </a:rPr>
              <a:t>₹11.7k cr</a:t>
            </a:r>
          </a:p>
        </p:txBody>
      </p:sp>
      <p:sp>
        <p:nvSpPr>
          <p:cNvPr id="34" name="TextBox 33"/>
          <p:cNvSpPr txBox="1"/>
          <p:nvPr/>
        </p:nvSpPr>
        <p:spPr>
          <a:xfrm>
            <a:off x="2221991" y="3986784"/>
            <a:ext cx="786384" cy="182880"/>
          </a:xfrm>
          <a:prstGeom prst="rect">
            <a:avLst/>
          </a:prstGeom>
          <a:noFill/>
        </p:spPr>
        <p:txBody>
          <a:bodyPr wrap="square" lIns="0" rIns="0" tIns="0" bIns="0" anchor="t">
            <a:spAutoFit/>
          </a:bodyPr>
          <a:lstStyle/>
          <a:p>
            <a:pPr algn="ctr"/>
            <a:r>
              <a:rPr sz="900" b="0" spc="40">
                <a:solidFill>
                  <a:srgbClr val="9A9DA3"/>
                </a:solidFill>
                <a:latin typeface="Arial"/>
              </a:rPr>
              <a:t>FY23</a:t>
            </a:r>
          </a:p>
        </p:txBody>
      </p:sp>
      <p:sp>
        <p:nvSpPr>
          <p:cNvPr id="35" name="Rectangle 34"/>
          <p:cNvSpPr/>
          <p:nvPr/>
        </p:nvSpPr>
        <p:spPr>
          <a:xfrm>
            <a:off x="2387132" y="3195491"/>
            <a:ext cx="456102" cy="727284"/>
          </a:xfrm>
          <a:prstGeom prst="rect">
            <a:avLst/>
          </a:prstGeom>
          <a:solidFill>
            <a:srgbClr val="078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2332268" y="2980607"/>
            <a:ext cx="565830" cy="182880"/>
          </a:xfrm>
          <a:prstGeom prst="rect">
            <a:avLst/>
          </a:prstGeom>
          <a:noFill/>
        </p:spPr>
        <p:txBody>
          <a:bodyPr wrap="none" lIns="0" rIns="0" tIns="0" bIns="0" anchor="t">
            <a:spAutoFit/>
          </a:bodyPr>
          <a:lstStyle/>
          <a:p>
            <a:pPr algn="ctr"/>
            <a:r>
              <a:rPr sz="800" b="1">
                <a:solidFill>
                  <a:srgbClr val="07836A"/>
                </a:solidFill>
                <a:latin typeface="Arial"/>
              </a:rPr>
              <a:t>₹27.4k cr</a:t>
            </a:r>
          </a:p>
        </p:txBody>
      </p:sp>
      <p:sp>
        <p:nvSpPr>
          <p:cNvPr id="37" name="TextBox 36"/>
          <p:cNvSpPr txBox="1"/>
          <p:nvPr/>
        </p:nvSpPr>
        <p:spPr>
          <a:xfrm>
            <a:off x="3008376" y="3986784"/>
            <a:ext cx="786384" cy="182880"/>
          </a:xfrm>
          <a:prstGeom prst="rect">
            <a:avLst/>
          </a:prstGeom>
          <a:noFill/>
        </p:spPr>
        <p:txBody>
          <a:bodyPr wrap="square" lIns="0" rIns="0" tIns="0" bIns="0" anchor="t">
            <a:spAutoFit/>
          </a:bodyPr>
          <a:lstStyle/>
          <a:p>
            <a:pPr algn="ctr"/>
            <a:r>
              <a:rPr sz="900" b="0" spc="40">
                <a:solidFill>
                  <a:srgbClr val="9A9DA3"/>
                </a:solidFill>
                <a:latin typeface="Arial"/>
              </a:rPr>
              <a:t>CY24</a:t>
            </a:r>
          </a:p>
        </p:txBody>
      </p:sp>
      <p:sp>
        <p:nvSpPr>
          <p:cNvPr id="38" name="Rectangle 37"/>
          <p:cNvSpPr/>
          <p:nvPr/>
        </p:nvSpPr>
        <p:spPr>
          <a:xfrm>
            <a:off x="3173516" y="3204418"/>
            <a:ext cx="456102" cy="718357"/>
          </a:xfrm>
          <a:prstGeom prst="rect">
            <a:avLst/>
          </a:prstGeom>
          <a:solidFill>
            <a:srgbClr val="078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3118652" y="2989534"/>
            <a:ext cx="565830" cy="182880"/>
          </a:xfrm>
          <a:prstGeom prst="rect">
            <a:avLst/>
          </a:prstGeom>
          <a:noFill/>
        </p:spPr>
        <p:txBody>
          <a:bodyPr wrap="none" lIns="0" rIns="0" tIns="0" bIns="0" anchor="t">
            <a:spAutoFit/>
          </a:bodyPr>
          <a:lstStyle/>
          <a:p>
            <a:pPr algn="ctr"/>
            <a:r>
              <a:rPr sz="800" b="1">
                <a:solidFill>
                  <a:srgbClr val="07836A"/>
                </a:solidFill>
                <a:latin typeface="Arial"/>
              </a:rPr>
              <a:t>₹27.0k cr</a:t>
            </a:r>
          </a:p>
        </p:txBody>
      </p:sp>
      <p:sp>
        <p:nvSpPr>
          <p:cNvPr id="40" name="TextBox 39"/>
          <p:cNvSpPr txBox="1"/>
          <p:nvPr/>
        </p:nvSpPr>
        <p:spPr>
          <a:xfrm>
            <a:off x="3794760" y="3986784"/>
            <a:ext cx="786384" cy="182880"/>
          </a:xfrm>
          <a:prstGeom prst="rect">
            <a:avLst/>
          </a:prstGeom>
          <a:noFill/>
        </p:spPr>
        <p:txBody>
          <a:bodyPr wrap="square" lIns="0" rIns="0" tIns="0" bIns="0" anchor="t">
            <a:spAutoFit/>
          </a:bodyPr>
          <a:lstStyle/>
          <a:p>
            <a:pPr algn="ctr"/>
            <a:r>
              <a:rPr sz="900" b="0" spc="40">
                <a:solidFill>
                  <a:srgbClr val="9A9DA3"/>
                </a:solidFill>
                <a:latin typeface="Arial"/>
              </a:rPr>
              <a:t>CY25</a:t>
            </a:r>
          </a:p>
        </p:txBody>
      </p:sp>
      <p:sp>
        <p:nvSpPr>
          <p:cNvPr id="41" name="Rectangle 40"/>
          <p:cNvSpPr/>
          <p:nvPr/>
        </p:nvSpPr>
        <p:spPr>
          <a:xfrm>
            <a:off x="3959900" y="2889438"/>
            <a:ext cx="456102" cy="1033337"/>
          </a:xfrm>
          <a:prstGeom prst="rect">
            <a:avLst/>
          </a:prstGeom>
          <a:solidFill>
            <a:srgbClr val="078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3905036" y="2674554"/>
            <a:ext cx="565830" cy="182880"/>
          </a:xfrm>
          <a:prstGeom prst="rect">
            <a:avLst/>
          </a:prstGeom>
          <a:noFill/>
        </p:spPr>
        <p:txBody>
          <a:bodyPr wrap="none" lIns="0" rIns="0" tIns="0" bIns="0" anchor="t">
            <a:spAutoFit/>
          </a:bodyPr>
          <a:lstStyle/>
          <a:p>
            <a:pPr algn="ctr"/>
            <a:r>
              <a:rPr sz="800" b="1">
                <a:solidFill>
                  <a:srgbClr val="07836A"/>
                </a:solidFill>
                <a:latin typeface="Arial"/>
              </a:rPr>
              <a:t>₹38.9k cr</a:t>
            </a:r>
          </a:p>
        </p:txBody>
      </p:sp>
      <p:sp>
        <p:nvSpPr>
          <p:cNvPr id="43" name="TextBox 42"/>
          <p:cNvSpPr txBox="1"/>
          <p:nvPr/>
        </p:nvSpPr>
        <p:spPr>
          <a:xfrm>
            <a:off x="4581144" y="3986784"/>
            <a:ext cx="786384" cy="182880"/>
          </a:xfrm>
          <a:prstGeom prst="rect">
            <a:avLst/>
          </a:prstGeom>
          <a:noFill/>
        </p:spPr>
        <p:txBody>
          <a:bodyPr wrap="square" lIns="0" rIns="0" tIns="0" bIns="0" anchor="t">
            <a:spAutoFit/>
          </a:bodyPr>
          <a:lstStyle/>
          <a:p>
            <a:pPr algn="ctr"/>
            <a:r>
              <a:rPr sz="900" b="0" spc="40">
                <a:solidFill>
                  <a:srgbClr val="9A9DA3"/>
                </a:solidFill>
                <a:latin typeface="Arial"/>
              </a:rPr>
              <a:t>LTM Apr 26</a:t>
            </a:r>
          </a:p>
        </p:txBody>
      </p:sp>
      <p:sp>
        <p:nvSpPr>
          <p:cNvPr id="44" name="Rectangle 43"/>
          <p:cNvSpPr/>
          <p:nvPr/>
        </p:nvSpPr>
        <p:spPr>
          <a:xfrm>
            <a:off x="4746284" y="2751702"/>
            <a:ext cx="456102" cy="1171073"/>
          </a:xfrm>
          <a:prstGeom prst="rect">
            <a:avLst/>
          </a:prstGeom>
          <a:solidFill>
            <a:srgbClr val="078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691420" y="2536818"/>
            <a:ext cx="565830" cy="182880"/>
          </a:xfrm>
          <a:prstGeom prst="rect">
            <a:avLst/>
          </a:prstGeom>
          <a:noFill/>
        </p:spPr>
        <p:txBody>
          <a:bodyPr wrap="none" lIns="0" rIns="0" tIns="0" bIns="0" anchor="t">
            <a:spAutoFit/>
          </a:bodyPr>
          <a:lstStyle/>
          <a:p>
            <a:pPr algn="ctr"/>
            <a:r>
              <a:rPr sz="800" b="1">
                <a:solidFill>
                  <a:srgbClr val="07836A"/>
                </a:solidFill>
                <a:latin typeface="Arial"/>
              </a:rPr>
              <a:t>₹44.1k cr</a:t>
            </a:r>
          </a:p>
        </p:txBody>
      </p:sp>
      <p:sp>
        <p:nvSpPr>
          <p:cNvPr id="46" name="Rectangle 45"/>
          <p:cNvSpPr/>
          <p:nvPr/>
        </p:nvSpPr>
        <p:spPr>
          <a:xfrm>
            <a:off x="1435607" y="3922776"/>
            <a:ext cx="3931920" cy="9144"/>
          </a:xfrm>
          <a:prstGeom prst="rect">
            <a:avLst/>
          </a:prstGeom>
          <a:solidFill>
            <a:srgbClr val="DE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932688" y="4315968"/>
            <a:ext cx="2240280" cy="530352"/>
          </a:xfrm>
          <a:prstGeom prst="rect">
            <a:avLst/>
          </a:prstGeom>
          <a:noFill/>
        </p:spPr>
        <p:txBody>
          <a:bodyPr wrap="square" lIns="0" rIns="0" tIns="0" bIns="0" anchor="t">
            <a:spAutoFit/>
          </a:bodyPr>
          <a:lstStyle/>
          <a:p>
            <a:pPr algn="l"/>
            <a:r>
              <a:rPr sz="3000" b="1" spc="-24">
                <a:solidFill>
                  <a:srgbClr val="07836A"/>
                </a:solidFill>
                <a:latin typeface="Arial"/>
              </a:rPr>
              <a:t>2.8</a:t>
            </a:r>
            <a:r>
              <a:rPr sz="1300" b="1">
                <a:solidFill>
                  <a:srgbClr val="07836A"/>
                </a:solidFill>
                <a:latin typeface="Arial"/>
              </a:rPr>
              <a:t>%</a:t>
            </a:r>
          </a:p>
        </p:txBody>
      </p:sp>
      <p:sp>
        <p:nvSpPr>
          <p:cNvPr id="48" name="TextBox 47"/>
          <p:cNvSpPr txBox="1"/>
          <p:nvPr/>
        </p:nvSpPr>
        <p:spPr>
          <a:xfrm>
            <a:off x="932688" y="4791456"/>
            <a:ext cx="2240280" cy="219456"/>
          </a:xfrm>
          <a:prstGeom prst="rect">
            <a:avLst/>
          </a:prstGeom>
          <a:noFill/>
        </p:spPr>
        <p:txBody>
          <a:bodyPr wrap="square" lIns="0" rIns="0" tIns="0" bIns="0" anchor="t">
            <a:spAutoFit/>
          </a:bodyPr>
          <a:lstStyle/>
          <a:p>
            <a:pPr algn="l"/>
            <a:r>
              <a:rPr sz="1150" b="1">
                <a:solidFill>
                  <a:srgbClr val="121313"/>
                </a:solidFill>
                <a:latin typeface="Arial"/>
              </a:rPr>
              <a:t>of our own PLI target built</a:t>
            </a:r>
          </a:p>
        </p:txBody>
      </p:sp>
      <p:sp>
        <p:nvSpPr>
          <p:cNvPr id="49" name="TextBox 48"/>
          <p:cNvSpPr txBox="1"/>
          <p:nvPr/>
        </p:nvSpPr>
        <p:spPr>
          <a:xfrm>
            <a:off x="932688" y="5047488"/>
            <a:ext cx="2240280" cy="521207"/>
          </a:xfrm>
          <a:prstGeom prst="rect">
            <a:avLst/>
          </a:prstGeom>
          <a:noFill/>
        </p:spPr>
        <p:txBody>
          <a:bodyPr wrap="square" lIns="0" rIns="0" tIns="0" bIns="0" anchor="t">
            <a:spAutoFit/>
          </a:bodyPr>
          <a:lstStyle/>
          <a:p>
            <a:pPr algn="l">
              <a:lnSpc>
                <a:spcPct val="144000"/>
              </a:lnSpc>
            </a:pPr>
            <a:r>
              <a:rPr sz="950" b="0">
                <a:solidFill>
                  <a:srgbClr val="44474B"/>
                </a:solidFill>
                <a:latin typeface="Arial"/>
              </a:rPr>
              <a:t>1.4 GWh against a 50 GWh goal. Nothing paid yet, but milestones moved out two years in Aug 2026.</a:t>
            </a:r>
          </a:p>
        </p:txBody>
      </p:sp>
      <p:sp>
        <p:nvSpPr>
          <p:cNvPr id="50" name="TextBox 49"/>
          <p:cNvSpPr txBox="1"/>
          <p:nvPr/>
        </p:nvSpPr>
        <p:spPr>
          <a:xfrm>
            <a:off x="3355848" y="4315968"/>
            <a:ext cx="2240280" cy="530352"/>
          </a:xfrm>
          <a:prstGeom prst="rect">
            <a:avLst/>
          </a:prstGeom>
          <a:noFill/>
        </p:spPr>
        <p:txBody>
          <a:bodyPr wrap="square" lIns="0" rIns="0" tIns="0" bIns="0" anchor="t">
            <a:spAutoFit/>
          </a:bodyPr>
          <a:lstStyle/>
          <a:p>
            <a:pPr algn="l"/>
            <a:r>
              <a:rPr sz="3000" b="1" spc="-24">
                <a:solidFill>
                  <a:srgbClr val="2A66B0"/>
                </a:solidFill>
                <a:latin typeface="Arial"/>
              </a:rPr>
              <a:t>0</a:t>
            </a:r>
            <a:r>
              <a:rPr sz="1300" b="1">
                <a:solidFill>
                  <a:srgbClr val="2A66B0"/>
                </a:solidFill>
                <a:latin typeface="Arial"/>
              </a:rPr>
              <a:t>%</a:t>
            </a:r>
          </a:p>
        </p:txBody>
      </p:sp>
      <p:sp>
        <p:nvSpPr>
          <p:cNvPr id="51" name="TextBox 50"/>
          <p:cNvSpPr txBox="1"/>
          <p:nvPr/>
        </p:nvSpPr>
        <p:spPr>
          <a:xfrm>
            <a:off x="3355848" y="4791456"/>
            <a:ext cx="2240280" cy="219456"/>
          </a:xfrm>
          <a:prstGeom prst="rect">
            <a:avLst/>
          </a:prstGeom>
          <a:noFill/>
        </p:spPr>
        <p:txBody>
          <a:bodyPr wrap="square" lIns="0" rIns="0" tIns="0" bIns="0" anchor="t">
            <a:spAutoFit/>
          </a:bodyPr>
          <a:lstStyle/>
          <a:p>
            <a:pPr algn="l"/>
            <a:r>
              <a:rPr sz="1150" b="1">
                <a:solidFill>
                  <a:srgbClr val="121313"/>
                </a:solidFill>
                <a:latin typeface="Arial"/>
              </a:rPr>
              <a:t>duty on battery machinery</a:t>
            </a:r>
          </a:p>
        </p:txBody>
      </p:sp>
      <p:sp>
        <p:nvSpPr>
          <p:cNvPr id="52" name="TextBox 51"/>
          <p:cNvSpPr txBox="1"/>
          <p:nvPr/>
        </p:nvSpPr>
        <p:spPr>
          <a:xfrm>
            <a:off x="3355848" y="5047488"/>
            <a:ext cx="2240280" cy="347472"/>
          </a:xfrm>
          <a:prstGeom prst="rect">
            <a:avLst/>
          </a:prstGeom>
          <a:noFill/>
        </p:spPr>
        <p:txBody>
          <a:bodyPr wrap="square" lIns="0" rIns="0" tIns="0" bIns="0" anchor="t">
            <a:spAutoFit/>
          </a:bodyPr>
          <a:lstStyle/>
          <a:p>
            <a:pPr algn="l">
              <a:lnSpc>
                <a:spcPct val="144000"/>
              </a:lnSpc>
            </a:pPr>
            <a:r>
              <a:rPr sz="950" b="0">
                <a:solidFill>
                  <a:srgbClr val="44474B"/>
                </a:solidFill>
                <a:latin typeface="Arial"/>
              </a:rPr>
              <a:t>85 machine types, coaters included, duty-free until March 2029.</a:t>
            </a:r>
          </a:p>
        </p:txBody>
      </p:sp>
      <p:sp>
        <p:nvSpPr>
          <p:cNvPr id="53" name="Rectangle 52"/>
          <p:cNvSpPr/>
          <p:nvPr/>
        </p:nvSpPr>
        <p:spPr>
          <a:xfrm>
            <a:off x="5916168" y="1865376"/>
            <a:ext cx="82296" cy="82296"/>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6108192" y="1783080"/>
            <a:ext cx="5943600" cy="544068"/>
          </a:xfrm>
          <a:prstGeom prst="rect">
            <a:avLst/>
          </a:prstGeom>
          <a:noFill/>
        </p:spPr>
        <p:txBody>
          <a:bodyPr wrap="square" lIns="0" rIns="0" tIns="0" bIns="0" anchor="t">
            <a:spAutoFit/>
          </a:bodyPr>
          <a:lstStyle/>
          <a:p>
            <a:pPr algn="l">
              <a:lnSpc>
                <a:spcPct val="136000"/>
              </a:lnSpc>
            </a:pPr>
            <a:r>
              <a:rPr sz="1050" b="1">
                <a:solidFill>
                  <a:srgbClr val="121313"/>
                </a:solidFill>
                <a:latin typeface="Arial"/>
              </a:rPr>
              <a:t>1. Buy the method, not the cell design. </a:t>
            </a:r>
            <a:r>
              <a:rPr sz="1050" b="0">
                <a:solidFill>
                  <a:srgbClr val="44474B"/>
                </a:solidFill>
                <a:latin typeface="Arial"/>
              </a:rPr>
              <a:t>Chinese cathode technology now needs Beijing's permission to transfer. European dry-coating does not, Durr and LiCAP are looking for a partner, and the machine lands here duty-free until March 2029.</a:t>
            </a:r>
          </a:p>
        </p:txBody>
      </p:sp>
      <p:sp>
        <p:nvSpPr>
          <p:cNvPr id="55" name="Rounded Rectangle 54"/>
          <p:cNvSpPr/>
          <p:nvPr/>
        </p:nvSpPr>
        <p:spPr>
          <a:xfrm>
            <a:off x="6108192" y="2372868"/>
            <a:ext cx="1764588" cy="192024"/>
          </a:xfrm>
          <a:prstGeom prst="roundRect">
            <a:avLst>
              <a:gd name="adj" fmla="val 40000"/>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6199631" y="2400299"/>
            <a:ext cx="2926080" cy="155448"/>
          </a:xfrm>
          <a:prstGeom prst="rect">
            <a:avLst/>
          </a:prstGeom>
          <a:noFill/>
        </p:spPr>
        <p:txBody>
          <a:bodyPr wrap="none" lIns="0" rIns="0" tIns="0" bIns="0" anchor="t">
            <a:spAutoFit/>
          </a:bodyPr>
          <a:lstStyle/>
          <a:p>
            <a:pPr algn="l"/>
            <a:r>
              <a:rPr sz="800" b="1">
                <a:solidFill>
                  <a:srgbClr val="808288"/>
                </a:solidFill>
                <a:latin typeface="Arial"/>
              </a:rPr>
              <a:t>SMALL SPEND, 12 TO 24 MONTHS</a:t>
            </a:r>
          </a:p>
        </p:txBody>
      </p:sp>
      <p:sp>
        <p:nvSpPr>
          <p:cNvPr id="57" name="Rectangle 56"/>
          <p:cNvSpPr/>
          <p:nvPr/>
        </p:nvSpPr>
        <p:spPr>
          <a:xfrm>
            <a:off x="5916168" y="2820923"/>
            <a:ext cx="82296" cy="82296"/>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6108192" y="2738627"/>
            <a:ext cx="5943600" cy="544068"/>
          </a:xfrm>
          <a:prstGeom prst="rect">
            <a:avLst/>
          </a:prstGeom>
          <a:noFill/>
        </p:spPr>
        <p:txBody>
          <a:bodyPr wrap="square" lIns="0" rIns="0" tIns="0" bIns="0" anchor="t">
            <a:spAutoFit/>
          </a:bodyPr>
          <a:lstStyle/>
          <a:p>
            <a:pPr algn="l">
              <a:lnSpc>
                <a:spcPct val="136000"/>
              </a:lnSpc>
            </a:pPr>
            <a:r>
              <a:rPr sz="1050" b="1">
                <a:solidFill>
                  <a:srgbClr val="121313"/>
                </a:solidFill>
                <a:latin typeface="Arial"/>
              </a:rPr>
              <a:t>2. Sell electrodes, not cells. </a:t>
            </a:r>
            <a:r>
              <a:rPr sz="1050" b="0">
                <a:solidFill>
                  <a:srgbClr val="44474B"/>
                </a:solidFill>
                <a:latin typeface="Arial"/>
              </a:rPr>
              <a:t>Coating is where UniverCell actually makes money, and the same gap exists here at far bigger scale. It costs a fraction of a cell plant and supplies every cell maker instead of competing with them.</a:t>
            </a:r>
          </a:p>
        </p:txBody>
      </p:sp>
      <p:sp>
        <p:nvSpPr>
          <p:cNvPr id="59" name="Rounded Rectangle 58"/>
          <p:cNvSpPr/>
          <p:nvPr/>
        </p:nvSpPr>
        <p:spPr>
          <a:xfrm>
            <a:off x="6108192" y="3328415"/>
            <a:ext cx="1651609" cy="192024"/>
          </a:xfrm>
          <a:prstGeom prst="roundRect">
            <a:avLst>
              <a:gd name="adj" fmla="val 40000"/>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6199631" y="3355847"/>
            <a:ext cx="2926080" cy="155448"/>
          </a:xfrm>
          <a:prstGeom prst="rect">
            <a:avLst/>
          </a:prstGeom>
          <a:noFill/>
        </p:spPr>
        <p:txBody>
          <a:bodyPr wrap="none" lIns="0" rIns="0" tIns="0" bIns="0" anchor="t">
            <a:spAutoFit/>
          </a:bodyPr>
          <a:lstStyle/>
          <a:p>
            <a:pPr algn="l"/>
            <a:r>
              <a:rPr sz="800" b="1">
                <a:solidFill>
                  <a:srgbClr val="808288"/>
                </a:solidFill>
                <a:latin typeface="Arial"/>
              </a:rPr>
              <a:t>MEDIUM SPEND, 2 TO 3 YEARS</a:t>
            </a:r>
          </a:p>
        </p:txBody>
      </p:sp>
      <p:sp>
        <p:nvSpPr>
          <p:cNvPr id="61" name="Rectangle 60"/>
          <p:cNvSpPr/>
          <p:nvPr/>
        </p:nvSpPr>
        <p:spPr>
          <a:xfrm>
            <a:off x="5916168" y="3776472"/>
            <a:ext cx="82296" cy="82296"/>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6108192" y="3694176"/>
            <a:ext cx="5943600" cy="362712"/>
          </a:xfrm>
          <a:prstGeom prst="rect">
            <a:avLst/>
          </a:prstGeom>
          <a:noFill/>
        </p:spPr>
        <p:txBody>
          <a:bodyPr wrap="square" lIns="0" rIns="0" tIns="0" bIns="0" anchor="t">
            <a:spAutoFit/>
          </a:bodyPr>
          <a:lstStyle/>
          <a:p>
            <a:pPr algn="l">
              <a:lnSpc>
                <a:spcPct val="136000"/>
              </a:lnSpc>
            </a:pPr>
            <a:r>
              <a:rPr sz="1050" b="1">
                <a:solidFill>
                  <a:srgbClr val="121313"/>
                </a:solidFill>
                <a:latin typeface="Arial"/>
              </a:rPr>
              <a:t>3. Serve the customers nobody serves. </a:t>
            </a:r>
            <a:r>
              <a:rPr sz="1050" b="0">
                <a:solidFill>
                  <a:srgbClr val="44474B"/>
                </a:solidFill>
                <a:latin typeface="Arial"/>
              </a:rPr>
              <a:t>Indian drone, defence, space and power-tool makers have no domestic source of high-power cylindrical cells at all.</a:t>
            </a:r>
          </a:p>
        </p:txBody>
      </p:sp>
      <p:sp>
        <p:nvSpPr>
          <p:cNvPr id="63" name="Rounded Rectangle 62"/>
          <p:cNvSpPr/>
          <p:nvPr/>
        </p:nvSpPr>
        <p:spPr>
          <a:xfrm>
            <a:off x="6108192" y="4102607"/>
            <a:ext cx="1651609" cy="192024"/>
          </a:xfrm>
          <a:prstGeom prst="roundRect">
            <a:avLst>
              <a:gd name="adj" fmla="val 40000"/>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6199631" y="4130040"/>
            <a:ext cx="2926080" cy="155448"/>
          </a:xfrm>
          <a:prstGeom prst="rect">
            <a:avLst/>
          </a:prstGeom>
          <a:noFill/>
        </p:spPr>
        <p:txBody>
          <a:bodyPr wrap="none" lIns="0" rIns="0" tIns="0" bIns="0" anchor="t">
            <a:spAutoFit/>
          </a:bodyPr>
          <a:lstStyle/>
          <a:p>
            <a:pPr algn="l"/>
            <a:r>
              <a:rPr sz="800" b="1">
                <a:solidFill>
                  <a:srgbClr val="808288"/>
                </a:solidFill>
                <a:latin typeface="Arial"/>
              </a:rPr>
              <a:t>MEDIUM SPEND, 2 TO 4 YEARS</a:t>
            </a:r>
          </a:p>
        </p:txBody>
      </p:sp>
      <p:sp>
        <p:nvSpPr>
          <p:cNvPr id="65" name="Rectangle 64"/>
          <p:cNvSpPr/>
          <p:nvPr/>
        </p:nvSpPr>
        <p:spPr>
          <a:xfrm>
            <a:off x="5916168" y="4550664"/>
            <a:ext cx="82296" cy="82296"/>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6108192" y="4468368"/>
            <a:ext cx="5943600" cy="544068"/>
          </a:xfrm>
          <a:prstGeom prst="rect">
            <a:avLst/>
          </a:prstGeom>
          <a:noFill/>
        </p:spPr>
        <p:txBody>
          <a:bodyPr wrap="square" lIns="0" rIns="0" tIns="0" bIns="0" anchor="t">
            <a:spAutoFit/>
          </a:bodyPr>
          <a:lstStyle/>
          <a:p>
            <a:pPr algn="l">
              <a:lnSpc>
                <a:spcPct val="136000"/>
              </a:lnSpc>
            </a:pPr>
            <a:r>
              <a:rPr sz="1050" b="1">
                <a:solidFill>
                  <a:srgbClr val="121313"/>
                </a:solidFill>
                <a:latin typeface="Arial"/>
              </a:rPr>
              <a:t>4. Buy European distress, carefully. </a:t>
            </a:r>
            <a:r>
              <a:rPr sz="1050" b="0">
                <a:solidFill>
                  <a:srgbClr val="44474B"/>
                </a:solidFill>
                <a:latin typeface="Arial"/>
              </a:rPr>
              <a:t>Seven firms are in or near administration and assets are cheap. What is worth buying is the team and the recipe library, not the building.</a:t>
            </a:r>
          </a:p>
        </p:txBody>
      </p:sp>
      <p:sp>
        <p:nvSpPr>
          <p:cNvPr id="67" name="Rounded Rectangle 66"/>
          <p:cNvSpPr/>
          <p:nvPr/>
        </p:nvSpPr>
        <p:spPr>
          <a:xfrm>
            <a:off x="6108192" y="5058156"/>
            <a:ext cx="691286" cy="192024"/>
          </a:xfrm>
          <a:prstGeom prst="roundRect">
            <a:avLst>
              <a:gd name="adj" fmla="val 40000"/>
            </a:avLst>
          </a:prstGeom>
          <a:solidFill>
            <a:srgbClr val="E9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6199631" y="5085588"/>
            <a:ext cx="2926080" cy="155448"/>
          </a:xfrm>
          <a:prstGeom prst="rect">
            <a:avLst/>
          </a:prstGeom>
          <a:noFill/>
        </p:spPr>
        <p:txBody>
          <a:bodyPr wrap="none" lIns="0" rIns="0" tIns="0" bIns="0" anchor="t">
            <a:spAutoFit/>
          </a:bodyPr>
          <a:lstStyle/>
          <a:p>
            <a:pPr algn="l"/>
            <a:r>
              <a:rPr sz="800" b="1">
                <a:solidFill>
                  <a:srgbClr val="808288"/>
                </a:solidFill>
                <a:latin typeface="Arial"/>
              </a:rPr>
              <a:t>HIGH RISK</a:t>
            </a:r>
          </a:p>
        </p:txBody>
      </p:sp>
      <p:sp>
        <p:nvSpPr>
          <p:cNvPr id="69" name="TextBox 68"/>
          <p:cNvSpPr txBox="1"/>
          <p:nvPr/>
        </p:nvSpPr>
        <p:spPr>
          <a:xfrm>
            <a:off x="658368" y="6126480"/>
            <a:ext cx="10874959" cy="310896"/>
          </a:xfrm>
          <a:prstGeom prst="rect">
            <a:avLst/>
          </a:prstGeom>
          <a:noFill/>
        </p:spPr>
        <p:txBody>
          <a:bodyPr wrap="square" lIns="0" rIns="0" tIns="0" bIns="0" anchor="t">
            <a:spAutoFit/>
          </a:bodyPr>
          <a:lstStyle/>
          <a:p>
            <a:pPr algn="l">
              <a:lnSpc>
                <a:spcPct val="134000"/>
              </a:lnSpc>
            </a:pPr>
            <a:r>
              <a:rPr sz="800" b="0">
                <a:solidFill>
                  <a:srgbClr val="9A9DA3"/>
                </a:solidFill>
                <a:latin typeface="Arial"/>
              </a:rPr>
              <a:t>UN Comtrade via GTAIC and Volza: 2025 imports of ₹38,900 crore, up 44% in value and 75% in volume, 93% from China - IEEFA and JMK Research on PLI delivery - CBIC notification 27/2026.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326319" cy="1005840"/>
          </a:xfrm>
          <a:prstGeom prst="rect">
            <a:avLst/>
          </a:prstGeom>
          <a:noFill/>
        </p:spPr>
        <p:txBody>
          <a:bodyPr wrap="square" lIns="0" rIns="0" tIns="0" bIns="0" anchor="t">
            <a:spAutoFit/>
          </a:bodyPr>
          <a:lstStyle/>
          <a:p>
            <a:pPr algn="l">
              <a:lnSpc>
                <a:spcPct val="104000"/>
              </a:lnSpc>
            </a:pPr>
            <a:r>
              <a:rPr sz="3100" b="1" spc="-22">
                <a:solidFill>
                  <a:srgbClr val="121313"/>
                </a:solidFill>
                <a:latin typeface="Arial"/>
              </a:rPr>
              <a:t>Where this leaves us</a:t>
            </a:r>
          </a:p>
        </p:txBody>
      </p:sp>
      <p:sp>
        <p:nvSpPr>
          <p:cNvPr id="4" name="TextBox 3"/>
          <p:cNvSpPr txBox="1"/>
          <p:nvPr/>
        </p:nvSpPr>
        <p:spPr>
          <a:xfrm>
            <a:off x="658368" y="6464807"/>
            <a:ext cx="914400" cy="182880"/>
          </a:xfrm>
          <a:prstGeom prst="rect">
            <a:avLst/>
          </a:prstGeom>
          <a:noFill/>
        </p:spPr>
        <p:txBody>
          <a:bodyPr wrap="square" lIns="0" rIns="0" tIns="0" bIns="0" anchor="t">
            <a:spAutoFit/>
          </a:bodyPr>
          <a:lstStyle/>
          <a:p>
            <a:pPr algn="l"/>
            <a:r>
              <a:rPr sz="900" b="1">
                <a:solidFill>
                  <a:srgbClr val="8A4521"/>
                </a:solidFill>
                <a:latin typeface="Arial"/>
              </a:rPr>
              <a:t>16 / 16</a:t>
            </a:r>
          </a:p>
        </p:txBody>
      </p:sp>
      <p:sp>
        <p:nvSpPr>
          <p:cNvPr id="5" name="Rectangle 4"/>
          <p:cNvSpPr/>
          <p:nvPr/>
        </p:nvSpPr>
        <p:spPr>
          <a:xfrm>
            <a:off x="1371600"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83411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9662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275914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22165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8417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14668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60920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07171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53423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99674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45926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92177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384294"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46809" y="6512814"/>
            <a:ext cx="435082" cy="32004"/>
          </a:xfrm>
          <a:prstGeom prst="rect">
            <a:avLst/>
          </a:prstGeom>
          <a:solidFill>
            <a:srgbClr val="FF8D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309324" y="6492240"/>
            <a:ext cx="435082" cy="73152"/>
          </a:xfrm>
          <a:prstGeom prst="rect">
            <a:avLst/>
          </a:prstGeom>
          <a:solidFill>
            <a:srgbClr val="D25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521647" y="6464807"/>
            <a:ext cx="2011680" cy="182880"/>
          </a:xfrm>
          <a:prstGeom prst="rect">
            <a:avLst/>
          </a:prstGeom>
          <a:noFill/>
        </p:spPr>
        <p:txBody>
          <a:bodyPr wrap="square" lIns="0" rIns="0" tIns="0" bIns="0" anchor="t">
            <a:spAutoFit/>
          </a:bodyPr>
          <a:lstStyle/>
          <a:p>
            <a:pPr algn="r"/>
            <a:r>
              <a:rPr sz="900" b="0">
                <a:solidFill>
                  <a:srgbClr val="8A4521"/>
                </a:solidFill>
                <a:latin typeface="Arial"/>
              </a:rPr>
              <a:t>The close</a:t>
            </a:r>
          </a:p>
        </p:txBody>
      </p:sp>
      <p:sp>
        <p:nvSpPr>
          <p:cNvPr id="22" name="TextBox 21"/>
          <p:cNvSpPr txBox="1"/>
          <p:nvPr/>
        </p:nvSpPr>
        <p:spPr>
          <a:xfrm>
            <a:off x="658368" y="1554480"/>
            <a:ext cx="9509760" cy="1463040"/>
          </a:xfrm>
          <a:prstGeom prst="rect">
            <a:avLst/>
          </a:prstGeom>
          <a:noFill/>
        </p:spPr>
        <p:txBody>
          <a:bodyPr wrap="square" lIns="0" rIns="0" tIns="0" bIns="0" anchor="t">
            <a:spAutoFit/>
          </a:bodyPr>
          <a:lstStyle/>
          <a:p>
            <a:pPr algn="l">
              <a:lnSpc>
                <a:spcPct val="128000"/>
              </a:lnSpc>
            </a:pPr>
            <a:r>
              <a:rPr sz="2100" b="1" spc="-14">
                <a:solidFill>
                  <a:srgbClr val="121313"/>
                </a:solidFill>
                <a:latin typeface="Arial"/>
              </a:rPr>
              <a:t>UniverCell is a real electrode business with a genuine process advantage and an unproven cell business, sitting in the one corner of this industry where being small is a strategy rather than a weakness.</a:t>
            </a:r>
          </a:p>
        </p:txBody>
      </p:sp>
      <p:sp>
        <p:nvSpPr>
          <p:cNvPr id="23" name="TextBox 22"/>
          <p:cNvSpPr txBox="1"/>
          <p:nvPr/>
        </p:nvSpPr>
        <p:spPr>
          <a:xfrm>
            <a:off x="658368" y="3127248"/>
            <a:ext cx="9509760" cy="566928"/>
          </a:xfrm>
          <a:prstGeom prst="rect">
            <a:avLst/>
          </a:prstGeom>
          <a:noFill/>
        </p:spPr>
        <p:txBody>
          <a:bodyPr wrap="square" lIns="0" rIns="0" tIns="0" bIns="0" anchor="t">
            <a:spAutoFit/>
          </a:bodyPr>
          <a:lstStyle/>
          <a:p>
            <a:pPr algn="l">
              <a:lnSpc>
                <a:spcPct val="142000"/>
              </a:lnSpc>
            </a:pPr>
            <a:r>
              <a:rPr sz="1200" b="0">
                <a:solidFill>
                  <a:srgbClr val="5C2408"/>
                </a:solidFill>
                <a:latin typeface="Arial"/>
              </a:rPr>
              <a:t>We are not being asked to back them. The useful part is the map: the chokehold is on processing, the cost fight is unwinnable, and the money sits in the step nobody else sells.</a:t>
            </a:r>
          </a:p>
        </p:txBody>
      </p:sp>
      <p:sp>
        <p:nvSpPr>
          <p:cNvPr id="24" name="Rounded Rectangle 23"/>
          <p:cNvSpPr/>
          <p:nvPr/>
        </p:nvSpPr>
        <p:spPr>
          <a:xfrm>
            <a:off x="658368" y="3977639"/>
            <a:ext cx="3657600" cy="1874519"/>
          </a:xfrm>
          <a:prstGeom prst="roundRect">
            <a:avLst>
              <a:gd name="adj" fmla="val 5000"/>
            </a:avLst>
          </a:prstGeom>
          <a:solidFill>
            <a:srgbClr val="FF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96112" y="4151376"/>
            <a:ext cx="3200400" cy="201168"/>
          </a:xfrm>
          <a:prstGeom prst="rect">
            <a:avLst/>
          </a:prstGeom>
          <a:noFill/>
        </p:spPr>
        <p:txBody>
          <a:bodyPr wrap="square" lIns="0" rIns="0" tIns="0" bIns="0" anchor="t">
            <a:spAutoFit/>
          </a:bodyPr>
          <a:lstStyle/>
          <a:p>
            <a:pPr algn="l"/>
            <a:r>
              <a:rPr sz="1050" b="1">
                <a:solidFill>
                  <a:srgbClr val="7A2E09"/>
                </a:solidFill>
                <a:latin typeface="Arial"/>
              </a:rPr>
              <a:t>Do this in the next quarter</a:t>
            </a:r>
          </a:p>
        </p:txBody>
      </p:sp>
      <p:sp>
        <p:nvSpPr>
          <p:cNvPr id="26" name="Rectangle 25"/>
          <p:cNvSpPr/>
          <p:nvPr/>
        </p:nvSpPr>
        <p:spPr>
          <a:xfrm>
            <a:off x="896112" y="4501591"/>
            <a:ext cx="73152" cy="73152"/>
          </a:xfrm>
          <a:prstGeom prst="rect">
            <a:avLst/>
          </a:prstGeom>
          <a:solidFill>
            <a:srgbClr val="7A2E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97280" y="4425696"/>
            <a:ext cx="2999232" cy="477774"/>
          </a:xfrm>
          <a:prstGeom prst="rect">
            <a:avLst/>
          </a:prstGeom>
          <a:noFill/>
        </p:spPr>
        <p:txBody>
          <a:bodyPr wrap="square" lIns="0" rIns="0" tIns="0" bIns="0" anchor="t">
            <a:spAutoFit/>
          </a:bodyPr>
          <a:lstStyle/>
          <a:p>
            <a:pPr algn="l">
              <a:lnSpc>
                <a:spcPct val="132000"/>
              </a:lnSpc>
            </a:pPr>
            <a:r>
              <a:rPr sz="950" b="1">
                <a:solidFill>
                  <a:srgbClr val="121313"/>
                </a:solidFill>
                <a:latin typeface="Arial"/>
              </a:rPr>
              <a:t>Call Durr and LiCAP. </a:t>
            </a:r>
            <a:r>
              <a:rPr sz="950" b="0">
                <a:solidFill>
                  <a:srgbClr val="5C2408"/>
                </a:solidFill>
                <a:latin typeface="Arial"/>
              </a:rPr>
              <a:t>A proven European dry-coating system, no partner, and the machine lands here duty-free until March 2029.</a:t>
            </a:r>
          </a:p>
        </p:txBody>
      </p:sp>
      <p:sp>
        <p:nvSpPr>
          <p:cNvPr id="28" name="Rectangle 27"/>
          <p:cNvSpPr/>
          <p:nvPr/>
        </p:nvSpPr>
        <p:spPr>
          <a:xfrm>
            <a:off x="896112" y="5098237"/>
            <a:ext cx="73152" cy="73152"/>
          </a:xfrm>
          <a:prstGeom prst="rect">
            <a:avLst/>
          </a:prstGeom>
          <a:solidFill>
            <a:srgbClr val="7A2E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97280" y="5022342"/>
            <a:ext cx="2999232" cy="477774"/>
          </a:xfrm>
          <a:prstGeom prst="rect">
            <a:avLst/>
          </a:prstGeom>
          <a:noFill/>
        </p:spPr>
        <p:txBody>
          <a:bodyPr wrap="square" lIns="0" rIns="0" tIns="0" bIns="0" anchor="t">
            <a:spAutoFit/>
          </a:bodyPr>
          <a:lstStyle/>
          <a:p>
            <a:pPr algn="l">
              <a:lnSpc>
                <a:spcPct val="132000"/>
              </a:lnSpc>
            </a:pPr>
            <a:r>
              <a:rPr sz="950" b="1">
                <a:solidFill>
                  <a:srgbClr val="121313"/>
                </a:solidFill>
                <a:latin typeface="Arial"/>
              </a:rPr>
              <a:t>Size the electrode play. </a:t>
            </a:r>
            <a:r>
              <a:rPr sz="950" b="0">
                <a:solidFill>
                  <a:srgbClr val="5C2408"/>
                </a:solidFill>
                <a:latin typeface="Arial"/>
              </a:rPr>
              <a:t>One analyst, four weeks, a real capital number against India's cell pipeline.</a:t>
            </a:r>
          </a:p>
        </p:txBody>
      </p:sp>
      <p:sp>
        <p:nvSpPr>
          <p:cNvPr id="30" name="Rounded Rectangle 29"/>
          <p:cNvSpPr/>
          <p:nvPr/>
        </p:nvSpPr>
        <p:spPr>
          <a:xfrm>
            <a:off x="4453128" y="3977639"/>
            <a:ext cx="3657600" cy="1874519"/>
          </a:xfrm>
          <a:prstGeom prst="roundRect">
            <a:avLst>
              <a:gd name="adj" fmla="val 5000"/>
            </a:avLst>
          </a:prstGeom>
          <a:solidFill>
            <a:srgbClr val="FF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690872" y="4151376"/>
            <a:ext cx="3200400" cy="201168"/>
          </a:xfrm>
          <a:prstGeom prst="rect">
            <a:avLst/>
          </a:prstGeom>
          <a:noFill/>
        </p:spPr>
        <p:txBody>
          <a:bodyPr wrap="square" lIns="0" rIns="0" tIns="0" bIns="0" anchor="t">
            <a:spAutoFit/>
          </a:bodyPr>
          <a:lstStyle/>
          <a:p>
            <a:pPr algn="l"/>
            <a:r>
              <a:rPr sz="1050" b="1">
                <a:solidFill>
                  <a:srgbClr val="7A2E09"/>
                </a:solidFill>
                <a:latin typeface="Arial"/>
              </a:rPr>
              <a:t>Ask UniverCell these, in writing</a:t>
            </a:r>
          </a:p>
        </p:txBody>
      </p:sp>
      <p:sp>
        <p:nvSpPr>
          <p:cNvPr id="32" name="Rectangle 31"/>
          <p:cNvSpPr/>
          <p:nvPr/>
        </p:nvSpPr>
        <p:spPr>
          <a:xfrm>
            <a:off x="4690872" y="4501591"/>
            <a:ext cx="73152" cy="73152"/>
          </a:xfrm>
          <a:prstGeom prst="rect">
            <a:avLst/>
          </a:prstGeom>
          <a:solidFill>
            <a:srgbClr val="7A2E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892040" y="4425696"/>
            <a:ext cx="2999232" cy="477774"/>
          </a:xfrm>
          <a:prstGeom prst="rect">
            <a:avLst/>
          </a:prstGeom>
          <a:noFill/>
        </p:spPr>
        <p:txBody>
          <a:bodyPr wrap="square" lIns="0" rIns="0" tIns="0" bIns="0" anchor="t">
            <a:spAutoFit/>
          </a:bodyPr>
          <a:lstStyle/>
          <a:p>
            <a:pPr algn="l">
              <a:lnSpc>
                <a:spcPct val="132000"/>
              </a:lnSpc>
            </a:pPr>
            <a:r>
              <a:rPr sz="950" b="1">
                <a:solidFill>
                  <a:srgbClr val="121313"/>
                </a:solidFill>
                <a:latin typeface="Arial"/>
              </a:rPr>
              <a:t>Which quality certificates do you hold? </a:t>
            </a:r>
            <a:r>
              <a:rPr sz="950" b="0">
                <a:solidFill>
                  <a:srgbClr val="5C2408"/>
                </a:solidFill>
                <a:latin typeface="Arial"/>
              </a:rPr>
              <a:t>None is published, and medical and space work legally requires them.</a:t>
            </a:r>
          </a:p>
        </p:txBody>
      </p:sp>
      <p:sp>
        <p:nvSpPr>
          <p:cNvPr id="34" name="Rectangle 33"/>
          <p:cNvSpPr/>
          <p:nvPr/>
        </p:nvSpPr>
        <p:spPr>
          <a:xfrm>
            <a:off x="4690872" y="5098237"/>
            <a:ext cx="73152" cy="73152"/>
          </a:xfrm>
          <a:prstGeom prst="rect">
            <a:avLst/>
          </a:prstGeom>
          <a:solidFill>
            <a:srgbClr val="7A2E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892040" y="5022342"/>
            <a:ext cx="2999232" cy="318516"/>
          </a:xfrm>
          <a:prstGeom prst="rect">
            <a:avLst/>
          </a:prstGeom>
          <a:noFill/>
        </p:spPr>
        <p:txBody>
          <a:bodyPr wrap="square" lIns="0" rIns="0" tIns="0" bIns="0" anchor="t">
            <a:spAutoFit/>
          </a:bodyPr>
          <a:lstStyle/>
          <a:p>
            <a:pPr algn="l">
              <a:lnSpc>
                <a:spcPct val="132000"/>
              </a:lnSpc>
            </a:pPr>
            <a:r>
              <a:rPr sz="950" b="1">
                <a:solidFill>
                  <a:srgbClr val="121313"/>
                </a:solidFill>
                <a:latin typeface="Arial"/>
              </a:rPr>
              <a:t>Where are the firm orders? </a:t>
            </a:r>
            <a:r>
              <a:rPr sz="950" b="0">
                <a:solidFill>
                  <a:srgbClr val="5C2408"/>
                </a:solidFill>
                <a:latin typeface="Arial"/>
              </a:rPr>
              <a:t>CustomCells was killed by one customer not paying.</a:t>
            </a:r>
          </a:p>
        </p:txBody>
      </p:sp>
      <p:sp>
        <p:nvSpPr>
          <p:cNvPr id="36" name="Rounded Rectangle 35"/>
          <p:cNvSpPr/>
          <p:nvPr/>
        </p:nvSpPr>
        <p:spPr>
          <a:xfrm>
            <a:off x="8247888" y="3977639"/>
            <a:ext cx="3657600" cy="1874519"/>
          </a:xfrm>
          <a:prstGeom prst="roundRect">
            <a:avLst>
              <a:gd name="adj" fmla="val 5000"/>
            </a:avLst>
          </a:prstGeom>
          <a:solidFill>
            <a:srgbClr val="FFD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485632" y="4151376"/>
            <a:ext cx="3200400" cy="201168"/>
          </a:xfrm>
          <a:prstGeom prst="rect">
            <a:avLst/>
          </a:prstGeom>
          <a:noFill/>
        </p:spPr>
        <p:txBody>
          <a:bodyPr wrap="square" lIns="0" rIns="0" tIns="0" bIns="0" anchor="t">
            <a:spAutoFit/>
          </a:bodyPr>
          <a:lstStyle/>
          <a:p>
            <a:pPr algn="l"/>
            <a:r>
              <a:rPr sz="1050" b="1">
                <a:solidFill>
                  <a:srgbClr val="7A2E09"/>
                </a:solidFill>
                <a:latin typeface="Arial"/>
              </a:rPr>
              <a:t>What would change the answer</a:t>
            </a:r>
          </a:p>
        </p:txBody>
      </p:sp>
      <p:sp>
        <p:nvSpPr>
          <p:cNvPr id="38" name="Rectangle 37"/>
          <p:cNvSpPr/>
          <p:nvPr/>
        </p:nvSpPr>
        <p:spPr>
          <a:xfrm>
            <a:off x="8485632" y="4501591"/>
            <a:ext cx="73152" cy="73152"/>
          </a:xfrm>
          <a:prstGeom prst="rect">
            <a:avLst/>
          </a:prstGeom>
          <a:solidFill>
            <a:srgbClr val="7A2E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686800" y="4425696"/>
            <a:ext cx="2999232" cy="318516"/>
          </a:xfrm>
          <a:prstGeom prst="rect">
            <a:avLst/>
          </a:prstGeom>
          <a:noFill/>
        </p:spPr>
        <p:txBody>
          <a:bodyPr wrap="square" lIns="0" rIns="0" tIns="0" bIns="0" anchor="t">
            <a:spAutoFit/>
          </a:bodyPr>
          <a:lstStyle/>
          <a:p>
            <a:pPr algn="l">
              <a:lnSpc>
                <a:spcPct val="132000"/>
              </a:lnSpc>
            </a:pPr>
            <a:r>
              <a:rPr sz="950" b="1">
                <a:solidFill>
                  <a:srgbClr val="121313"/>
                </a:solidFill>
                <a:latin typeface="Arial"/>
              </a:rPr>
              <a:t>A named anchor customer </a:t>
            </a:r>
            <a:r>
              <a:rPr sz="950" b="0">
                <a:solidFill>
                  <a:srgbClr val="5C2408"/>
                </a:solidFill>
                <a:latin typeface="Arial"/>
              </a:rPr>
              <a:t>with contracted volume would upgrade them materially.</a:t>
            </a:r>
          </a:p>
        </p:txBody>
      </p:sp>
      <p:sp>
        <p:nvSpPr>
          <p:cNvPr id="40" name="Rectangle 39"/>
          <p:cNvSpPr/>
          <p:nvPr/>
        </p:nvSpPr>
        <p:spPr>
          <a:xfrm>
            <a:off x="8485632" y="4938979"/>
            <a:ext cx="73152" cy="73152"/>
          </a:xfrm>
          <a:prstGeom prst="rect">
            <a:avLst/>
          </a:prstGeom>
          <a:solidFill>
            <a:srgbClr val="7A2E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686800" y="4863084"/>
            <a:ext cx="2999232" cy="318516"/>
          </a:xfrm>
          <a:prstGeom prst="rect">
            <a:avLst/>
          </a:prstGeom>
          <a:noFill/>
        </p:spPr>
        <p:txBody>
          <a:bodyPr wrap="square" lIns="0" rIns="0" tIns="0" bIns="0" anchor="t">
            <a:spAutoFit/>
          </a:bodyPr>
          <a:lstStyle/>
          <a:p>
            <a:pPr algn="l">
              <a:lnSpc>
                <a:spcPct val="132000"/>
              </a:lnSpc>
            </a:pPr>
            <a:r>
              <a:rPr sz="950" b="1">
                <a:solidFill>
                  <a:srgbClr val="121313"/>
                </a:solidFill>
                <a:latin typeface="Arial"/>
              </a:rPr>
              <a:t>Any slip in the 2027 ramp </a:t>
            </a:r>
            <a:r>
              <a:rPr sz="950" b="0">
                <a:solidFill>
                  <a:srgbClr val="5C2408"/>
                </a:solidFill>
                <a:latin typeface="Arial"/>
              </a:rPr>
              <a:t>would downgrade them just as fast.</a:t>
            </a:r>
          </a:p>
        </p:txBody>
      </p:sp>
      <p:sp>
        <p:nvSpPr>
          <p:cNvPr id="42" name="Rectangle 41"/>
          <p:cNvSpPr/>
          <p:nvPr/>
        </p:nvSpPr>
        <p:spPr>
          <a:xfrm>
            <a:off x="8485632" y="5376367"/>
            <a:ext cx="73152" cy="73152"/>
          </a:xfrm>
          <a:prstGeom prst="rect">
            <a:avLst/>
          </a:prstGeom>
          <a:solidFill>
            <a:srgbClr val="7A2E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686800" y="5300472"/>
            <a:ext cx="2999232" cy="318516"/>
          </a:xfrm>
          <a:prstGeom prst="rect">
            <a:avLst/>
          </a:prstGeom>
          <a:noFill/>
        </p:spPr>
        <p:txBody>
          <a:bodyPr wrap="square" lIns="0" rIns="0" tIns="0" bIns="0" anchor="t">
            <a:spAutoFit/>
          </a:bodyPr>
          <a:lstStyle/>
          <a:p>
            <a:pPr algn="l">
              <a:lnSpc>
                <a:spcPct val="132000"/>
              </a:lnSpc>
            </a:pPr>
            <a:r>
              <a:rPr sz="950" b="1">
                <a:solidFill>
                  <a:srgbClr val="121313"/>
                </a:solidFill>
                <a:latin typeface="Arial"/>
              </a:rPr>
              <a:t>China letting the pause lapse </a:t>
            </a:r>
            <a:r>
              <a:rPr sz="950" b="0">
                <a:solidFill>
                  <a:srgbClr val="5C2408"/>
                </a:solidFill>
                <a:latin typeface="Arial"/>
              </a:rPr>
              <a:t>in November makes this urgent rather than interesting.</a:t>
            </a:r>
          </a:p>
        </p:txBody>
      </p:sp>
      <p:sp>
        <p:nvSpPr>
          <p:cNvPr id="44" name="TextBox 43"/>
          <p:cNvSpPr txBox="1"/>
          <p:nvPr/>
        </p:nvSpPr>
        <p:spPr>
          <a:xfrm>
            <a:off x="658368" y="6126480"/>
            <a:ext cx="10874959" cy="310896"/>
          </a:xfrm>
          <a:prstGeom prst="rect">
            <a:avLst/>
          </a:prstGeom>
          <a:noFill/>
        </p:spPr>
        <p:txBody>
          <a:bodyPr wrap="square" lIns="0" rIns="0" tIns="0" bIns="0" anchor="t">
            <a:spAutoFit/>
          </a:bodyPr>
          <a:lstStyle/>
          <a:p>
            <a:pPr algn="l">
              <a:lnSpc>
                <a:spcPct val="134000"/>
              </a:lnSpc>
            </a:pPr>
            <a:r>
              <a:rPr sz="800" b="0">
                <a:solidFill>
                  <a:srgbClr val="5C2408"/>
                </a:solidFill>
                <a:latin typeface="Arial"/>
              </a:rPr>
              <a:t>Built from company filings, regulator and agency publications and named industry sources. Figures current to 20 October 2026. Every number is sourced in the companion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